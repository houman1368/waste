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عرفی" id="{3ed21cce-58ff-da8a-5cd4-b90925de349b}">
          <p14:sldIdLst>
            <p14:sldId id="256"/>
            <p14:sldId id="257"/>
          </p14:sldIdLst>
        </p14:section>
        <p14:section name="ماده ۱: تعاریف" id="{ca9e4cb5-d49b-9eee-a08b-5b741e5fc36a}">
          <p14:sldIdLst>
            <p14:sldId id="258"/>
            <p14:sldId id="259"/>
            <p14:sldId id="260"/>
          </p14:sldIdLst>
        </p14:section>
        <p14:section name="ماده ۲: فرایند رسیدگی" id="{5b6fdb7d-0889-0f53-1072-e6b4882fad96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ماده ۳: ماده ۳۱ آیین نامه" id="{c48af0a8-c3f8-2675-e91c-08ba447cdbfd}">
          <p14:sldIdLst>
            <p14:sldId id="270"/>
          </p14:sldIdLst>
        </p14:section>
        <p14:section name="نمودارهای گردش کار" id="{de0f4dc0-a822-6f83-e42d-54f56c917f87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فرم‌ها" id="{6756ecd8-e544-5643-732f-53363d6ce111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6400800"/>
            <a:ext cx="7616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دستورالعمل اجرایی رسیدگی به تخلفات بهداشتی — شماره ۱۸۰۳۹۲۰۶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3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1" TargetMode="External"/><Relationship Id="rId2" Type="http://schemas.openxmlformats.org/officeDocument/2006/relationships/hyperlink" Target="Madde13-Forms.docx#form_2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3" TargetMode="External"/><Relationship Id="rId2" Type="http://schemas.openxmlformats.org/officeDocument/2006/relationships/hyperlink" Target="Madde13-Forms.docx#form_4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5" TargetMode="External"/><Relationship Id="rId2" Type="http://schemas.openxmlformats.org/officeDocument/2006/relationships/hyperlink" Target="Madde13-Forms.docx#form_6" TargetMode="External"/><Relationship Id="rId3" Type="http://schemas.openxmlformats.org/officeDocument/2006/relationships/hyperlink" Target="Madde13-Forms.docx#form_7" TargetMode="External"/><Relationship Id="rId4" Type="http://schemas.openxmlformats.org/officeDocument/2006/relationships/hyperlink" Target="Madde13-Forms.docx#form_8" TargetMode="External"/><Relationship Id="rId5" Type="http://schemas.openxmlformats.org/officeDocument/2006/relationships/hyperlink" Target="Madde13-Forms.docx#form_6" TargetMode="External"/><Relationship Id="rId6" Type="http://schemas.openxmlformats.org/officeDocument/2006/relationships/hyperlink" Target="Madde13-Forms.docx#form_7" TargetMode="Externa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9" TargetMode="External"/><Relationship Id="rId2" Type="http://schemas.openxmlformats.org/officeDocument/2006/relationships/hyperlink" Target="Madde13-Forms.docx#form_10" TargetMode="External"/><Relationship Id="rId3" Type="http://schemas.openxmlformats.org/officeDocument/2006/relationships/hyperlink" Target="Madde13-Forms.docx#form_12" TargetMode="External"/><Relationship Id="rId4" Type="http://schemas.openxmlformats.org/officeDocument/2006/relationships/hyperlink" Target="Madde13-Forms.docx#form_13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14" TargetMode="External"/><Relationship Id="rId2" Type="http://schemas.openxmlformats.org/officeDocument/2006/relationships/hyperlink" Target="Madde13-Forms.docx#form_9" TargetMode="External"/><Relationship Id="rId3" Type="http://schemas.openxmlformats.org/officeDocument/2006/relationships/hyperlink" Target="Madde13-Forms.docx#form_11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15" TargetMode="External"/><Relationship Id="rId2" Type="http://schemas.openxmlformats.org/officeDocument/2006/relationships/hyperlink" Target="Madde13-Forms.docx#form_16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17" TargetMode="External"/><Relationship Id="rId2" Type="http://schemas.openxmlformats.org/officeDocument/2006/relationships/hyperlink" Target="Madde13-Forms.docx#form_18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19" TargetMode="External"/><Relationship Id="rId2" Type="http://schemas.openxmlformats.org/officeDocument/2006/relationships/hyperlink" Target="Madde13-Forms.docx#form_9" TargetMode="External"/><Relationship Id="rId3" Type="http://schemas.openxmlformats.org/officeDocument/2006/relationships/hyperlink" Target="Madde13-Forms.docx#form_20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21" TargetMode="External"/><Relationship Id="rId2" Type="http://schemas.openxmlformats.org/officeDocument/2006/relationships/hyperlink" Target="Madde13-Forms.docx#form_22" TargetMode="External"/><Relationship Id="rId3" Type="http://schemas.openxmlformats.org/officeDocument/2006/relationships/hyperlink" Target="Madde13-Forms.docx#form_23" TargetMode="External"/><Relationship Id="rId4" Type="http://schemas.openxmlformats.org/officeDocument/2006/relationships/hyperlink" Target="Madde13-Forms.docx#form_24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1" TargetMode="External"/><Relationship Id="rId2" Type="http://schemas.openxmlformats.org/officeDocument/2006/relationships/hyperlink" Target="Madde13-Forms.docx#form_2" TargetMode="External"/><Relationship Id="rId3" Type="http://schemas.openxmlformats.org/officeDocument/2006/relationships/hyperlink" Target="Madde13-Forms.docx#form_4" TargetMode="External"/><Relationship Id="rId4" Type="http://schemas.openxmlformats.org/officeDocument/2006/relationships/hyperlink" Target="Madde13-Forms.docx#form_5" TargetMode="External"/><Relationship Id="rId5" Type="http://schemas.openxmlformats.org/officeDocument/2006/relationships/hyperlink" Target="Madde13-Forms.docx#form_6" TargetMode="External"/><Relationship Id="rId6" Type="http://schemas.openxmlformats.org/officeDocument/2006/relationships/hyperlink" Target="Madde13-Forms.docx#form_7" TargetMode="External"/><Relationship Id="rId7" Type="http://schemas.openxmlformats.org/officeDocument/2006/relationships/hyperlink" Target="Madde13-Forms.docx#form_8" TargetMode="Externa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12" TargetMode="External"/><Relationship Id="rId2" Type="http://schemas.openxmlformats.org/officeDocument/2006/relationships/hyperlink" Target="Madde13-Forms.docx#form_13" TargetMode="External"/><Relationship Id="rId3" Type="http://schemas.openxmlformats.org/officeDocument/2006/relationships/hyperlink" Target="Madde13-Forms.docx#form_14" TargetMode="External"/><Relationship Id="rId4" Type="http://schemas.openxmlformats.org/officeDocument/2006/relationships/hyperlink" Target="Madde13-Forms.docx#form_5" TargetMode="External"/><Relationship Id="rId5" Type="http://schemas.openxmlformats.org/officeDocument/2006/relationships/hyperlink" Target="Madde13-Forms.docx#form_15" TargetMode="External"/><Relationship Id="rId6" Type="http://schemas.openxmlformats.org/officeDocument/2006/relationships/hyperlink" Target="Madde13-Forms.docx#form_9" TargetMode="External"/><Relationship Id="rId7" Type="http://schemas.openxmlformats.org/officeDocument/2006/relationships/hyperlink" Target="Madde13-Forms.docx#form_11" TargetMode="External"/><Relationship Id="rId8" Type="http://schemas.openxmlformats.org/officeDocument/2006/relationships/hyperlink" Target="Madde13-Forms.docx#form_17" TargetMode="Externa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18" TargetMode="External"/><Relationship Id="rId2" Type="http://schemas.openxmlformats.org/officeDocument/2006/relationships/hyperlink" Target="Madde13-Forms.docx#form_19" TargetMode="External"/><Relationship Id="rId3" Type="http://schemas.openxmlformats.org/officeDocument/2006/relationships/hyperlink" Target="Madde13-Forms.docx#form_9" TargetMode="External"/><Relationship Id="rId4" Type="http://schemas.openxmlformats.org/officeDocument/2006/relationships/hyperlink" Target="Madde13-Forms.docx#form_20" TargetMode="External"/><Relationship Id="rId5" Type="http://schemas.openxmlformats.org/officeDocument/2006/relationships/hyperlink" Target="Madde13-Forms.docx#form_5" TargetMode="External"/><Relationship Id="rId6" Type="http://schemas.openxmlformats.org/officeDocument/2006/relationships/hyperlink" Target="Madde13-Forms.docx#form_6" TargetMode="External"/><Relationship Id="rId7" Type="http://schemas.openxmlformats.org/officeDocument/2006/relationships/hyperlink" Target="Madde13-Forms.docx#form_7" TargetMode="External"/><Relationship Id="rId8" Type="http://schemas.openxmlformats.org/officeDocument/2006/relationships/hyperlink" Target="Madde13-Forms.docx#form_8" TargetMode="External"/><Relationship Id="rId9" Type="http://schemas.openxmlformats.org/officeDocument/2006/relationships/hyperlink" Target="Madde13-Forms.docx#form_16" TargetMode="External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1" TargetMode="External"/><Relationship Id="rId2" Type="http://schemas.openxmlformats.org/officeDocument/2006/relationships/hyperlink" Target="Madde13-Forms.docx#form_2" TargetMode="External"/><Relationship Id="rId3" Type="http://schemas.openxmlformats.org/officeDocument/2006/relationships/hyperlink" Target="Madde13-Forms.docx#form_3" TargetMode="External"/><Relationship Id="rId4" Type="http://schemas.openxmlformats.org/officeDocument/2006/relationships/hyperlink" Target="Madde13-Forms.docx#form_5" TargetMode="External"/><Relationship Id="rId5" Type="http://schemas.openxmlformats.org/officeDocument/2006/relationships/hyperlink" Target="Madde13-Forms.docx#form_6" TargetMode="External"/><Relationship Id="rId6" Type="http://schemas.openxmlformats.org/officeDocument/2006/relationships/hyperlink" Target="Madde13-Forms.docx#form_7" TargetMode="External"/><Relationship Id="rId7" Type="http://schemas.openxmlformats.org/officeDocument/2006/relationships/hyperlink" Target="Madde13-Forms.docx#form_8" TargetMode="Externa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9" TargetMode="External"/><Relationship Id="rId2" Type="http://schemas.openxmlformats.org/officeDocument/2006/relationships/hyperlink" Target="Madde13-Forms.docx#form_10" TargetMode="External"/><Relationship Id="rId3" Type="http://schemas.openxmlformats.org/officeDocument/2006/relationships/hyperlink" Target="Madde13-Forms.docx#form_17" TargetMode="External"/><Relationship Id="rId4" Type="http://schemas.openxmlformats.org/officeDocument/2006/relationships/hyperlink" Target="Madde13-Forms.docx#form_18" TargetMode="External"/><Relationship Id="rId5" Type="http://schemas.openxmlformats.org/officeDocument/2006/relationships/hyperlink" Target="Madde13-Forms.docx#form_19" TargetMode="Externa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9" TargetMode="External"/><Relationship Id="rId2" Type="http://schemas.openxmlformats.org/officeDocument/2006/relationships/hyperlink" Target="Madde13-Forms.docx#form_20" TargetMode="External"/><Relationship Id="rId3" Type="http://schemas.openxmlformats.org/officeDocument/2006/relationships/hyperlink" Target="Madde13-Forms.docx#form_5" TargetMode="External"/><Relationship Id="rId4" Type="http://schemas.openxmlformats.org/officeDocument/2006/relationships/hyperlink" Target="Madde13-Forms.docx#form_6" TargetMode="External"/><Relationship Id="rId5" Type="http://schemas.openxmlformats.org/officeDocument/2006/relationships/hyperlink" Target="Madde13-Forms.docx#form_7" TargetMode="External"/><Relationship Id="rId6" Type="http://schemas.openxmlformats.org/officeDocument/2006/relationships/hyperlink" Target="Madde13-Forms.docx#form_8" TargetMode="External"/><Relationship Id="rId7" Type="http://schemas.openxmlformats.org/officeDocument/2006/relationships/hyperlink" Target="Madde13-Forms.docx#form_16" TargetMode="Externa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Madde13-Forms.docx#form_1" TargetMode="External"/><Relationship Id="rId2" Type="http://schemas.openxmlformats.org/officeDocument/2006/relationships/hyperlink" Target="Madde13-Forms.docx#form_2" TargetMode="External"/><Relationship Id="rId3" Type="http://schemas.openxmlformats.org/officeDocument/2006/relationships/hyperlink" Target="Madde13-Forms.docx#form_3" TargetMode="External"/><Relationship Id="rId4" Type="http://schemas.openxmlformats.org/officeDocument/2006/relationships/hyperlink" Target="Madde13-Forms.docx#form_4" TargetMode="External"/><Relationship Id="rId5" Type="http://schemas.openxmlformats.org/officeDocument/2006/relationships/hyperlink" Target="Madde13-Forms.docx#form_5" TargetMode="External"/><Relationship Id="rId6" Type="http://schemas.openxmlformats.org/officeDocument/2006/relationships/hyperlink" Target="Madde13-Forms.docx#form_6" TargetMode="External"/><Relationship Id="rId7" Type="http://schemas.openxmlformats.org/officeDocument/2006/relationships/hyperlink" Target="Madde13-Forms.docx#form_7" TargetMode="External"/><Relationship Id="rId8" Type="http://schemas.openxmlformats.org/officeDocument/2006/relationships/hyperlink" Target="Madde13-Forms.docx#form_8" TargetMode="External"/><Relationship Id="rId9" Type="http://schemas.openxmlformats.org/officeDocument/2006/relationships/hyperlink" Target="Madde13-Forms.docx#form_9" TargetMode="External"/><Relationship Id="rId10" Type="http://schemas.openxmlformats.org/officeDocument/2006/relationships/hyperlink" Target="Madde13-Forms.docx#form_10" TargetMode="External"/><Relationship Id="rId11" Type="http://schemas.openxmlformats.org/officeDocument/2006/relationships/hyperlink" Target="Madde13-Forms.docx#form_11" TargetMode="External"/><Relationship Id="rId12" Type="http://schemas.openxmlformats.org/officeDocument/2006/relationships/hyperlink" Target="Madde13-Forms.docx#form_12" TargetMode="External"/><Relationship Id="rId13" Type="http://schemas.openxmlformats.org/officeDocument/2006/relationships/hyperlink" Target="Madde13-Forms.docx#form_13" TargetMode="External"/><Relationship Id="rId14" Type="http://schemas.openxmlformats.org/officeDocument/2006/relationships/hyperlink" Target="Madde13-Forms.docx#form_14" TargetMode="External"/><Relationship Id="rId15" Type="http://schemas.openxmlformats.org/officeDocument/2006/relationships/hyperlink" Target="Madde13-Forms.docx#form_15" TargetMode="External"/><Relationship Id="rId16" Type="http://schemas.openxmlformats.org/officeDocument/2006/relationships/hyperlink" Target="Madde13-Forms.docx#form_16" TargetMode="External"/><Relationship Id="rId17" Type="http://schemas.openxmlformats.org/officeDocument/2006/relationships/hyperlink" Target="Madde13-Forms.docx#form_17" TargetMode="External"/><Relationship Id="rId18" Type="http://schemas.openxmlformats.org/officeDocument/2006/relationships/hyperlink" Target="Madde13-Forms.docx#form_18" TargetMode="External"/><Relationship Id="rId19" Type="http://schemas.openxmlformats.org/officeDocument/2006/relationships/hyperlink" Target="Madde13-Forms.docx#form_19" TargetMode="External"/><Relationship Id="rId20" Type="http://schemas.openxmlformats.org/officeDocument/2006/relationships/hyperlink" Target="Madde13-Forms.docx#form_20" TargetMode="External"/><Relationship Id="rId21" Type="http://schemas.openxmlformats.org/officeDocument/2006/relationships/hyperlink" Target="Madde13-Forms.docx#form_21" TargetMode="External"/><Relationship Id="rId22" Type="http://schemas.openxmlformats.org/officeDocument/2006/relationships/hyperlink" Target="Madde13-Forms.docx#form_22" TargetMode="External"/><Relationship Id="rId23" Type="http://schemas.openxmlformats.org/officeDocument/2006/relationships/hyperlink" Target="Madde13-Forms.docx#form_23" TargetMode="External"/><Relationship Id="rId24" Type="http://schemas.openxmlformats.org/officeDocument/2006/relationships/hyperlink" Target="Madde13-Forms.docx#form_24" TargetMode="External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0" y="502920"/>
            <a:ext cx="49377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fa-IR" altLang="en-US" sz="1400" b="1" dirty="0">
                <a:solidFill>
                  <a:srgbClr val="CFE3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وزارت بهداشت، درمان و آموزش پزشکی</a:t>
            </a:r>
            <a:endParaRPr lang="fa-IR" sz="14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fa-IR" altLang="en-US" sz="1400" dirty="0">
                <a:solidFill>
                  <a:srgbClr val="CFE3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معاونت بهداشت</a:t>
            </a:r>
            <a:endParaRPr lang="fa-IR" sz="14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fa-IR" altLang="en-US" sz="1400" dirty="0">
                <a:solidFill>
                  <a:srgbClr val="CFE3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مرکز سلامت محیط و کار</a:t>
            </a:r>
            <a:endParaRPr lang="fa-IR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ctr" indent="0" marL="0">
              <a:buNone/>
            </a:pPr>
            <a:r>
              <a:rPr lang="fa-IR" alt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دستورالعمل اجرایی</a:t>
            </a:r>
            <a:endParaRPr lang="fa-I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fa-IR" altLang="en-US" sz="2200" dirty="0">
                <a:solidFill>
                  <a:srgbClr val="E6F0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رسیدگی به تخلفات بهداشتی مراکز تهیه، تولید، توزیع، نگهداری، حمل و نقل و فروش مواد خوردنی، آشامیدنی، آرایشی، بهداشتی و اماکن عمومی</a:t>
            </a:r>
            <a:endParaRPr lang="fa-IR" sz="2200" dirty="0"/>
          </a:p>
        </p:txBody>
      </p:sp>
      <p:sp>
        <p:nvSpPr>
          <p:cNvPr id="5" name="Shape 3"/>
          <p:cNvSpPr/>
          <p:nvPr/>
        </p:nvSpPr>
        <p:spPr>
          <a:xfrm>
            <a:off x="4270248" y="4343400"/>
            <a:ext cx="3657600" cy="685800"/>
          </a:xfrm>
          <a:prstGeom prst="roundRect">
            <a:avLst>
              <a:gd name="adj" fmla="val 49333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70248" y="4343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800" b="1" dirty="0">
                <a:solidFill>
                  <a:srgbClr val="0A3F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شماره دستورالعمل ۱۸۰۳۹۲۰۶</a:t>
            </a:r>
            <a:endParaRPr lang="fa-IR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5440680"/>
            <a:ext cx="96012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ctr" indent="0" marL="0">
              <a:buNone/>
            </a:pPr>
            <a:r>
              <a:rPr lang="fa-IR" altLang="en-US" sz="1400" dirty="0">
                <a:solidFill>
                  <a:srgbClr val="9FC3C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گردش کار اجرایی قانون اصلاح ماده ۱۳ قانون مواد خوردنی، آشامیدنی، آرایشی و بهداشتی</a:t>
            </a:r>
            <a:endParaRPr lang="fa-IR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مقدمه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هدف و دامنه دستورالعمل</a:t>
            </a:r>
            <a:endParaRPr lang="fa-IR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1600200"/>
            <a:ext cx="768096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just" indent="0" marL="0">
              <a:lnSpc>
                <a:spcPct val="135000"/>
              </a:lnSpc>
              <a:spcAft>
                <a:spcPts val="1400"/>
              </a:spcAft>
              <a:buNone/>
            </a:pPr>
            <a:r>
              <a:rPr lang="fa-IR" altLang="en-US" sz="17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راستای اجرای قانون اصلاح ماده ۱۳ قانون مواد خوردنی، آشامیدنی، آرایشی و بهداشتی و آیین نامه اجرایی آن، دستورالعمل اجرایی رسیدگی به تخلفات بهداشتی مراکز تهیه، تولید، توزیع، نگهداری، حمل و نقل و فروش مواد خوردنی، آشامیدنی، آرایشی، بهداشتی و اماکن عمومی توسط این معاونت برای اجرا ابلاغ می گردد.</a:t>
            </a:r>
            <a:endParaRPr lang="fa-IR" sz="1700" dirty="0"/>
          </a:p>
          <a:p>
            <a:pPr rtl="1" algn="just" indent="0" marL="0">
              <a:lnSpc>
                <a:spcPct val="135000"/>
              </a:lnSpc>
              <a:spcAft>
                <a:spcPts val="1400"/>
              </a:spcAft>
              <a:buNone/>
            </a:pPr>
            <a:r>
              <a:rPr lang="fa-IR" altLang="en-US" sz="17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معاونت های بهداشتی دانشگاه ها و دانشکده های علوم پزشکی موظفند در زمینه رسیدگی به تخلفات بهداشتی مراکز و اماکن مذکور بر اساس این دستورالعمل اقدام نمایند.</a:t>
            </a:r>
            <a:endParaRPr lang="fa-IR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926080" cy="1234440"/>
          </a:xfrm>
          <a:prstGeom prst="roundRect">
            <a:avLst>
              <a:gd name="adj" fmla="val 10370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11680" y="16916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44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</a:t>
            </a:r>
            <a:endParaRPr lang="fa-IR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6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ماده</a:t>
            </a:r>
            <a:endParaRPr lang="fa-IR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2926080" cy="1234440"/>
          </a:xfrm>
          <a:prstGeom prst="roundRect">
            <a:avLst>
              <a:gd name="adj" fmla="val 10370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315468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44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</a:t>
            </a:r>
            <a:endParaRPr lang="fa-IR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15468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6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تبصره</a:t>
            </a:r>
            <a:endParaRPr lang="fa-IR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2926080" cy="1234440"/>
          </a:xfrm>
          <a:prstGeom prst="roundRect">
            <a:avLst>
              <a:gd name="adj" fmla="val 10370"/>
            </a:avLst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1680" y="461772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۲۴</a:t>
            </a:r>
            <a:endParaRPr lang="fa-IR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6177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فرم اجرایی</a:t>
            </a:r>
            <a:endParaRPr lang="fa-I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ماده ۱: تعاریف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اصطلاحات کلیدی (۱)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6199632" y="150876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170992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17352" y="170992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۱-۱</a:t>
            </a:r>
            <a:endParaRPr lang="fa-IR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28232" y="1645920"/>
            <a:ext cx="429768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آیین نامه</a:t>
            </a:r>
            <a:endParaRPr lang="fa-IR" sz="15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منظور آیین نامه اجرایی قانون اصلاح ماده ۱۳ قانون مواد خوردنی، آشامیدنی، آرایشی و بهداشتی مصوب ۹۲/۳/۱۸ می باشد.</a:t>
            </a:r>
            <a:endParaRPr lang="fa-IR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170992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170992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۱-۲</a:t>
            </a:r>
            <a:endParaRPr lang="fa-IR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645920"/>
            <a:ext cx="429768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تخلف</a:t>
            </a:r>
            <a:endParaRPr lang="fa-IR" sz="15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عبارت است از فعل یا ترک فعلی که در قوانین مرتبط از جمله قانون اصلاح ماده ۱۳ و آیین نامه اجرایی و دستورالعمل های آن تخلف و جرم بهداشتی تلقی شده و طبق قانون مستوجب مجازات می باشد.</a:t>
            </a:r>
            <a:endParaRPr lang="fa-IR" sz="1500" dirty="0"/>
          </a:p>
        </p:txBody>
      </p:sp>
      <p:sp>
        <p:nvSpPr>
          <p:cNvPr id="12" name="Shape 10"/>
          <p:cNvSpPr/>
          <p:nvPr/>
        </p:nvSpPr>
        <p:spPr>
          <a:xfrm>
            <a:off x="6199632" y="38862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63072" y="408736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817352" y="408736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۱-۳</a:t>
            </a:r>
            <a:endParaRPr lang="fa-IR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4023360"/>
            <a:ext cx="429768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بازرسی</a:t>
            </a:r>
            <a:endParaRPr lang="fa-IR" sz="15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به عمل نظارتی گفته می شود که هدف از آن بررسی میزان انطباق شرایط موضوع و محل بازرسی با قوانین، مقررات و الزامات بهداشتی ناشی از آن ها می باشد.</a:t>
            </a:r>
            <a:endParaRPr lang="fa-IR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408736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66360" y="408736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۱-۴</a:t>
            </a:r>
            <a:endParaRPr lang="fa-IR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023360"/>
            <a:ext cx="429768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مسئول بهداشت محل</a:t>
            </a:r>
            <a:endParaRPr lang="fa-IR" sz="15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رییس مرکز بهداشت استان و شهرستان، که در صورت لزوم می تواند به رئیس مرکز بهداشتی درمانی شهری/ روستایی نیز تفویض اختیار نماید.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ماده ۱: تعاریف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اصطلاحات کلیدی (۲)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6199632" y="14630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1664208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17352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۱-۵</a:t>
            </a:r>
            <a:endParaRPr lang="fa-IR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28232" y="1600200"/>
            <a:ext cx="429768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b="1" dirty="0">
                <a:solidFill>
                  <a:srgbClr val="B0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موارد بحرانی</a:t>
            </a:r>
            <a:endParaRPr lang="fa-IR" sz="15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مواردی است که عدم رعایت آن به طور مستقیم موجب به خطر افتادن سلامت انسان گردد.</a:t>
            </a:r>
            <a:endParaRPr lang="fa-IR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1664208"/>
            <a:ext cx="566928" cy="56692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۱-۶</a:t>
            </a:r>
            <a:endParaRPr lang="fa-IR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600200"/>
            <a:ext cx="429768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موارد غیر بحرانی</a:t>
            </a:r>
            <a:endParaRPr lang="fa-IR" sz="15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مواردی است که عدم رعایت آن به طور غیر مستقیم بر سلامت انسان اثر دارد.</a:t>
            </a:r>
            <a:endParaRPr lang="fa-IR" sz="1500" dirty="0"/>
          </a:p>
        </p:txBody>
      </p:sp>
      <p:sp>
        <p:nvSpPr>
          <p:cNvPr id="12" name="Shape 10"/>
          <p:cNvSpPr/>
          <p:nvPr/>
        </p:nvSpPr>
        <p:spPr>
          <a:xfrm>
            <a:off x="9052560" y="3108960"/>
            <a:ext cx="2697480" cy="3063240"/>
          </a:xfrm>
          <a:prstGeom prst="roundRect">
            <a:avLst>
              <a:gd name="adj" fmla="val 4068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18520" y="3291840"/>
            <a:ext cx="548640" cy="548640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0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۱-۷</a:t>
            </a:r>
            <a:endParaRPr lang="fa-IR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3364992"/>
            <a:ext cx="17830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بهره برداری</a:t>
            </a:r>
            <a:endParaRPr lang="fa-IR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3977640"/>
            <a:ext cx="2368296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fa-IR" altLang="en-US" sz="13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بکارگیری و استفاده از واحد، مکان، قسمت و ابزار و تجهیزات برای موارد تعیین شده.</a:t>
            </a:r>
            <a:endParaRPr lang="fa-IR" sz="1300" dirty="0"/>
          </a:p>
        </p:txBody>
      </p:sp>
      <p:sp>
        <p:nvSpPr>
          <p:cNvPr id="17" name="Shape 15"/>
          <p:cNvSpPr/>
          <p:nvPr/>
        </p:nvSpPr>
        <p:spPr>
          <a:xfrm>
            <a:off x="6245352" y="3108960"/>
            <a:ext cx="2697480" cy="3063240"/>
          </a:xfrm>
          <a:prstGeom prst="roundRect">
            <a:avLst>
              <a:gd name="adj" fmla="val 4068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3291840"/>
            <a:ext cx="548640" cy="548640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65592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۱-۸</a:t>
            </a:r>
            <a:endParaRPr lang="fa-IR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3364992"/>
            <a:ext cx="17830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واحد صنفی</a:t>
            </a:r>
            <a:endParaRPr lang="fa-IR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3977640"/>
            <a:ext cx="2368296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fa-IR" altLang="en-US" sz="13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هر واحد اقتصادی که فعالیت آن در محل ثابت یا وسیله سیار باشد و توسط فرد یا افراد صنفی دایر شده باشد.</a:t>
            </a:r>
            <a:endParaRPr lang="fa-IR" sz="1300" dirty="0"/>
          </a:p>
        </p:txBody>
      </p:sp>
      <p:sp>
        <p:nvSpPr>
          <p:cNvPr id="22" name="Shape 20"/>
          <p:cNvSpPr/>
          <p:nvPr/>
        </p:nvSpPr>
        <p:spPr>
          <a:xfrm>
            <a:off x="3438144" y="3108960"/>
            <a:ext cx="2697480" cy="3063240"/>
          </a:xfrm>
          <a:prstGeom prst="roundRect">
            <a:avLst>
              <a:gd name="adj" fmla="val 4068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04104" y="3291840"/>
            <a:ext cx="548640" cy="548640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58384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۱-۹</a:t>
            </a:r>
            <a:endParaRPr lang="fa-IR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575304" y="3364992"/>
            <a:ext cx="17830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مکان</a:t>
            </a:r>
            <a:endParaRPr lang="fa-IR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602736" y="3977640"/>
            <a:ext cx="2368296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fa-IR" altLang="en-US" sz="13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بخشی از واحد صنفی از قبیل آشپزخانه که به تشخیص مسئول بهداشت محل دارای فعالیت مجزا و مستقل باشد.</a:t>
            </a:r>
            <a:endParaRPr lang="fa-IR" sz="1300" dirty="0"/>
          </a:p>
        </p:txBody>
      </p:sp>
      <p:sp>
        <p:nvSpPr>
          <p:cNvPr id="27" name="Shape 25"/>
          <p:cNvSpPr/>
          <p:nvPr/>
        </p:nvSpPr>
        <p:spPr>
          <a:xfrm>
            <a:off x="630936" y="3108960"/>
            <a:ext cx="2697480" cy="3063240"/>
          </a:xfrm>
          <a:prstGeom prst="roundRect">
            <a:avLst>
              <a:gd name="adj" fmla="val 4068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96896" y="3291840"/>
            <a:ext cx="548640" cy="548640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51176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۱-۱۰</a:t>
            </a:r>
            <a:endParaRPr lang="fa-IR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" y="3364992"/>
            <a:ext cx="17830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قسمت</a:t>
            </a:r>
            <a:endParaRPr lang="fa-IR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" y="3977640"/>
            <a:ext cx="2368296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fa-IR" altLang="en-US" sz="13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شامل مواردی نظیر دستگاه و تجهیزات که برای مقاصد خاص از جمله فراوری و نگهداری مواد غذایی استفاده می شود.</a:t>
            </a:r>
            <a:endParaRPr lang="fa-I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ماده ۱: تعاریف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اصطلاحات کلیدی (۳)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6199632" y="146304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166420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17352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۱-۱۱</a:t>
            </a:r>
            <a:endParaRPr lang="fa-IR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تیم بازرسی</a:t>
            </a:r>
            <a:endParaRPr lang="fa-IR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286000"/>
            <a:ext cx="50292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گروهی که شامل اعضای زیر بوده و حضور حداقل یک نماینده از دستگاه نظارت الزامی است:</a:t>
            </a:r>
            <a:endParaRPr lang="fa-IR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200400"/>
            <a:ext cx="50292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3200400"/>
            <a:ext cx="333756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نماینده بهداشت محیط مرکز بهداشت شهرستان</a:t>
            </a:r>
            <a:endParaRPr lang="fa-IR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3913632"/>
            <a:ext cx="50292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3913632"/>
            <a:ext cx="333756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بازرس بهداشت محیط</a:t>
            </a:r>
            <a:endParaRPr lang="fa-IR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4626864"/>
            <a:ext cx="50292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0" y="4626864"/>
            <a:ext cx="333756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نماینده نیروی انتظامی</a:t>
            </a:r>
            <a:endParaRPr lang="fa-IR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727448"/>
            <a:ext cx="13716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صورت نیاز</a:t>
            </a:r>
            <a:endParaRPr lang="fa-IR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5340096"/>
            <a:ext cx="50292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5340096"/>
            <a:ext cx="333756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نماینده اتحادیه صنفی</a:t>
            </a:r>
            <a:endParaRPr lang="fa-IR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5440680"/>
            <a:ext cx="13716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صورت لزوم</a:t>
            </a:r>
            <a:endParaRPr lang="fa-IR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146304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1664208"/>
            <a:ext cx="566928" cy="5669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66360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۱-۱۲</a:t>
            </a:r>
            <a:endParaRPr lang="fa-IR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1600200"/>
            <a:ext cx="429768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نقص قابل رفع در محل</a:t>
            </a:r>
            <a:endParaRPr lang="fa-IR" sz="16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به مواردی اطلاق می گردد که در طی زمان بازرسی قابل اصلاح و رفع در محل باشد.</a:t>
            </a:r>
            <a:endParaRPr lang="fa-IR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413308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66360" y="413308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۱-۱۳</a:t>
            </a:r>
            <a:endParaRPr lang="fa-IR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069080"/>
            <a:ext cx="429768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گردش کار اداری</a:t>
            </a:r>
            <a:endParaRPr lang="fa-IR" sz="16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عبارت است از تمام یا بخشی از فرایند بازرسی و فعالیت های بعدی آن.</a:t>
            </a:r>
            <a:endParaRPr lang="fa-I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ماده ۲: فرایند اجرایی رسیدگی به نواقص بهداشتی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بازرسی و ثبت نقص بهداشتی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920240"/>
          </a:xfrm>
          <a:prstGeom prst="roundRect">
            <a:avLst>
              <a:gd name="adj" fmla="val 5714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1664208"/>
            <a:ext cx="566928" cy="5669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17352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۲-۱</a:t>
            </a:r>
            <a:endParaRPr lang="fa-IR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00200"/>
            <a:ext cx="9948672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7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نقص قابل رفع در زمان بازرسی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چنانچه در هنگام بازرسی، نقص بهداشتی مشاهده شده با تذکر بازرس در محل تا پایان زمان بازرسی رفع گردد، باید نقص در گزارش بازرسی با علامت + ثبت، ولی وارد گردش کار اداری نگردد.</a:t>
            </a:r>
            <a:endParaRPr lang="fa-IR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11091672" cy="2514600"/>
          </a:xfrm>
          <a:prstGeom prst="roundRect">
            <a:avLst>
              <a:gd name="adj" fmla="val 4364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3072" y="381304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17352" y="38130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۲-۲</a:t>
            </a:r>
            <a:endParaRPr lang="fa-IR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49040"/>
            <a:ext cx="9948672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7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نقص غیرقابل رفع یا تکرار نقص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چنانچه در هنگام بازرسی نقص بهداشتی غیرقابل رفع و یا تکرار نقص بهداشتی قابل رفع درمحل مشاهده شود، باید توسط بازرس با علامت X ثبت و وارد گردش کار اداری گردد.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باز کردن فرم ۱: گزارش نواقص بهداشت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۱-۱۸۰۳۹۲۰۶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در صورت عدم تفویض اختیار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باز کردن فرم ۲: گزارش نواقص بهداشت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۲-۱۸۰۳۹۲۰۶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در صورت تفویض اختیار به رییس مرکز بهداشتی درمانی شهری/ روستایی</a:t>
            </a:r>
            <a:endParaRPr lang="fa-I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ماده ۲: فرایند اجرایی رسیدگی به نواقص بهداشتی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مهلت رفع نواقص: بحرانی در برابر غیربحرانی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6199632" y="146304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1664208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17352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۲-۳</a:t>
            </a:r>
            <a:endParaRPr lang="fa-IR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28232" y="1600200"/>
            <a:ext cx="429768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700" b="1" dirty="0">
                <a:solidFill>
                  <a:srgbClr val="B0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نواقص بحرانی — ۴۸ ساعت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صورت وجود هر یک از نواقص بحرانی بر اساس مواد ۲۲، ۲۳ و ۲۶ آیین نامه و تائید مسئول بهداشت محل، واحد/ مکان/ قسمت مربوطه با مهلت ۴۸ ساعته به منظور رفع نواقص بهداشتی، غیر فعال و یا بطور موقت تعطیل (خارج کردن از سیکل کاری) گردد.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باز کردن فرم ۳: اخطار تعطیل موقت واحد/ مکان/ قسمت دارای نواقص بحران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۳-۱۸۰۳۹۲۰۶</a:t>
            </a:r>
            <a:endParaRPr lang="fa-IR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1664208"/>
            <a:ext cx="566928" cy="56692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۲-۴</a:t>
            </a:r>
            <a:endParaRPr lang="fa-IR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600200"/>
            <a:ext cx="429768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7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نواقص غیربحرانی — حداکثر ۶۰ روز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صورت وجود هر یک از نواقص غیربحرانی بر اساس مواد ۲۲، ۲۳ و ۳۰ آیین نامه، و تائید مسئول بهداشت محل، حداکثر به مدت ۶۰ روز به مالک/ مدیر/ متصدی مهلت داده می شود تا نسبت به رفع نواقص بهداشتی در مهلت تعیین شده اقدام نماید.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باز کردن فرم ۴: اخطار برای رفع نواقص غیر بحران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۴-۱۸۰۳۹۲۰۶</a:t>
            </a:r>
            <a:endParaRPr lang="fa-I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ماده ۲: فرایند اجرایی رسیدگی به نواقص بهداشتی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رفع نواقص و صدور اجازه بهره برداری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2514600"/>
          </a:xfrm>
          <a:prstGeom prst="roundRect">
            <a:avLst>
              <a:gd name="adj" fmla="val 4364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1664208"/>
            <a:ext cx="566928" cy="5669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17352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۲-۵</a:t>
            </a:r>
            <a:endParaRPr lang="fa-IR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00200"/>
            <a:ext cx="9948672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7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صدور اجازه بهره برداری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صورت رفع نواقص بهداشتی در طی مدت مذکور در بند ۲-۳ و ۲-۴ و یا رفع نواقص بهداشتی بعد از فک پلمب، پس از اعلام کتبی مالک/ مدیر/ متصدی مبنی بر رفع نواقص بهداشتی و انجام بازرسی و تائید مسئول بهداشت محل، اجازه بهره برداری صادر خواهد شد.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فرم‌های مرتبط:  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باز کردن فرم ۵: اعلام کتبی متصدی مبنی بر رفع نواقص بهداشتی و درخواست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۵-۱۸۰۳۹۲۰۶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باز کردن فرم ۶: درخواست صدور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۶-۱۸۰۳۹۲۰۶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باز کردن فرم ۷: درخواست صدور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۷-۱۸۰۳۹۲۰۶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باز کردن فرم ۸: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۸-۱۸۰۳۹۲۰۶</a:t>
            </a:r>
            <a:endParaRPr lang="fa-IR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1091672" cy="1920240"/>
          </a:xfrm>
          <a:prstGeom prst="roundRect">
            <a:avLst>
              <a:gd name="adj" fmla="val 5714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3072" y="440740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17352" y="44074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تذکر</a:t>
            </a:r>
            <a:endParaRPr lang="fa-IR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343400"/>
            <a:ext cx="9948672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5" invalidUrl="" action="" tgtFrame="" tooltip="باز کردن فرم ۶: درخواست صدور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۶-۱۸۰۳۹۲۰۶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در صورت عدم تفویض اختیار، و</a:t>
            </a:r>
            <a:endParaRPr lang="fa-IR" sz="16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6" invalidUrl="" action="" tgtFrame="" tooltip="باز کردن فرم ۷: درخواست صدور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۷-۱۸۰۳۹۲۰۶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در صورت تفویض اختیار به رییس مرکز بهداشتی درمانی شهری/ روستایی،</a:t>
            </a:r>
            <a:endParaRPr lang="fa-IR" sz="16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جهت تایید رفع نواقص بهداشتی تکمیل می گردد.</a:t>
            </a:r>
            <a:endParaRPr lang="fa-I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ماده ۲: فرایند اجرایی رسیدگی به نواقص بهداشتی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عدم رفع نواقص در مهلت مقرر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2606040"/>
          </a:xfrm>
          <a:prstGeom prst="roundRect">
            <a:avLst>
              <a:gd name="adj" fmla="val 4211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1664208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17352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۲-۶</a:t>
            </a:r>
            <a:endParaRPr lang="fa-IR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00200"/>
            <a:ext cx="9948672" cy="2331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b="1" dirty="0">
                <a:solidFill>
                  <a:srgbClr val="B0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نواقص بحرانی — پلمب و ارجاع به دادگاه</a:t>
            </a:r>
            <a:endParaRPr lang="fa-IR" sz="16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صورت عدم رفع هر یک از نواقص بحرانی بعد از ۴۸ ساعت، واحد/ مکان/ قسمت مذکور با دستور مسئول بهداشت محل به مدت حداکثر یک هفته پلمب می گردد و پرونده مالک/ مدیر/ متصدی به دادگاه ارجاع می گردد. فک پلمب منوط به درخواست کتبی مالک/ مدیر/ متصدی و تایید مسئول بهداشت محل می باشد و عدم مراجعه و تقاضای فک پلمب توسط مالک/ مدیر/ متصدی به معنی پذیرش ادامه توقف فعالیت توسط ذی نفع است.</a:t>
            </a:r>
            <a:endParaRPr lang="fa-IR" sz="16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فرم‌های مرتبط:  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باز کردن فرم ۹: صورت مجلس پلمب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۹-۱۸۰۳۹۲۰۶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باز کردن فرم ۱۰: ارجاع پرونده متخلف بهداشتی به دادگاه (نواقص بحرانی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۱۰-۱۸۰۳۹۲۰۶</a:t>
            </a:r>
            <a:endParaRPr lang="fa-IR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297680"/>
            <a:ext cx="11091672" cy="1828800"/>
          </a:xfrm>
          <a:prstGeom prst="roundRect">
            <a:avLst>
              <a:gd name="adj" fmla="val 6000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3072" y="4498848"/>
            <a:ext cx="566928" cy="56692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17352" y="44988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۲-۷</a:t>
            </a:r>
            <a:endParaRPr lang="fa-IR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434840"/>
            <a:ext cx="9948672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نواقص غیربحرانی — ورود به گردش کار اداری</a:t>
            </a:r>
            <a:endParaRPr lang="fa-IR" sz="16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صورت عدم رفع نواقص غیر بحرانی پس از مهلت در نظر گرفته شده (حداکثر ۶۰ روزه)، نتیجه بازرسی وارد گردش کار اداری می گردد.</a:t>
            </a:r>
            <a:endParaRPr lang="fa-IR" sz="16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باز کردن فرم ۱۲: گزارش کتبی عدم رفع نواقص غیربحرانی در مهلت مقرر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۱۲-۱۸۰۳۹۲۰۶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در صورت عدم تفویض اختیار</a:t>
            </a:r>
            <a:endParaRPr lang="fa-IR" sz="16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باز کردن فرم ۱۳: گزارش کتبی عدم رفع نواقص غیربحرانی در مهلت مقرر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۱۳-۱۸۰۳۹۲۰۶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در صورت تفویض اختیار به رییس مرکز بهداشتی درمانی شهری/ روستایی</a:t>
            </a:r>
            <a:endParaRPr lang="fa-I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ماده ۲: فرایند اجرایی رسیدگی به نواقص بهداشتی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اخطار و پلمب در نواقص غیربحرانی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1664208"/>
            <a:ext cx="566928" cy="56692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17352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۲-۸</a:t>
            </a:r>
            <a:endParaRPr lang="fa-IR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00200"/>
            <a:ext cx="9948672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7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اخطار تعطیل ۴۸ ساعته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صورت تایید گزارش نواقص بهداشتی غیربحرانی توسط مسئول بهداشت محل، اخطار تعطیل ۴۸ ساعته صادر می گردد.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باز کردن فرم ۱۴: اخطار ۴۸ ساعته جهت پلمب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۱۴-۱۸۰۳۹۲۰۶</a:t>
            </a:r>
            <a:endParaRPr lang="fa-IR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1091672" cy="2834640"/>
          </a:xfrm>
          <a:prstGeom prst="roundRect">
            <a:avLst>
              <a:gd name="adj" fmla="val 3871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3072" y="3493008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17352" y="34930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۲-۹</a:t>
            </a:r>
            <a:endParaRPr lang="fa-IR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29000"/>
            <a:ext cx="9948672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700" b="1" dirty="0">
                <a:solidFill>
                  <a:srgbClr val="B0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تعطیل و ارجاع پرونده به دادگاه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درصورت عدم رفع نواقص غیربحرانی، واحد با تنظیم صورت مجلس حداکثر یک هفته تعطیل می گردد و پرونده مالک/ مدیر متصدی به دادگاه ارجاع می گردد. فک پلمب منوط به درخواست کتبی مالک/ مدیر/ متصدی و تایید مسئول بهداشت محل میباشد و عدم مراجعه و تقاضای فک پلمب توسط مالک/ مدیر/ متصدی به معنی پذیرش ادامه توقف فعالیت توسط ذی نفع است.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فرم‌های مرتبط:  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باز کردن فرم ۹: صورت مجلس پلمب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۹-۱۸۰۳۹۲۰۶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باز کردن فرم ۱۱: ارجاع پرونده متخلف بهداشتی به دادگاه (نواقص غیربحرانی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۱۱-۱۸۰۳۹۲۰۶</a:t>
            </a:r>
            <a:endParaRPr lang="fa-I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ماده ۲: فرایند اجرایی رسیدگی به نواقص بهداشتی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انصراف از پلمب و فک غیرقانونی پلمب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2240280"/>
          </a:xfrm>
          <a:prstGeom prst="roundRect">
            <a:avLst>
              <a:gd name="adj" fmla="val 4898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1664208"/>
            <a:ext cx="566928" cy="5669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17352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۲-۱۰</a:t>
            </a:r>
            <a:endParaRPr lang="fa-IR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00200"/>
            <a:ext cx="9948672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7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انصراف از پلمب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چنانچه طی گردش کار اداری لازم به منظور پلمب، مالک/ مدیر/ متصدی نسبت به رفع نواقص بهداشتی اقدام نماید با تنظیم صورت مجلس و تائید مسئول بهداشت محل، واحد/ مکان/ قسمت مذکور تعطیل نخواهد شد.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باز کردن فرم ۱۵: صورت مجلس انصراف از پلمب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۱۵-۱۸۰۳۹۲۰۶</a:t>
            </a:r>
            <a:endParaRPr lang="fa-IR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1091672" cy="219456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3072" y="4133088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17352" y="413308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۲-۱۱</a:t>
            </a:r>
            <a:endParaRPr lang="fa-IR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69080"/>
            <a:ext cx="9948672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700" b="1" dirty="0">
                <a:solidFill>
                  <a:srgbClr val="B0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فک غیر قانونی پلمب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صورت فک پلمب غیر قانونی واحد/ مکان/ قسمت، پرونده مالک/ مدیر/ متصدی مربوطه باید به دلیل فک پلمب غیر قانونی به دادگاه ارجاع گردد. نحوه تعطیل مجدد و بازگشایی واحد/ مکان/ قسمت طبق نظر دادگاه خواهد بود.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باز کردن فرم ۱۶: اعلام تخلف فک پلمب بصورت غیرقانون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۱۶-۱۸۰۳۹۲۰۶</a:t>
            </a:r>
            <a:endParaRPr lang="fa-I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ماده ۲: فرایند اجرایی رسیدگی به نواقص بهداشتی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بازگشایی به منظور رفع نواقص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166420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17352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۲-۱۲</a:t>
            </a:r>
            <a:endParaRPr lang="fa-IR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00200"/>
            <a:ext cx="9948672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مالک/ مدیر/ متصدی باید جهت بازگشایی واحد/ مکان/ قسمت خود به منظور رفع نواقص بهداشتی از مسئول بهداشت محل به صورت کتبی درخواست نماید.</a:t>
            </a:r>
            <a:endParaRPr lang="fa-IR" sz="16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باز کردن فرم ۱۷: درخواست کتبی مالک/ مدیر/ متصدی مبنی بر بازگشایی واحد/ مکان/ قسمت به منظور رفع نواقص بهداشت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۱۷-۱۸۰۳۹۲۰۶</a:t>
            </a:r>
            <a:endParaRPr lang="fa-IR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3072" y="326440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17352" y="32644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۲-۱۳</a:t>
            </a:r>
            <a:endParaRPr lang="fa-IR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200400"/>
            <a:ext cx="9948672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اخذ تعهد محضری از مالک/ مدیر/ متصدی مبنی بر عدم استفاده از مجوز بازگشایی واحد به منظور رفع نواقص بهداشتی برای بهره برداری از واحد.</a:t>
            </a:r>
            <a:endParaRPr lang="fa-IR" sz="16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باز کردن فرم ۱۸: تعهد محض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۱۸-۱۸۰۳۹۲۰۶</a:t>
            </a:r>
            <a:endParaRPr lang="fa-IR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63072" y="4864608"/>
            <a:ext cx="566928" cy="56692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817352" y="48646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تبصره</a:t>
            </a:r>
            <a:endParaRPr lang="fa-IR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00600"/>
            <a:ext cx="9948672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بازگشایی مکان/ قسمت دارای نقص بهداشتی به منظور رفع نواقص بهداشتی با تایید مسئول بهداشت محل مجاز است و نیازی به اخذ تعهد محضری نیست.</a:t>
            </a:r>
            <a:endParaRPr lang="fa-I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ماده ۲: فرایند اجرایی رسیدگی به نواقص بهداشتی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فک پلمب و بهره برداری غیرمجاز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920240"/>
          </a:xfrm>
          <a:prstGeom prst="roundRect">
            <a:avLst>
              <a:gd name="adj" fmla="val 5714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166420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17352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۲-۱۴</a:t>
            </a:r>
            <a:endParaRPr lang="fa-IR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00200"/>
            <a:ext cx="9948672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7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فک پلمب برای رفع نواقص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فک پلمب به منظور رفع نواقص بهداشتی بدون بهره برداری توسط تیم بازرسی، با تنظیم صورت مجلس و تفهیم موضوع به مالک/ مدیر/ متصدی انجام می گردد.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باز کردن فرم ۱۹: صورت مجلس فک پلمب به منظور رفع نواقص بهداشت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۱۹-۱۸۰۳۹۲۰۶</a:t>
            </a:r>
            <a:endParaRPr lang="fa-IR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11091672" cy="2514600"/>
          </a:xfrm>
          <a:prstGeom prst="roundRect">
            <a:avLst>
              <a:gd name="adj" fmla="val 4364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3072" y="3813048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17352" y="38130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۲-۱۵</a:t>
            </a:r>
            <a:endParaRPr lang="fa-IR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49040"/>
            <a:ext cx="9948672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700" b="1" dirty="0">
                <a:solidFill>
                  <a:srgbClr val="B0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بهره برداری قبل از دریافت اجازه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چنانچه مالک/ مدیر/ متصدی قبل از دریافت اجازه بهره برداری اقدام به فعالیت نماید، واحد/ مکان/ قسمت مربوطه مجدداً به مدت دو هفته، تعطیل خواهد شد و به دلیل بهره برداری غیر مجاز، پرونده مالک/ مدیر/ متصدی به دادگاه ارجاع می گردد.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فرم‌های مرتبط:  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باز کردن فرم ۹: صورت مجلس پلمب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۹-۱۸۰۳۹۲۰۶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4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باز کردن فرم ۲۰: اعلام تخلف بهره برداری غیر مجاز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۲۰-۱۸۰۳۹۲۰۶</a:t>
            </a:r>
            <a:endParaRPr lang="fa-I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ماده ۲: فرایند اجرایی رسیدگی به نواقص بهداشتی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پلاکارد/ اطلاعیه و موارد طغیان بیماری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166420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17352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۲-۱۶</a:t>
            </a:r>
            <a:endParaRPr lang="fa-IR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00200"/>
            <a:ext cx="9948672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7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نصب پلاکارد/ اطلاعیه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تمامی مراحل فوق نصب پلاکارد/ اطلاعیه در صورت لزوم با ذکر علت، طبق نظر مسئول بهداشت محل انجام می گردد.</a:t>
            </a:r>
            <a:endParaRPr lang="fa-IR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1091672" cy="2834640"/>
          </a:xfrm>
          <a:prstGeom prst="roundRect">
            <a:avLst>
              <a:gd name="adj" fmla="val 3871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3072" y="3493008"/>
            <a:ext cx="566928" cy="56692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17352" y="34930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تبصره</a:t>
            </a:r>
            <a:endParaRPr lang="fa-IR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29000"/>
            <a:ext cx="9948672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700" b="1" dirty="0">
                <a:solidFill>
                  <a:srgbClr val="B0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طغیان/ اپیدمی بیماری</a:t>
            </a:r>
            <a:endParaRPr lang="fa-IR" sz="1700" dirty="0"/>
          </a:p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6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صورتی که تشخیص داده شود وقوع طغیان/ اپیدمی بیماری، به دلیل عدم رعایت موازین بهداشتی توسط مراکز و اماکن موضوع این دستورالعمل رخ داده است، پس از اعطای مهلت قانونی واحد مورد نظر تعطیل و پرونده مالک/ مدیر/ متصدی به دادگاه ارجاع و برای وی درخواست اشد مجازات می گردد. در این مورد نصب پلاکارد/ اطلاعیه مبنی بر عدم رعایت موازین بهداشتی الزامی می باشد.</a:t>
            </a:r>
            <a:endParaRPr lang="fa-I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ماده ۳: فرایند اجرایی ماده ۳۱ آیین نامه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مواد غذایی فاسد، تاریخ گذشته یا فاقد مجوز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6199632" y="14630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166420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17352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۳-۱</a:t>
            </a:r>
            <a:endParaRPr lang="fa-IR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28232" y="1600200"/>
            <a:ext cx="42976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جمع آوری و توقیف مواد غذایی فاسد، تاریخ مصرف گذشته و یا فاقد مجوزهای بهداشتی (مشمول مجوز) طبق 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باز کردن فرم ۲۱: صورت مجلس جمع آوری/ توقیف مواد غذایی فاسد/ تاریخ مصرف گذشته/ فاقد مجوزهای بهداشتی (مشمول مجوز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۲۱-۱۸۰۳۹۲۰۶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</a:t>
            </a:r>
            <a:endParaRPr lang="fa-IR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166420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۳-۲</a:t>
            </a:r>
            <a:endParaRPr lang="fa-IR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600200"/>
            <a:ext cx="42976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معدوم سازی/ ارجاع مواد غذایی فاسد، تاریخ مصرف گذشته و یا فاقد مجوزهای بهداشتی (مشمول مجوز)، طبق صورت مجلس 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باز کردن فرم ۲۲: صورت مجلس معدوم سازی/ ارجاع مواد غذای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۲۲-۱۸۰۳۹۲۰۶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</a:t>
            </a:r>
            <a:endParaRPr lang="fa-IR" sz="1500" dirty="0"/>
          </a:p>
        </p:txBody>
      </p:sp>
      <p:sp>
        <p:nvSpPr>
          <p:cNvPr id="12" name="Shape 10"/>
          <p:cNvSpPr/>
          <p:nvPr/>
        </p:nvSpPr>
        <p:spPr>
          <a:xfrm>
            <a:off x="6199632" y="347472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63072" y="367588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817352" y="367588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۳-۳</a:t>
            </a:r>
            <a:endParaRPr lang="fa-IR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3611880"/>
            <a:ext cx="42976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ارجاع پرونده متخلف بهداشتی به دادگاه به دلیل عرضه مواد غذایی فاسد، تاریخ مصرف گذشته و یا فاقد مجوزهای بهداشتی (مشمول مجوز) طبق 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باز کردن فرم ۲۳: ارجاع پرونده متخلف بهداشتی به دادگاه (به دلیل عرضه مواد غذایی فاسد، تاریخ مصرف گذشته و یا فاقد مجوزهای بهداشتی (مشمول مجوز)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۲۳-۱۸۰۳۹۲۰۶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</a:t>
            </a:r>
            <a:endParaRPr lang="fa-IR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3675888"/>
            <a:ext cx="566928" cy="56692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66360" y="367588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۳-۴</a:t>
            </a:r>
            <a:endParaRPr lang="fa-IR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611880"/>
            <a:ext cx="42976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درخواست اعلام نظر از سازمان های ذی ربط مبنی بر تعیین تکلیف وضعیت مواد غذایی توقیف شده طبق 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باز کردن فرم ۲۴: درخواست اعلام نظر از سازمان های ذی ربط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۲۴-۱۸۰۳۹۲۰۶</a:t>
            </a:r>
            <a:pPr rtl="1"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fa-IR" altLang="en-US" sz="15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</a:t>
            </a:r>
            <a:endParaRPr lang="fa-IR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559552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559552"/>
            <a:ext cx="10725912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rtl="1" algn="ctr" indent="0" marL="0">
              <a:buNone/>
            </a:pPr>
            <a:r>
              <a:rPr lang="fa-IR" alt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این دستورالعمل مشتمل بر ۳ ماده و ۲ تبصره بوده و از تاریخ ابلاغ، لازم الاجرا می باشد.</a:t>
            </a:r>
            <a:endParaRPr lang="fa-I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نمودار گردش کار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نمودار گردش کار نواقص غیر بحرانی (۱ از ۳)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5852160" y="1371600"/>
            <a:ext cx="5349240" cy="361195"/>
          </a:xfrm>
          <a:prstGeom prst="flowChartTerminator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25312" y="1371600"/>
            <a:ext cx="5202936" cy="36119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بازرسی از واحد صنفی</a:t>
            </a:r>
            <a:endParaRPr lang="fa-IR" sz="1250" dirty="0"/>
          </a:p>
        </p:txBody>
      </p:sp>
      <p:sp>
        <p:nvSpPr>
          <p:cNvPr id="6" name="Shape 4"/>
          <p:cNvSpPr/>
          <p:nvPr/>
        </p:nvSpPr>
        <p:spPr>
          <a:xfrm>
            <a:off x="8526780" y="1732795"/>
            <a:ext cx="914" cy="216717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52160" y="1949512"/>
            <a:ext cx="5349240" cy="520120"/>
          </a:xfrm>
          <a:prstGeom prst="flowChartDecision">
            <a:avLst/>
          </a:prstGeom>
          <a:solidFill>
            <a:srgbClr val="E3EFF1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8038" y="1949512"/>
            <a:ext cx="3637483" cy="52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نقص غیر بحرانی دارد؟</a:t>
            </a:r>
            <a:endParaRPr lang="fa-IR" sz="1200" dirty="0"/>
          </a:p>
        </p:txBody>
      </p:sp>
      <p:sp>
        <p:nvSpPr>
          <p:cNvPr id="9" name="Shape 7"/>
          <p:cNvSpPr/>
          <p:nvPr/>
        </p:nvSpPr>
        <p:spPr>
          <a:xfrm flipH="1">
            <a:off x="5440680" y="2209572"/>
            <a:ext cx="41148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440680" y="19078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B0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خیر</a:t>
            </a:r>
            <a:endParaRPr lang="fa-IR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1985631"/>
            <a:ext cx="3291840" cy="447881"/>
          </a:xfrm>
          <a:prstGeom prst="flowChartTerminator">
            <a:avLst/>
          </a:prstGeom>
          <a:solidFill>
            <a:srgbClr val="E7F4EC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21992" y="1985631"/>
            <a:ext cx="3145536" cy="4478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اقدام قانونی ندارد، ثبت در سامانه/ پرونده</a:t>
            </a:r>
            <a:endParaRPr lang="fa-IR" sz="1250" dirty="0"/>
          </a:p>
        </p:txBody>
      </p:sp>
      <p:sp>
        <p:nvSpPr>
          <p:cNvPr id="13" name="Shape 11"/>
          <p:cNvSpPr/>
          <p:nvPr/>
        </p:nvSpPr>
        <p:spPr>
          <a:xfrm>
            <a:off x="8526780" y="2469632"/>
            <a:ext cx="914" cy="216717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8572500" y="246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بلی</a:t>
            </a:r>
            <a:endParaRPr lang="fa-IR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686349"/>
            <a:ext cx="5349240" cy="520120"/>
          </a:xfrm>
          <a:prstGeom prst="flowChartDecision">
            <a:avLst/>
          </a:prstGeom>
          <a:solidFill>
            <a:srgbClr val="E3EFF1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8038" y="2686349"/>
            <a:ext cx="3637483" cy="52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نواقص در محل قابل رفع است؟</a:t>
            </a:r>
            <a:endParaRPr lang="fa-IR" sz="1200" dirty="0"/>
          </a:p>
        </p:txBody>
      </p:sp>
      <p:sp>
        <p:nvSpPr>
          <p:cNvPr id="17" name="Shape 15"/>
          <p:cNvSpPr/>
          <p:nvPr/>
        </p:nvSpPr>
        <p:spPr>
          <a:xfrm flipH="1">
            <a:off x="5440680" y="2946409"/>
            <a:ext cx="41148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40680" y="264465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بلی</a:t>
            </a:r>
            <a:endParaRPr lang="fa-IR" sz="1100" dirty="0"/>
          </a:p>
        </p:txBody>
      </p:sp>
      <p:sp>
        <p:nvSpPr>
          <p:cNvPr id="19" name="Shape 17"/>
          <p:cNvSpPr/>
          <p:nvPr/>
        </p:nvSpPr>
        <p:spPr>
          <a:xfrm>
            <a:off x="2148840" y="2722468"/>
            <a:ext cx="3291840" cy="447881"/>
          </a:xfrm>
          <a:prstGeom prst="flowChartTerminator">
            <a:avLst/>
          </a:prstGeom>
          <a:solidFill>
            <a:srgbClr val="E7F4EC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21992" y="2722468"/>
            <a:ext cx="3145536" cy="4478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اقدام قانونی ندارد، ثبت در سامانه/ پرونده با علامت +</a:t>
            </a:r>
            <a:endParaRPr lang="fa-IR" sz="1250" dirty="0"/>
          </a:p>
        </p:txBody>
      </p:sp>
      <p:sp>
        <p:nvSpPr>
          <p:cNvPr id="21" name="Shape 19"/>
          <p:cNvSpPr/>
          <p:nvPr/>
        </p:nvSpPr>
        <p:spPr>
          <a:xfrm>
            <a:off x="8526780" y="3206469"/>
            <a:ext cx="914" cy="216717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572500" y="3206469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B0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خیر</a:t>
            </a:r>
            <a:endParaRPr lang="fa-IR" sz="1100" dirty="0"/>
          </a:p>
        </p:txBody>
      </p:sp>
      <p:sp>
        <p:nvSpPr>
          <p:cNvPr id="23" name="Shape 21"/>
          <p:cNvSpPr/>
          <p:nvPr/>
        </p:nvSpPr>
        <p:spPr>
          <a:xfrm>
            <a:off x="5852160" y="3423186"/>
            <a:ext cx="5349240" cy="563464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25312" y="3423186"/>
            <a:ext cx="5202936" cy="56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معرفی واحد صنفی دارای نقص غیربحرانی به مسئول بهداشت محل طبق گردش کار اداری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گزارش نواقص بهداشت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۱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dirty="0">
                <a:solidFill>
                  <a:srgbClr val="4C616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گزارش نواقص بهداشت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۲</a:t>
            </a:r>
            <a:endParaRPr lang="fa-IR" sz="1250" dirty="0"/>
          </a:p>
        </p:txBody>
      </p:sp>
      <p:sp>
        <p:nvSpPr>
          <p:cNvPr id="25" name="Shape 23"/>
          <p:cNvSpPr/>
          <p:nvPr/>
        </p:nvSpPr>
        <p:spPr>
          <a:xfrm>
            <a:off x="8526780" y="3986650"/>
            <a:ext cx="914" cy="216717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52160" y="4203367"/>
            <a:ext cx="5349240" cy="52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25312" y="4203367"/>
            <a:ext cx="5202936" cy="52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ابلاغ اخطار با مهلت حداکثر تا ۶۰ روز با تایید و دستور مسئول بهداشت محل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اخطار برای رفع نواقص غیر بحران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۴</a:t>
            </a:r>
            <a:endParaRPr lang="fa-IR" sz="1250" dirty="0"/>
          </a:p>
        </p:txBody>
      </p:sp>
      <p:sp>
        <p:nvSpPr>
          <p:cNvPr id="28" name="Shape 26"/>
          <p:cNvSpPr/>
          <p:nvPr/>
        </p:nvSpPr>
        <p:spPr>
          <a:xfrm>
            <a:off x="8526780" y="4723487"/>
            <a:ext cx="914" cy="216717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852160" y="4940204"/>
            <a:ext cx="5349240" cy="830748"/>
          </a:xfrm>
          <a:prstGeom prst="flowChartDecision">
            <a:avLst/>
          </a:prstGeom>
          <a:solidFill>
            <a:srgbClr val="E3EFF1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08038" y="4940204"/>
            <a:ext cx="3637483" cy="8307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آیا بعد از مهلت تعیین شده نواقص برطرف گردیدند؟</a:t>
            </a:r>
            <a:endParaRPr lang="fa-IR" sz="1200" dirty="0"/>
          </a:p>
        </p:txBody>
      </p:sp>
      <p:sp>
        <p:nvSpPr>
          <p:cNvPr id="31" name="Shape 29"/>
          <p:cNvSpPr/>
          <p:nvPr/>
        </p:nvSpPr>
        <p:spPr>
          <a:xfrm flipH="1">
            <a:off x="5440680" y="5355578"/>
            <a:ext cx="41148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440680" y="505382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بلی</a:t>
            </a:r>
            <a:endParaRPr lang="fa-IR" sz="1100" dirty="0"/>
          </a:p>
        </p:txBody>
      </p:sp>
      <p:sp>
        <p:nvSpPr>
          <p:cNvPr id="33" name="Shape 31"/>
          <p:cNvSpPr/>
          <p:nvPr/>
        </p:nvSpPr>
        <p:spPr>
          <a:xfrm>
            <a:off x="3977640" y="4940204"/>
            <a:ext cx="1463040" cy="830748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050792" y="4940204"/>
            <a:ext cx="1316736" cy="8307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1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اعلام کتبی مالک/ مدیر/ متصدی مبنی بر رفع نواقص</a:t>
            </a:r>
            <a:endParaRPr lang="fa-IR" sz="110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اعلام کتبی متصدی مبنی بر رفع نواقص بهداشتی و درخواست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۵</a:t>
            </a:r>
            <a:endParaRPr lang="fa-IR" sz="1100" dirty="0"/>
          </a:p>
        </p:txBody>
      </p:sp>
      <p:sp>
        <p:nvSpPr>
          <p:cNvPr id="35" name="Shape 33"/>
          <p:cNvSpPr/>
          <p:nvPr/>
        </p:nvSpPr>
        <p:spPr>
          <a:xfrm flipH="1">
            <a:off x="3703320" y="5355578"/>
            <a:ext cx="27432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240280" y="4940204"/>
            <a:ext cx="1463040" cy="830748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13432" y="4940204"/>
            <a:ext cx="1316736" cy="8307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1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انجام بازرسی و تایید مسئول بهداشت محل</a:t>
            </a:r>
            <a:endParaRPr lang="fa-IR" sz="110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5" invalidUrl="" action="" tgtFrame="" tooltip="درخواست صدور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۶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dirty="0">
                <a:solidFill>
                  <a:srgbClr val="4C616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6" invalidUrl="" action="" tgtFrame="" tooltip="درخواست صدور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۷</a:t>
            </a:r>
            <a:endParaRPr lang="fa-IR" sz="1100" dirty="0"/>
          </a:p>
        </p:txBody>
      </p:sp>
      <p:sp>
        <p:nvSpPr>
          <p:cNvPr id="38" name="Shape 36"/>
          <p:cNvSpPr/>
          <p:nvPr/>
        </p:nvSpPr>
        <p:spPr>
          <a:xfrm flipH="1">
            <a:off x="1965960" y="5355578"/>
            <a:ext cx="27432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02920" y="4940204"/>
            <a:ext cx="1463040" cy="830748"/>
          </a:xfrm>
          <a:prstGeom prst="flowChartTerminator">
            <a:avLst/>
          </a:prstGeom>
          <a:solidFill>
            <a:srgbClr val="E7F4EC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6072" y="4940204"/>
            <a:ext cx="1316736" cy="8307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صدور اجازه بهره برداری</a:t>
            </a:r>
            <a:endParaRPr lang="fa-IR" sz="110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7" invalidUrl="" action="" tgtFrame="" tooltip="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۸</a:t>
            </a:r>
            <a:endParaRPr lang="fa-IR" sz="1100" dirty="0"/>
          </a:p>
        </p:txBody>
      </p:sp>
      <p:sp>
        <p:nvSpPr>
          <p:cNvPr id="41" name="Shape 39"/>
          <p:cNvSpPr/>
          <p:nvPr/>
        </p:nvSpPr>
        <p:spPr>
          <a:xfrm>
            <a:off x="8526780" y="5770952"/>
            <a:ext cx="914" cy="228600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334756" y="601784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34756" y="601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200" b="1" dirty="0">
                <a:solidFill>
                  <a:srgbClr val="0A3F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</a:t>
            </a:r>
            <a:endParaRPr lang="fa-I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نمودار گردش کار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نمودار گردش کار نواقص غیر بحرانی (۲ از ۳)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8334756" y="132588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34756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200" b="1" dirty="0">
                <a:solidFill>
                  <a:srgbClr val="0A3F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</a:t>
            </a:r>
            <a:endParaRPr lang="fa-IR" sz="1200" dirty="0"/>
          </a:p>
        </p:txBody>
      </p:sp>
      <p:sp>
        <p:nvSpPr>
          <p:cNvPr id="6" name="Shape 4"/>
          <p:cNvSpPr/>
          <p:nvPr/>
        </p:nvSpPr>
        <p:spPr>
          <a:xfrm>
            <a:off x="8526780" y="1709928"/>
            <a:ext cx="914" cy="182880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52160" y="1920240"/>
            <a:ext cx="5349240" cy="703965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25312" y="1920240"/>
            <a:ext cx="5202936" cy="7039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گزارش کتبی عدم رفع نواقص و صدور اخطار تعطیل ۴۸ ساعته با تایید مسئول بهداشت محل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گزارش کتبی عدم رفع نواقص غیربحرانی در مهلت مقرر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۱۲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dirty="0">
                <a:solidFill>
                  <a:srgbClr val="4C616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گزارش کتبی عدم رفع نواقص غیربحرانی در مهلت مقرر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۱۳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dirty="0">
                <a:solidFill>
                  <a:srgbClr val="4C616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اخطار ۴۸ ساعته جهت پلمب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۱۴</a:t>
            </a:r>
            <a:endParaRPr lang="fa-IR" sz="1250" dirty="0"/>
          </a:p>
        </p:txBody>
      </p:sp>
      <p:sp>
        <p:nvSpPr>
          <p:cNvPr id="9" name="Shape 7"/>
          <p:cNvSpPr/>
          <p:nvPr/>
        </p:nvSpPr>
        <p:spPr>
          <a:xfrm>
            <a:off x="8526780" y="2624205"/>
            <a:ext cx="914" cy="248458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52160" y="2872663"/>
            <a:ext cx="5349240" cy="1076652"/>
          </a:xfrm>
          <a:prstGeom prst="flowChartDecision">
            <a:avLst/>
          </a:prstGeom>
          <a:solidFill>
            <a:srgbClr val="E3EFF1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8038" y="2872663"/>
            <a:ext cx="3637483" cy="10766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قبل از پلمب و در مهلت اخطار و مراحل گردش کار اداری، آیا نواقص برطرف شده اند؟</a:t>
            </a:r>
            <a:endParaRPr lang="fa-IR" sz="1200" dirty="0"/>
          </a:p>
        </p:txBody>
      </p:sp>
      <p:sp>
        <p:nvSpPr>
          <p:cNvPr id="12" name="Shape 10"/>
          <p:cNvSpPr/>
          <p:nvPr/>
        </p:nvSpPr>
        <p:spPr>
          <a:xfrm flipH="1">
            <a:off x="5440680" y="3410989"/>
            <a:ext cx="41148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40680" y="310923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بلی</a:t>
            </a:r>
            <a:endParaRPr lang="fa-IR" sz="1100" dirty="0"/>
          </a:p>
        </p:txBody>
      </p:sp>
      <p:sp>
        <p:nvSpPr>
          <p:cNvPr id="14" name="Shape 12"/>
          <p:cNvSpPr/>
          <p:nvPr/>
        </p:nvSpPr>
        <p:spPr>
          <a:xfrm>
            <a:off x="3977640" y="2872663"/>
            <a:ext cx="1463040" cy="1076652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50792" y="2872663"/>
            <a:ext cx="1316736" cy="10766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1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اعلام کتبی مالک/ مدیر/ متصدی مبنی بر رفع نواقص</a:t>
            </a:r>
            <a:endParaRPr lang="fa-IR" sz="110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اعلام کتبی متصدی مبنی بر رفع نواقص بهداشتی و درخواست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۵</a:t>
            </a:r>
            <a:endParaRPr lang="fa-IR" sz="1100" dirty="0"/>
          </a:p>
        </p:txBody>
      </p:sp>
      <p:sp>
        <p:nvSpPr>
          <p:cNvPr id="16" name="Shape 14"/>
          <p:cNvSpPr/>
          <p:nvPr/>
        </p:nvSpPr>
        <p:spPr>
          <a:xfrm flipH="1">
            <a:off x="3703320" y="3410989"/>
            <a:ext cx="27432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40280" y="2872663"/>
            <a:ext cx="1463040" cy="1076652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13432" y="2872663"/>
            <a:ext cx="1316736" cy="10766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1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انجام بازرسی و تنظیم صورت مجلس انصراف از پلمب با تایید مسئول بهداشت محل</a:t>
            </a:r>
            <a:endParaRPr lang="fa-IR" sz="110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5" invalidUrl="" action="" tgtFrame="" tooltip="صورت مجلس انصراف از پلمب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۱۵</a:t>
            </a:r>
            <a:endParaRPr lang="fa-IR" sz="1100" dirty="0"/>
          </a:p>
        </p:txBody>
      </p:sp>
      <p:sp>
        <p:nvSpPr>
          <p:cNvPr id="19" name="Shape 17"/>
          <p:cNvSpPr/>
          <p:nvPr/>
        </p:nvSpPr>
        <p:spPr>
          <a:xfrm flipH="1">
            <a:off x="1965960" y="3410989"/>
            <a:ext cx="27432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2920" y="2872663"/>
            <a:ext cx="1463040" cy="1076652"/>
          </a:xfrm>
          <a:prstGeom prst="flowChartTerminator">
            <a:avLst/>
          </a:prstGeom>
          <a:solidFill>
            <a:srgbClr val="E7F4EC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" y="2872663"/>
            <a:ext cx="1316736" cy="10766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اقدام قانونی ندارد، ثبت در سامانه/ پرونده</a:t>
            </a:r>
            <a:endParaRPr lang="fa-IR" sz="1100" dirty="0"/>
          </a:p>
        </p:txBody>
      </p:sp>
      <p:sp>
        <p:nvSpPr>
          <p:cNvPr id="22" name="Shape 20"/>
          <p:cNvSpPr/>
          <p:nvPr/>
        </p:nvSpPr>
        <p:spPr>
          <a:xfrm>
            <a:off x="8526780" y="3949315"/>
            <a:ext cx="914" cy="248458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8572500" y="3949315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B0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خیر</a:t>
            </a:r>
            <a:endParaRPr lang="fa-IR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4197773"/>
            <a:ext cx="5349240" cy="703965"/>
          </a:xfrm>
          <a:prstGeom prst="rect">
            <a:avLst/>
          </a:prstGeom>
          <a:solidFill>
            <a:srgbClr val="FBECEA"/>
          </a:solidFill>
          <a:ln w="15875">
            <a:solidFill>
              <a:srgbClr val="B03A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25312" y="4197773"/>
            <a:ext cx="5202936" cy="7039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پلمب واحد مربوطه با تایید مسئول بهداشت محل با تنظیم صورت مجلس، حداکثر به مدت یک هفته و ارجاع پرونده به دادگاه *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6" invalidUrl="" action="" tgtFrame="" tooltip="صورت مجلس پلمب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۹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dirty="0">
                <a:solidFill>
                  <a:srgbClr val="4C616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7" invalidUrl="" action="" tgtFrame="" tooltip="ارجاع پرونده متخلف بهداشتی به دادگاه (نواقص غیربحرانی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۱۱</a:t>
            </a:r>
            <a:endParaRPr lang="fa-IR" sz="1250" dirty="0"/>
          </a:p>
        </p:txBody>
      </p:sp>
      <p:sp>
        <p:nvSpPr>
          <p:cNvPr id="26" name="Shape 24"/>
          <p:cNvSpPr/>
          <p:nvPr/>
        </p:nvSpPr>
        <p:spPr>
          <a:xfrm>
            <a:off x="8526780" y="4901738"/>
            <a:ext cx="914" cy="248458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52160" y="5150196"/>
            <a:ext cx="5349240" cy="596300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25312" y="5150196"/>
            <a:ext cx="5202936" cy="5963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درخواست کتبی متصدی از مسئول بهداشت محل جهت بازگشایی به منظور رفع نواقص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8" invalidUrl="" action="" tgtFrame="" tooltip="درخواست کتبی مالک/ مدیر/ متصدی مبنی بر بازگشایی واحد/ مکان/ قسمت به منظور رفع نواقص بهداشت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۱۷</a:t>
            </a:r>
            <a:endParaRPr lang="fa-IR" sz="1250" dirty="0"/>
          </a:p>
        </p:txBody>
      </p:sp>
      <p:sp>
        <p:nvSpPr>
          <p:cNvPr id="29" name="Shape 27"/>
          <p:cNvSpPr/>
          <p:nvPr/>
        </p:nvSpPr>
        <p:spPr>
          <a:xfrm>
            <a:off x="8526780" y="5746496"/>
            <a:ext cx="914" cy="228600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334756" y="5993384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34756" y="5993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200" b="1" dirty="0">
                <a:solidFill>
                  <a:srgbClr val="0A3F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fa-I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نمودار گردش کار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نمودار گردش کار نواقص غیر بحرانی (۳ از ۳)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8334756" y="132588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34756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200" b="1" dirty="0">
                <a:solidFill>
                  <a:srgbClr val="0A3F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fa-IR" sz="1200" dirty="0"/>
          </a:p>
        </p:txBody>
      </p:sp>
      <p:sp>
        <p:nvSpPr>
          <p:cNvPr id="6" name="Shape 4"/>
          <p:cNvSpPr/>
          <p:nvPr/>
        </p:nvSpPr>
        <p:spPr>
          <a:xfrm>
            <a:off x="8526780" y="1709928"/>
            <a:ext cx="914" cy="182880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52160" y="1920240"/>
            <a:ext cx="5349240" cy="654390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25312" y="1920240"/>
            <a:ext cx="5202936" cy="6543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مورد واحد صنفی: اخذ تعهد محضری با تایید مسئول بهداشت محل/ در مورد مکان یا قسمت: صرفاً با تأیید مسئول بهداشت محل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تعهد محض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۱۸</a:t>
            </a:r>
            <a:endParaRPr lang="fa-IR" sz="1250" dirty="0"/>
          </a:p>
        </p:txBody>
      </p:sp>
      <p:sp>
        <p:nvSpPr>
          <p:cNvPr id="9" name="Shape 7"/>
          <p:cNvSpPr/>
          <p:nvPr/>
        </p:nvSpPr>
        <p:spPr>
          <a:xfrm>
            <a:off x="8526780" y="2574630"/>
            <a:ext cx="914" cy="207865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52160" y="2782495"/>
            <a:ext cx="5349240" cy="554307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25312" y="2782495"/>
            <a:ext cx="5202936" cy="5543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فک پلمب قسمت مربوطه با دستور مسئول بهداشت محل به منظور رفع نقص با تنظیم صورت مجلس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صورت مجلس فک پلمب به منظور رفع نواقص بهداشت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۱۹</a:t>
            </a:r>
            <a:endParaRPr lang="fa-IR" sz="1250" dirty="0"/>
          </a:p>
        </p:txBody>
      </p:sp>
      <p:sp>
        <p:nvSpPr>
          <p:cNvPr id="12" name="Shape 10"/>
          <p:cNvSpPr/>
          <p:nvPr/>
        </p:nvSpPr>
        <p:spPr>
          <a:xfrm>
            <a:off x="8526780" y="3336802"/>
            <a:ext cx="914" cy="304099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52160" y="3640900"/>
            <a:ext cx="5349240" cy="615896"/>
          </a:xfrm>
          <a:prstGeom prst="flowChartDecision">
            <a:avLst/>
          </a:prstGeom>
          <a:solidFill>
            <a:srgbClr val="E3EFF1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08038" y="3640900"/>
            <a:ext cx="3637483" cy="615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آیا رفع نقص انجام شده است؟</a:t>
            </a:r>
            <a:endParaRPr lang="fa-IR" sz="1200" dirty="0"/>
          </a:p>
        </p:txBody>
      </p:sp>
      <p:sp>
        <p:nvSpPr>
          <p:cNvPr id="15" name="Shape 13"/>
          <p:cNvSpPr/>
          <p:nvPr/>
        </p:nvSpPr>
        <p:spPr>
          <a:xfrm flipH="1">
            <a:off x="5440680" y="3948849"/>
            <a:ext cx="41148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40680" y="364709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B0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خیر</a:t>
            </a:r>
            <a:endParaRPr lang="fa-IR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3544667"/>
            <a:ext cx="2103120" cy="808364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10712" y="3544667"/>
            <a:ext cx="1956816" cy="8083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1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عدم رفع نقص یا فعالیت قبل از دریافت اجازه بهره برداری</a:t>
            </a:r>
            <a:endParaRPr lang="fa-IR" sz="1100" dirty="0"/>
          </a:p>
        </p:txBody>
      </p:sp>
      <p:sp>
        <p:nvSpPr>
          <p:cNvPr id="19" name="Shape 17"/>
          <p:cNvSpPr/>
          <p:nvPr/>
        </p:nvSpPr>
        <p:spPr>
          <a:xfrm flipH="1">
            <a:off x="3063240" y="3948849"/>
            <a:ext cx="27432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" y="3544667"/>
            <a:ext cx="2103120" cy="808364"/>
          </a:xfrm>
          <a:prstGeom prst="rect">
            <a:avLst/>
          </a:prstGeom>
          <a:solidFill>
            <a:srgbClr val="FBECEA"/>
          </a:solidFill>
          <a:ln w="15875">
            <a:solidFill>
              <a:srgbClr val="B03A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33272" y="3544667"/>
            <a:ext cx="1956816" cy="8083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1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تعطیل مجدد، دو برابر مدت تعطیلی قبل و معرفی به دادگاه</a:t>
            </a:r>
            <a:endParaRPr lang="fa-IR" sz="110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صورت مجلس پلمب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۹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dirty="0">
                <a:solidFill>
                  <a:srgbClr val="4C616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اعلام تخلف بهره برداری غیر مجاز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۲۰</a:t>
            </a:r>
            <a:endParaRPr lang="fa-IR" sz="1100" dirty="0"/>
          </a:p>
        </p:txBody>
      </p:sp>
      <p:sp>
        <p:nvSpPr>
          <p:cNvPr id="22" name="Shape 20"/>
          <p:cNvSpPr/>
          <p:nvPr/>
        </p:nvSpPr>
        <p:spPr>
          <a:xfrm>
            <a:off x="8526780" y="4256797"/>
            <a:ext cx="914" cy="304099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8572500" y="425679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بلی</a:t>
            </a:r>
            <a:endParaRPr lang="fa-IR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4560896"/>
            <a:ext cx="5349240" cy="461922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25312" y="4560896"/>
            <a:ext cx="5202936" cy="461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اعلام کتبی مالک/ مدیر/ متصدی مبنی بر رفع نواقص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5" invalidUrl="" action="" tgtFrame="" tooltip="اعلام کتبی متصدی مبنی بر رفع نواقص بهداشتی و درخواست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۵</a:t>
            </a:r>
            <a:endParaRPr lang="fa-IR" sz="1250" dirty="0"/>
          </a:p>
        </p:txBody>
      </p:sp>
      <p:sp>
        <p:nvSpPr>
          <p:cNvPr id="26" name="Shape 24"/>
          <p:cNvSpPr/>
          <p:nvPr/>
        </p:nvSpPr>
        <p:spPr>
          <a:xfrm>
            <a:off x="8526780" y="5022818"/>
            <a:ext cx="914" cy="207865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52160" y="5230683"/>
            <a:ext cx="5349240" cy="461922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25312" y="5230683"/>
            <a:ext cx="5202936" cy="461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انجام بازرسی و تایید مسئول بهداشت محل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6" invalidUrl="" action="" tgtFrame="" tooltip="درخواست صدور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۶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dirty="0">
                <a:solidFill>
                  <a:srgbClr val="4C616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7" invalidUrl="" action="" tgtFrame="" tooltip="درخواست صدور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۷</a:t>
            </a:r>
            <a:endParaRPr lang="fa-IR" sz="1250" dirty="0"/>
          </a:p>
        </p:txBody>
      </p:sp>
      <p:sp>
        <p:nvSpPr>
          <p:cNvPr id="29" name="Shape 27"/>
          <p:cNvSpPr/>
          <p:nvPr/>
        </p:nvSpPr>
        <p:spPr>
          <a:xfrm>
            <a:off x="8526780" y="5692605"/>
            <a:ext cx="914" cy="207865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852160" y="5900470"/>
            <a:ext cx="5349240" cy="477320"/>
          </a:xfrm>
          <a:prstGeom prst="flowChartTerminator">
            <a:avLst/>
          </a:prstGeom>
          <a:solidFill>
            <a:srgbClr val="E7F4EC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25312" y="5900470"/>
            <a:ext cx="5202936" cy="47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صدور اجازه بهره برداری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8" invalidUrl="" action="" tgtFrame="" tooltip="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۸</a:t>
            </a:r>
            <a:endParaRPr lang="fa-IR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029200"/>
            <a:ext cx="429768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1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در صورت فک پلمب غیر قانونی مکان، متصدی مربوطه جهت فک پلمب غیر قانونی به دادگاه صالحه معرفی، تعطیل و پلمب مجدد و بازگشایی مکان طبق نظر آن دادگاه خواهد بود.</a:t>
            </a:r>
            <a:endParaRPr lang="fa-IR" sz="11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1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9" invalidUrl="" action="" tgtFrame="" tooltip="باز کردن فرم ۱۶: اعلام تخلف فک پلمب بصورت غیرقانون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۱۶-۱۸۰۳۹۲۰۶</a:t>
            </a:r>
            <a:endParaRPr lang="fa-IR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نمودار گردش کار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نمودار گردش کار نواقص بحرانی (۱ از ۳)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5852160" y="1371600"/>
            <a:ext cx="5349240" cy="361195"/>
          </a:xfrm>
          <a:prstGeom prst="flowChartTerminator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25312" y="1371600"/>
            <a:ext cx="5202936" cy="36119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بازرسی از واحد صنفی</a:t>
            </a:r>
            <a:endParaRPr lang="fa-IR" sz="1250" dirty="0"/>
          </a:p>
        </p:txBody>
      </p:sp>
      <p:sp>
        <p:nvSpPr>
          <p:cNvPr id="6" name="Shape 4"/>
          <p:cNvSpPr/>
          <p:nvPr/>
        </p:nvSpPr>
        <p:spPr>
          <a:xfrm>
            <a:off x="8526780" y="1732795"/>
            <a:ext cx="914" cy="216717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52160" y="1949512"/>
            <a:ext cx="5349240" cy="520120"/>
          </a:xfrm>
          <a:prstGeom prst="flowChartDecision">
            <a:avLst/>
          </a:prstGeom>
          <a:solidFill>
            <a:srgbClr val="E3EFF1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8038" y="1949512"/>
            <a:ext cx="3637483" cy="52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نواقص بحرانی دارد؟</a:t>
            </a:r>
            <a:endParaRPr lang="fa-IR" sz="1200" dirty="0"/>
          </a:p>
        </p:txBody>
      </p:sp>
      <p:sp>
        <p:nvSpPr>
          <p:cNvPr id="9" name="Shape 7"/>
          <p:cNvSpPr/>
          <p:nvPr/>
        </p:nvSpPr>
        <p:spPr>
          <a:xfrm flipH="1">
            <a:off x="5440680" y="2209572"/>
            <a:ext cx="41148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440680" y="19078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B0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خیر</a:t>
            </a:r>
            <a:endParaRPr lang="fa-IR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1985631"/>
            <a:ext cx="3291840" cy="447881"/>
          </a:xfrm>
          <a:prstGeom prst="flowChartTerminator">
            <a:avLst/>
          </a:prstGeom>
          <a:solidFill>
            <a:srgbClr val="E7F4EC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21992" y="1985631"/>
            <a:ext cx="3145536" cy="4478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اقدام قانونی ندارد، ثبت در سامانه/ پرونده</a:t>
            </a:r>
            <a:endParaRPr lang="fa-IR" sz="1250" dirty="0"/>
          </a:p>
        </p:txBody>
      </p:sp>
      <p:sp>
        <p:nvSpPr>
          <p:cNvPr id="13" name="Shape 11"/>
          <p:cNvSpPr/>
          <p:nvPr/>
        </p:nvSpPr>
        <p:spPr>
          <a:xfrm>
            <a:off x="8526780" y="2469632"/>
            <a:ext cx="914" cy="216717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8572500" y="246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بلی</a:t>
            </a:r>
            <a:endParaRPr lang="fa-IR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686349"/>
            <a:ext cx="5349240" cy="520120"/>
          </a:xfrm>
          <a:prstGeom prst="flowChartDecision">
            <a:avLst/>
          </a:prstGeom>
          <a:solidFill>
            <a:srgbClr val="E3EFF1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8038" y="2686349"/>
            <a:ext cx="3637483" cy="52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نواقص در محل قابل رفع است؟</a:t>
            </a:r>
            <a:endParaRPr lang="fa-IR" sz="1200" dirty="0"/>
          </a:p>
        </p:txBody>
      </p:sp>
      <p:sp>
        <p:nvSpPr>
          <p:cNvPr id="17" name="Shape 15"/>
          <p:cNvSpPr/>
          <p:nvPr/>
        </p:nvSpPr>
        <p:spPr>
          <a:xfrm flipH="1">
            <a:off x="5440680" y="2946409"/>
            <a:ext cx="41148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40680" y="264465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بلی</a:t>
            </a:r>
            <a:endParaRPr lang="fa-IR" sz="1100" dirty="0"/>
          </a:p>
        </p:txBody>
      </p:sp>
      <p:sp>
        <p:nvSpPr>
          <p:cNvPr id="19" name="Shape 17"/>
          <p:cNvSpPr/>
          <p:nvPr/>
        </p:nvSpPr>
        <p:spPr>
          <a:xfrm>
            <a:off x="2148840" y="2722468"/>
            <a:ext cx="3291840" cy="447881"/>
          </a:xfrm>
          <a:prstGeom prst="flowChartTerminator">
            <a:avLst/>
          </a:prstGeom>
          <a:solidFill>
            <a:srgbClr val="E7F4EC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21992" y="2722468"/>
            <a:ext cx="3145536" cy="4478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اقدام قانونی ندارد، ثبت در سامانه/ پرونده با علامت +</a:t>
            </a:r>
            <a:endParaRPr lang="fa-IR" sz="1250" dirty="0"/>
          </a:p>
        </p:txBody>
      </p:sp>
      <p:sp>
        <p:nvSpPr>
          <p:cNvPr id="21" name="Shape 19"/>
          <p:cNvSpPr/>
          <p:nvPr/>
        </p:nvSpPr>
        <p:spPr>
          <a:xfrm>
            <a:off x="8526780" y="3206469"/>
            <a:ext cx="914" cy="216717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572500" y="3206469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B0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خیر</a:t>
            </a:r>
            <a:endParaRPr lang="fa-IR" sz="1100" dirty="0"/>
          </a:p>
        </p:txBody>
      </p:sp>
      <p:sp>
        <p:nvSpPr>
          <p:cNvPr id="23" name="Shape 21"/>
          <p:cNvSpPr/>
          <p:nvPr/>
        </p:nvSpPr>
        <p:spPr>
          <a:xfrm>
            <a:off x="5852160" y="3423186"/>
            <a:ext cx="5349240" cy="52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25312" y="3423186"/>
            <a:ext cx="5202936" cy="52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معرفی واحد صنفی دارای نقص بحرانی به مسئول بهداشت محل طبق گردش کار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گزارش نواقص بهداشت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۱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dirty="0">
                <a:solidFill>
                  <a:srgbClr val="4C616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گزارش نواقص بهداشت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۲</a:t>
            </a:r>
            <a:endParaRPr lang="fa-IR" sz="1250" dirty="0"/>
          </a:p>
        </p:txBody>
      </p:sp>
      <p:sp>
        <p:nvSpPr>
          <p:cNvPr id="25" name="Shape 23"/>
          <p:cNvSpPr/>
          <p:nvPr/>
        </p:nvSpPr>
        <p:spPr>
          <a:xfrm>
            <a:off x="8526780" y="3943306"/>
            <a:ext cx="914" cy="216717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52160" y="4160023"/>
            <a:ext cx="5349240" cy="563464"/>
          </a:xfrm>
          <a:prstGeom prst="rect">
            <a:avLst/>
          </a:prstGeom>
          <a:solidFill>
            <a:srgbClr val="FBECEA"/>
          </a:solidFill>
          <a:ln w="15875">
            <a:solidFill>
              <a:srgbClr val="B03A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25312" y="4160023"/>
            <a:ext cx="5202936" cy="56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غیر فعال سازی و تعطیلی موقت قسمت/ محل با مهلت ۴۸ ساعت به منظور رفع نقص با تایید و دستور مسئول بهداشت محل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اخطار تعطیل موقت واحد/ مکان/ قسمت دارای نواقص بحران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۳</a:t>
            </a:r>
            <a:endParaRPr lang="fa-IR" sz="1250" dirty="0"/>
          </a:p>
        </p:txBody>
      </p:sp>
      <p:sp>
        <p:nvSpPr>
          <p:cNvPr id="28" name="Shape 26"/>
          <p:cNvSpPr/>
          <p:nvPr/>
        </p:nvSpPr>
        <p:spPr>
          <a:xfrm>
            <a:off x="8526780" y="4723487"/>
            <a:ext cx="914" cy="216717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852160" y="4940204"/>
            <a:ext cx="5349240" cy="830748"/>
          </a:xfrm>
          <a:prstGeom prst="flowChartDecision">
            <a:avLst/>
          </a:prstGeom>
          <a:solidFill>
            <a:srgbClr val="E3EFF1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08038" y="4940204"/>
            <a:ext cx="3637483" cy="8307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آیا در مهلت اخطار ۴۸ ساعت و مراحل گردش کار اداری، نواقص برطرف شده اند؟</a:t>
            </a:r>
            <a:endParaRPr lang="fa-IR" sz="1200" dirty="0"/>
          </a:p>
        </p:txBody>
      </p:sp>
      <p:sp>
        <p:nvSpPr>
          <p:cNvPr id="31" name="Shape 29"/>
          <p:cNvSpPr/>
          <p:nvPr/>
        </p:nvSpPr>
        <p:spPr>
          <a:xfrm flipH="1">
            <a:off x="5440680" y="5355578"/>
            <a:ext cx="41148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440680" y="505382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بلی</a:t>
            </a:r>
            <a:endParaRPr lang="fa-IR" sz="1100" dirty="0"/>
          </a:p>
        </p:txBody>
      </p:sp>
      <p:sp>
        <p:nvSpPr>
          <p:cNvPr id="33" name="Shape 31"/>
          <p:cNvSpPr/>
          <p:nvPr/>
        </p:nvSpPr>
        <p:spPr>
          <a:xfrm>
            <a:off x="3977640" y="4940204"/>
            <a:ext cx="1463040" cy="830748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050792" y="4940204"/>
            <a:ext cx="1316736" cy="8307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1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اعلام کتبی مالک/ مدیر/ متصدی مبنی بر رفع نواقص</a:t>
            </a:r>
            <a:endParaRPr lang="fa-IR" sz="110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اعلام کتبی متصدی مبنی بر رفع نواقص بهداشتی و درخواست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۵</a:t>
            </a:r>
            <a:endParaRPr lang="fa-IR" sz="1100" dirty="0"/>
          </a:p>
        </p:txBody>
      </p:sp>
      <p:sp>
        <p:nvSpPr>
          <p:cNvPr id="35" name="Shape 33"/>
          <p:cNvSpPr/>
          <p:nvPr/>
        </p:nvSpPr>
        <p:spPr>
          <a:xfrm flipH="1">
            <a:off x="3703320" y="5355578"/>
            <a:ext cx="27432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240280" y="4940204"/>
            <a:ext cx="1463040" cy="830748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13432" y="4940204"/>
            <a:ext cx="1316736" cy="8307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1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انجام بازرسی و تایید مسئول بهداشت محل</a:t>
            </a:r>
            <a:endParaRPr lang="fa-IR" sz="110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5" invalidUrl="" action="" tgtFrame="" tooltip="درخواست صدور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۶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dirty="0">
                <a:solidFill>
                  <a:srgbClr val="4C616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6" invalidUrl="" action="" tgtFrame="" tooltip="درخواست صدور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۷</a:t>
            </a:r>
            <a:endParaRPr lang="fa-IR" sz="1100" dirty="0"/>
          </a:p>
        </p:txBody>
      </p:sp>
      <p:sp>
        <p:nvSpPr>
          <p:cNvPr id="38" name="Shape 36"/>
          <p:cNvSpPr/>
          <p:nvPr/>
        </p:nvSpPr>
        <p:spPr>
          <a:xfrm flipH="1">
            <a:off x="1965960" y="5355578"/>
            <a:ext cx="27432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02920" y="4940204"/>
            <a:ext cx="1463040" cy="830748"/>
          </a:xfrm>
          <a:prstGeom prst="flowChartTerminator">
            <a:avLst/>
          </a:prstGeom>
          <a:solidFill>
            <a:srgbClr val="E7F4EC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6072" y="4940204"/>
            <a:ext cx="1316736" cy="8307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صدور اجازه بهره برداری</a:t>
            </a:r>
            <a:endParaRPr lang="fa-IR" sz="110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7" invalidUrl="" action="" tgtFrame="" tooltip="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۸</a:t>
            </a:r>
            <a:endParaRPr lang="fa-IR" sz="1100" dirty="0"/>
          </a:p>
        </p:txBody>
      </p:sp>
      <p:sp>
        <p:nvSpPr>
          <p:cNvPr id="41" name="Shape 39"/>
          <p:cNvSpPr/>
          <p:nvPr/>
        </p:nvSpPr>
        <p:spPr>
          <a:xfrm>
            <a:off x="8526780" y="5770952"/>
            <a:ext cx="914" cy="228600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334756" y="601784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34756" y="601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200" b="1" dirty="0">
                <a:solidFill>
                  <a:srgbClr val="0A3F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</a:t>
            </a:r>
            <a:endParaRPr lang="fa-I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نمودار گردش کار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نمودار گردش کار نواقص بحرانی (۲ از ۳)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8334756" y="132588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34756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200" b="1" dirty="0">
                <a:solidFill>
                  <a:srgbClr val="0A3F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</a:t>
            </a:r>
            <a:endParaRPr lang="fa-IR" sz="1200" dirty="0"/>
          </a:p>
        </p:txBody>
      </p:sp>
      <p:sp>
        <p:nvSpPr>
          <p:cNvPr id="6" name="Shape 4"/>
          <p:cNvSpPr/>
          <p:nvPr/>
        </p:nvSpPr>
        <p:spPr>
          <a:xfrm>
            <a:off x="8526780" y="1709928"/>
            <a:ext cx="914" cy="182880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52160" y="1920240"/>
            <a:ext cx="5349240" cy="731040"/>
          </a:xfrm>
          <a:prstGeom prst="rect">
            <a:avLst/>
          </a:prstGeom>
          <a:solidFill>
            <a:srgbClr val="FBECEA"/>
          </a:solidFill>
          <a:ln w="15875">
            <a:solidFill>
              <a:srgbClr val="B03A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25312" y="1920240"/>
            <a:ext cx="5202936" cy="731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پلمب قسمت مربوطه با تایید و دستور مسئول بهداشت محل با تنظیم صورت مجلس، حداکثر به مدت یک هفته و ارجاع پرونده به دادگاه *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صورت مجلس پلمب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۹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dirty="0">
                <a:solidFill>
                  <a:srgbClr val="4C616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ارجاع پرونده متخلف بهداشتی به دادگاه (نواقص بحرانی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۱۰</a:t>
            </a:r>
            <a:endParaRPr lang="fa-IR" sz="1250" dirty="0"/>
          </a:p>
        </p:txBody>
      </p:sp>
      <p:sp>
        <p:nvSpPr>
          <p:cNvPr id="9" name="Shape 7"/>
          <p:cNvSpPr/>
          <p:nvPr/>
        </p:nvSpPr>
        <p:spPr>
          <a:xfrm>
            <a:off x="8526780" y="2651280"/>
            <a:ext cx="914" cy="361220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52160" y="3012500"/>
            <a:ext cx="5349240" cy="619234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25312" y="3012500"/>
            <a:ext cx="5202936" cy="6192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درخواست کتبی متصدی از مسئول بهداشت محل جهت بازگشایی به منظور رفع نواقص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درخواست کتبی مالک/ مدیر/ متصدی مبنی بر بازگشایی واحد/ مکان/ قسمت به منظور رفع نواقص بهداشت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۱۷</a:t>
            </a:r>
            <a:endParaRPr lang="fa-IR" sz="1250" dirty="0"/>
          </a:p>
        </p:txBody>
      </p:sp>
      <p:sp>
        <p:nvSpPr>
          <p:cNvPr id="12" name="Shape 10"/>
          <p:cNvSpPr/>
          <p:nvPr/>
        </p:nvSpPr>
        <p:spPr>
          <a:xfrm>
            <a:off x="8526780" y="3631735"/>
            <a:ext cx="914" cy="361220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52160" y="3992955"/>
            <a:ext cx="5349240" cy="731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25312" y="3992955"/>
            <a:ext cx="5202936" cy="731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مورد واحد صنفی: اخذ تعهد محضری یا تایید مسئول بهداشت محل/ در مورد مکان یا قسمت: صرفاً با تأیید مسئول بهداشت محل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تعهد محض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۱۸</a:t>
            </a:r>
            <a:endParaRPr lang="fa-IR" sz="1250" dirty="0"/>
          </a:p>
        </p:txBody>
      </p:sp>
      <p:sp>
        <p:nvSpPr>
          <p:cNvPr id="15" name="Shape 13"/>
          <p:cNvSpPr/>
          <p:nvPr/>
        </p:nvSpPr>
        <p:spPr>
          <a:xfrm>
            <a:off x="8526780" y="4723995"/>
            <a:ext cx="914" cy="361220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52160" y="5085215"/>
            <a:ext cx="5349240" cy="619234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25312" y="5085215"/>
            <a:ext cx="5202936" cy="6192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فک پلمب قسمت مربوطه با دستور مسئول بهداشت محل به منظور رفع نقص با تنظیم صورت مجلس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5" invalidUrl="" action="" tgtFrame="" tooltip="صورت مجلس فک پلمب به منظور رفع نواقص بهداشت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۱۹</a:t>
            </a:r>
            <a:endParaRPr lang="fa-IR" sz="1250" dirty="0"/>
          </a:p>
        </p:txBody>
      </p:sp>
      <p:sp>
        <p:nvSpPr>
          <p:cNvPr id="18" name="Shape 16"/>
          <p:cNvSpPr/>
          <p:nvPr/>
        </p:nvSpPr>
        <p:spPr>
          <a:xfrm>
            <a:off x="8526780" y="5704449"/>
            <a:ext cx="914" cy="228600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34756" y="5951337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4756" y="595133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200" b="1" dirty="0">
                <a:solidFill>
                  <a:srgbClr val="0A3F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fa-I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نمودار گردش کار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نمودار گردش کار نواقص بحرانی (۳ از ۳)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8334756" y="132588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34756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200" b="1" dirty="0">
                <a:solidFill>
                  <a:srgbClr val="0A3F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fa-IR" sz="1200" dirty="0"/>
          </a:p>
        </p:txBody>
      </p:sp>
      <p:sp>
        <p:nvSpPr>
          <p:cNvPr id="6" name="Shape 4"/>
          <p:cNvSpPr/>
          <p:nvPr/>
        </p:nvSpPr>
        <p:spPr>
          <a:xfrm>
            <a:off x="8526780" y="1709928"/>
            <a:ext cx="914" cy="182880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52160" y="2011680"/>
            <a:ext cx="5349240" cy="777240"/>
          </a:xfrm>
          <a:prstGeom prst="flowChartDecision">
            <a:avLst/>
          </a:prstGeom>
          <a:solidFill>
            <a:srgbClr val="E3EFF1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8038" y="2011680"/>
            <a:ext cx="3637483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آیا رفع نقص انجام شده است؟</a:t>
            </a:r>
            <a:endParaRPr lang="fa-IR" sz="1200" dirty="0"/>
          </a:p>
        </p:txBody>
      </p:sp>
      <p:sp>
        <p:nvSpPr>
          <p:cNvPr id="9" name="Shape 7"/>
          <p:cNvSpPr/>
          <p:nvPr/>
        </p:nvSpPr>
        <p:spPr>
          <a:xfrm flipH="1">
            <a:off x="5440680" y="2400300"/>
            <a:ext cx="41148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440680" y="20985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B0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خیر</a:t>
            </a:r>
            <a:endParaRPr lang="fa-IR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920240"/>
            <a:ext cx="210312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1920240"/>
            <a:ext cx="1956816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1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عدم رفع نقص یا فعالیت قبل از دریافت اجازه بهره برداری</a:t>
            </a:r>
            <a:endParaRPr lang="fa-IR" sz="1100" dirty="0"/>
          </a:p>
        </p:txBody>
      </p:sp>
      <p:sp>
        <p:nvSpPr>
          <p:cNvPr id="13" name="Shape 11"/>
          <p:cNvSpPr/>
          <p:nvPr/>
        </p:nvSpPr>
        <p:spPr>
          <a:xfrm flipH="1">
            <a:off x="3063240" y="2400300"/>
            <a:ext cx="274320" cy="91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60120" y="1920240"/>
            <a:ext cx="2103120" cy="960120"/>
          </a:xfrm>
          <a:prstGeom prst="rect">
            <a:avLst/>
          </a:prstGeom>
          <a:solidFill>
            <a:srgbClr val="FBECEA"/>
          </a:solidFill>
          <a:ln w="15875">
            <a:solidFill>
              <a:srgbClr val="B03A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33272" y="1920240"/>
            <a:ext cx="1956816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10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تعطیل مجدد، دو برابر مدت تعطیلی قبل و معرفی به دادگاه</a:t>
            </a:r>
            <a:endParaRPr lang="fa-IR" sz="110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صورت مجلس پلمب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۹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dirty="0">
                <a:solidFill>
                  <a:srgbClr val="4C616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اعلام تخلف بهره برداری غیر مجاز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۲۰</a:t>
            </a:r>
            <a:endParaRPr lang="fa-IR" sz="1100" dirty="0"/>
          </a:p>
        </p:txBody>
      </p:sp>
      <p:sp>
        <p:nvSpPr>
          <p:cNvPr id="16" name="Shape 14"/>
          <p:cNvSpPr/>
          <p:nvPr/>
        </p:nvSpPr>
        <p:spPr>
          <a:xfrm>
            <a:off x="8526780" y="2788920"/>
            <a:ext cx="914" cy="42062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857250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بلی</a:t>
            </a:r>
            <a:endParaRPr lang="fa-IR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3209544"/>
            <a:ext cx="534924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25312" y="3209544"/>
            <a:ext cx="520293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اعلام کتبی مالک/ مدیر/ متصدی مبنی بر رفع نواقص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اعلام کتبی متصدی مبنی بر رفع نواقص بهداشتی و درخواست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۵</a:t>
            </a:r>
            <a:endParaRPr lang="fa-IR" sz="1250" dirty="0"/>
          </a:p>
        </p:txBody>
      </p:sp>
      <p:sp>
        <p:nvSpPr>
          <p:cNvPr id="20" name="Shape 18"/>
          <p:cNvSpPr/>
          <p:nvPr/>
        </p:nvSpPr>
        <p:spPr>
          <a:xfrm>
            <a:off x="8526780" y="3803904"/>
            <a:ext cx="914" cy="32918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52160" y="4133088"/>
            <a:ext cx="534924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E5E6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25312" y="4133088"/>
            <a:ext cx="520293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انجام بازرسی و تایید مسئول بهداشت محل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درخواست صدور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۶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dirty="0">
                <a:solidFill>
                  <a:srgbClr val="4C616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،  </a:t>
            </a:r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5" invalidUrl="" action="" tgtFrame="" tooltip="درخواست صدور 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۷</a:t>
            </a:r>
            <a:endParaRPr lang="fa-IR" sz="1250" dirty="0"/>
          </a:p>
        </p:txBody>
      </p:sp>
      <p:sp>
        <p:nvSpPr>
          <p:cNvPr id="23" name="Shape 21"/>
          <p:cNvSpPr/>
          <p:nvPr/>
        </p:nvSpPr>
        <p:spPr>
          <a:xfrm>
            <a:off x="8526780" y="4727448"/>
            <a:ext cx="914" cy="329184"/>
          </a:xfrm>
          <a:prstGeom prst="line">
            <a:avLst/>
          </a:prstGeom>
          <a:noFill/>
          <a:ln w="15875">
            <a:solidFill>
              <a:srgbClr val="52666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852160" y="5056632"/>
            <a:ext cx="5349240" cy="594360"/>
          </a:xfrm>
          <a:prstGeom prst="flowChartTerminator">
            <a:avLst/>
          </a:prstGeom>
          <a:solidFill>
            <a:srgbClr val="E7F4EC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25312" y="5056632"/>
            <a:ext cx="520293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25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صدور اجازه بهره برداری</a:t>
            </a:r>
            <a:endParaRPr lang="fa-IR" sz="1250" dirty="0"/>
          </a:p>
          <a:p>
            <a:pPr rtl="1" algn="ctr" indent="0" marL="0">
              <a:lnSpc>
                <a:spcPct val="105000"/>
              </a:lnSpc>
              <a:buNone/>
            </a:pPr>
            <a:r>
              <a:rPr lang="fa-IR" altLang="en-US" sz="10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6" invalidUrl="" action="" tgtFrame="" tooltip="اجازه بهره بردار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۸</a:t>
            </a:r>
            <a:endParaRPr lang="fa-IR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617720"/>
            <a:ext cx="429768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150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در صورت فک پلمب غیر قانونی مکان، متصدی مربوطه جهت فک پلمب غیر قانونی به دادگاه صالحه معرفی، تعطیل و پلمب مجدد و بازگشایی مکان طبق نظر آن دادگاه خواهد بود.</a:t>
            </a:r>
            <a:endParaRPr lang="fa-IR" sz="11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150" b="1" u="sng" dirty="0">
                <a:solidFill>
                  <a:srgbClr val="0B6FB8"/>
                </a:solidFill>
                <a:uFill>
                  <a:solidFill>
                    <a:srgbClr val="0B6FB8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7" invalidUrl="" action="" tgtFrame="" tooltip="باز کردن فرم ۱۶: اعلام تخلف فک پلمب بصورت غیرقانون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فرم شماره ۱۶-۱۸۰۳۹۲۰۶</a:t>
            </a:r>
            <a:endParaRPr lang="fa-IR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5E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پیوست: فرم‌های اجرایی (فایل Word)</a:t>
            </a:r>
            <a:endParaRPr lang="fa-I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فهرست ۲۴ فرم دستورالعمل</a:t>
            </a:r>
            <a:endParaRPr lang="fa-IR" sz="2800" dirty="0"/>
          </a:p>
        </p:txBody>
      </p:sp>
      <p:sp>
        <p:nvSpPr>
          <p:cNvPr id="4" name="Shape 2"/>
          <p:cNvSpPr/>
          <p:nvPr/>
        </p:nvSpPr>
        <p:spPr>
          <a:xfrm>
            <a:off x="8988552" y="137160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73384" y="1490472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027664" y="149047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</a:t>
            </a:r>
            <a:endParaRPr lang="fa-IR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079992" y="137160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گزارش نواقص بهداشتی</a:t>
            </a:r>
            <a:endParaRPr lang="fa-IR" sz="1100" dirty="0"/>
          </a:p>
        </p:txBody>
      </p:sp>
      <p:sp>
        <p:nvSpPr>
          <p:cNvPr id="8" name="Shape 6">
            <a:hlinkClick r:id="rId1" tooltip="فرم ۱: گزارش نواقص بهداشتی"/>
          </p:cNvPr>
          <p:cNvSpPr/>
          <p:nvPr/>
        </p:nvSpPr>
        <p:spPr>
          <a:xfrm>
            <a:off x="8988552" y="137160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4943" y="137160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59775" y="1490472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14055" y="149047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</a:t>
            </a:r>
            <a:endParaRPr lang="fa-IR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66383" y="137160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گزارش نواقص بهداشتی</a:t>
            </a:r>
            <a:endParaRPr lang="fa-IR" sz="1100" dirty="0"/>
          </a:p>
        </p:txBody>
      </p:sp>
      <p:sp>
        <p:nvSpPr>
          <p:cNvPr id="13" name="Shape 11">
            <a:hlinkClick r:id="rId2" tooltip="فرم ۲: گزارش نواقص بهداشتی"/>
          </p:cNvPr>
          <p:cNvSpPr/>
          <p:nvPr/>
        </p:nvSpPr>
        <p:spPr>
          <a:xfrm>
            <a:off x="6174943" y="137160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1334" y="137160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6166" y="1490472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00446" y="149047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</a:t>
            </a:r>
            <a:endParaRPr lang="fa-IR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52774" y="137160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اخطار تعطیل موقت (نواقص بحرانی)</a:t>
            </a:r>
            <a:endParaRPr lang="fa-IR" sz="1100" dirty="0"/>
          </a:p>
        </p:txBody>
      </p:sp>
      <p:sp>
        <p:nvSpPr>
          <p:cNvPr id="18" name="Shape 16">
            <a:hlinkClick r:id="rId3" tooltip="فرم ۳: اخطار تعطیل موقت واحد/ مکان/ قسمت دارای نواقص بحرانی"/>
          </p:cNvPr>
          <p:cNvSpPr/>
          <p:nvPr/>
        </p:nvSpPr>
        <p:spPr>
          <a:xfrm>
            <a:off x="3361334" y="137160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7726" y="137160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32558" y="1490472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86838" y="149047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۴</a:t>
            </a:r>
            <a:endParaRPr lang="fa-IR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9166" y="137160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اخطار برای رفع نواقص غیر بحرانی</a:t>
            </a:r>
            <a:endParaRPr lang="fa-IR" sz="1100" dirty="0"/>
          </a:p>
        </p:txBody>
      </p:sp>
      <p:sp>
        <p:nvSpPr>
          <p:cNvPr id="23" name="Shape 21">
            <a:hlinkClick r:id="rId4" tooltip="فرم ۴: اخطار برای رفع نواقص غیر بحرانی"/>
          </p:cNvPr>
          <p:cNvSpPr/>
          <p:nvPr/>
        </p:nvSpPr>
        <p:spPr>
          <a:xfrm>
            <a:off x="547726" y="137160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88552" y="2121408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73384" y="2240280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027664" y="224028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۵</a:t>
            </a:r>
            <a:endParaRPr lang="fa-IR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079992" y="2121408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اعلام کتبی رفع نواقص و درخواست بهره برداری</a:t>
            </a:r>
            <a:endParaRPr lang="fa-IR" sz="1100" dirty="0"/>
          </a:p>
        </p:txBody>
      </p:sp>
      <p:sp>
        <p:nvSpPr>
          <p:cNvPr id="28" name="Shape 26">
            <a:hlinkClick r:id="rId5" tooltip="فرم ۵: اعلام کتبی متصدی مبنی بر رفع نواقص بهداشتی و درخواست اجازه بهره برداری"/>
          </p:cNvPr>
          <p:cNvSpPr/>
          <p:nvPr/>
        </p:nvSpPr>
        <p:spPr>
          <a:xfrm>
            <a:off x="8988552" y="2121408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4943" y="2121408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59775" y="2240280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14055" y="224028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۶</a:t>
            </a:r>
            <a:endParaRPr lang="fa-IR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266383" y="2121408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درخواست صدور اجازه بهره برداری</a:t>
            </a:r>
            <a:endParaRPr lang="fa-IR" sz="1100" dirty="0"/>
          </a:p>
        </p:txBody>
      </p:sp>
      <p:sp>
        <p:nvSpPr>
          <p:cNvPr id="33" name="Shape 31">
            <a:hlinkClick r:id="rId6" tooltip="فرم ۶: درخواست صدور اجازه بهره برداری"/>
          </p:cNvPr>
          <p:cNvSpPr/>
          <p:nvPr/>
        </p:nvSpPr>
        <p:spPr>
          <a:xfrm>
            <a:off x="6174943" y="2121408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61334" y="2121408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46166" y="2240280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00446" y="224028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۷</a:t>
            </a:r>
            <a:endParaRPr lang="fa-IR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452774" y="2121408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درخواست صدور اجازه بهره برداری</a:t>
            </a:r>
            <a:endParaRPr lang="fa-IR" sz="1100" dirty="0"/>
          </a:p>
        </p:txBody>
      </p:sp>
      <p:sp>
        <p:nvSpPr>
          <p:cNvPr id="38" name="Shape 36">
            <a:hlinkClick r:id="rId7" tooltip="فرم ۷: درخواست صدور اجازه بهره برداری"/>
          </p:cNvPr>
          <p:cNvSpPr/>
          <p:nvPr/>
        </p:nvSpPr>
        <p:spPr>
          <a:xfrm>
            <a:off x="3361334" y="2121408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7726" y="2121408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32558" y="2240280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586838" y="224028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۸</a:t>
            </a:r>
            <a:endParaRPr lang="fa-IR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39166" y="2121408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اجازه بهره برداری</a:t>
            </a:r>
            <a:endParaRPr lang="fa-IR" sz="1100" dirty="0"/>
          </a:p>
        </p:txBody>
      </p:sp>
      <p:sp>
        <p:nvSpPr>
          <p:cNvPr id="43" name="Shape 41">
            <a:hlinkClick r:id="rId8" tooltip="فرم ۸: اجازه بهره برداری"/>
          </p:cNvPr>
          <p:cNvSpPr/>
          <p:nvPr/>
        </p:nvSpPr>
        <p:spPr>
          <a:xfrm>
            <a:off x="547726" y="2121408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88552" y="2871216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73384" y="2990088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027664" y="299008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۹</a:t>
            </a:r>
            <a:endParaRPr lang="fa-IR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079992" y="287121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صورت مجلس پلمب</a:t>
            </a:r>
            <a:endParaRPr lang="fa-IR" sz="1100" dirty="0"/>
          </a:p>
        </p:txBody>
      </p:sp>
      <p:sp>
        <p:nvSpPr>
          <p:cNvPr id="48" name="Shape 46">
            <a:hlinkClick r:id="rId9" tooltip="فرم ۹: صورت مجلس پلمب"/>
          </p:cNvPr>
          <p:cNvSpPr/>
          <p:nvPr/>
        </p:nvSpPr>
        <p:spPr>
          <a:xfrm>
            <a:off x="8988552" y="2871216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74943" y="2871216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59775" y="2990088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214055" y="299008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۱۰</a:t>
            </a:r>
            <a:endParaRPr lang="fa-IR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266383" y="287121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ارجاع پرونده به دادگاه (نواقص بحرانی)</a:t>
            </a:r>
            <a:endParaRPr lang="fa-IR" sz="1100" dirty="0"/>
          </a:p>
        </p:txBody>
      </p:sp>
      <p:sp>
        <p:nvSpPr>
          <p:cNvPr id="53" name="Shape 51">
            <a:hlinkClick r:id="rId10" tooltip="فرم ۱۰: ارجاع پرونده متخلف بهداشتی به دادگاه (نواقص بحرانی)"/>
          </p:cNvPr>
          <p:cNvSpPr/>
          <p:nvPr/>
        </p:nvSpPr>
        <p:spPr>
          <a:xfrm>
            <a:off x="6174943" y="2871216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61334" y="2871216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46166" y="2990088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400446" y="299008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۱۱</a:t>
            </a:r>
            <a:endParaRPr lang="fa-IR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3452774" y="287121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ارجاع پرونده به دادگاه (نواقص غیربحرانی)</a:t>
            </a:r>
            <a:endParaRPr lang="fa-IR" sz="1100" dirty="0"/>
          </a:p>
        </p:txBody>
      </p:sp>
      <p:sp>
        <p:nvSpPr>
          <p:cNvPr id="58" name="Shape 56">
            <a:hlinkClick r:id="rId11" tooltip="فرم ۱۱: ارجاع پرونده متخلف بهداشتی به دادگاه (نواقص غیربحرانی)"/>
          </p:cNvPr>
          <p:cNvSpPr/>
          <p:nvPr/>
        </p:nvSpPr>
        <p:spPr>
          <a:xfrm>
            <a:off x="3361334" y="2871216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7726" y="2871216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32558" y="2990088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586838" y="299008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۱۲</a:t>
            </a:r>
            <a:endParaRPr lang="fa-IR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39166" y="287121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گزارش عدم رفع نواقص غیربحرانی</a:t>
            </a:r>
            <a:endParaRPr lang="fa-IR" sz="1100" dirty="0"/>
          </a:p>
        </p:txBody>
      </p:sp>
      <p:sp>
        <p:nvSpPr>
          <p:cNvPr id="63" name="Shape 61">
            <a:hlinkClick r:id="rId12" tooltip="فرم ۱۲: گزارش کتبی عدم رفع نواقص غیربحرانی در مهلت مقرر"/>
          </p:cNvPr>
          <p:cNvSpPr/>
          <p:nvPr/>
        </p:nvSpPr>
        <p:spPr>
          <a:xfrm>
            <a:off x="547726" y="2871216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88552" y="3621024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073384" y="3739896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1027664" y="373989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۱۳</a:t>
            </a:r>
            <a:endParaRPr lang="fa-IR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9079992" y="362102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گزارش عدم رفع نواقص غیربحرانی</a:t>
            </a:r>
            <a:endParaRPr lang="fa-IR" sz="1100" dirty="0"/>
          </a:p>
        </p:txBody>
      </p:sp>
      <p:sp>
        <p:nvSpPr>
          <p:cNvPr id="68" name="Shape 66">
            <a:hlinkClick r:id="rId13" tooltip="فرم ۱۳: گزارش کتبی عدم رفع نواقص غیربحرانی در مهلت مقرر"/>
          </p:cNvPr>
          <p:cNvSpPr/>
          <p:nvPr/>
        </p:nvSpPr>
        <p:spPr>
          <a:xfrm>
            <a:off x="8988552" y="3621024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74943" y="3621024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59775" y="3739896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214055" y="373989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۱۴</a:t>
            </a:r>
            <a:endParaRPr lang="fa-IR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6266383" y="362102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اخطار ۴۸ ساعته جهت پلمب</a:t>
            </a:r>
            <a:endParaRPr lang="fa-IR" sz="1100" dirty="0"/>
          </a:p>
        </p:txBody>
      </p:sp>
      <p:sp>
        <p:nvSpPr>
          <p:cNvPr id="73" name="Shape 71">
            <a:hlinkClick r:id="rId14" tooltip="فرم ۱۴: اخطار ۴۸ ساعته جهت پلمب"/>
          </p:cNvPr>
          <p:cNvSpPr/>
          <p:nvPr/>
        </p:nvSpPr>
        <p:spPr>
          <a:xfrm>
            <a:off x="6174943" y="3621024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361334" y="3621024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446166" y="3739896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400446" y="373989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۱۵</a:t>
            </a:r>
            <a:endParaRPr lang="fa-IR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3452774" y="362102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صورت مجلس انصراف از پلمب</a:t>
            </a:r>
            <a:endParaRPr lang="fa-IR" sz="1100" dirty="0"/>
          </a:p>
        </p:txBody>
      </p:sp>
      <p:sp>
        <p:nvSpPr>
          <p:cNvPr id="78" name="Shape 76">
            <a:hlinkClick r:id="rId15" tooltip="فرم ۱۵: صورت مجلس انصراف از پلمب"/>
          </p:cNvPr>
          <p:cNvSpPr/>
          <p:nvPr/>
        </p:nvSpPr>
        <p:spPr>
          <a:xfrm>
            <a:off x="3361334" y="3621024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47726" y="3621024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32558" y="3739896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2586838" y="373989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۱۶</a:t>
            </a:r>
            <a:endParaRPr lang="fa-IR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39166" y="362102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اعلام تخلف فک پلمب بصورت غیرقانونی</a:t>
            </a:r>
            <a:endParaRPr lang="fa-IR" sz="1100" dirty="0"/>
          </a:p>
        </p:txBody>
      </p:sp>
      <p:sp>
        <p:nvSpPr>
          <p:cNvPr id="83" name="Shape 81">
            <a:hlinkClick r:id="rId16" tooltip="فرم ۱۶: اعلام تخلف فک پلمب بصورت غیرقانونی"/>
          </p:cNvPr>
          <p:cNvSpPr/>
          <p:nvPr/>
        </p:nvSpPr>
        <p:spPr>
          <a:xfrm>
            <a:off x="547726" y="3621024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988552" y="4370832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073384" y="4489704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1027664" y="448970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۱۷</a:t>
            </a:r>
            <a:endParaRPr lang="fa-IR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9079992" y="437083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درخواست بازگشایی به منظور رفع نواقص</a:t>
            </a:r>
            <a:endParaRPr lang="fa-IR" sz="1100" dirty="0"/>
          </a:p>
        </p:txBody>
      </p:sp>
      <p:sp>
        <p:nvSpPr>
          <p:cNvPr id="88" name="Shape 86">
            <a:hlinkClick r:id="rId17" tooltip="فرم ۱۷: درخواست کتبی مالک/ مدیر/ متصدی مبنی بر بازگشایی واحد/ مکان/ قسمت به منظور رفع نواقص بهداشتی"/>
          </p:cNvPr>
          <p:cNvSpPr/>
          <p:nvPr/>
        </p:nvSpPr>
        <p:spPr>
          <a:xfrm>
            <a:off x="8988552" y="4370832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174943" y="4370832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259775" y="4489704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214055" y="448970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۱۸</a:t>
            </a:r>
            <a:endParaRPr lang="fa-IR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266383" y="437083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تعهد محضری</a:t>
            </a:r>
            <a:endParaRPr lang="fa-IR" sz="1100" dirty="0"/>
          </a:p>
        </p:txBody>
      </p:sp>
      <p:sp>
        <p:nvSpPr>
          <p:cNvPr id="93" name="Shape 91">
            <a:hlinkClick r:id="rId18" tooltip="فرم ۱۸: تعهد محضری"/>
          </p:cNvPr>
          <p:cNvSpPr/>
          <p:nvPr/>
        </p:nvSpPr>
        <p:spPr>
          <a:xfrm>
            <a:off x="6174943" y="4370832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61334" y="4370832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446166" y="4489704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5400446" y="448970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۱۹</a:t>
            </a:r>
            <a:endParaRPr lang="fa-IR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3452774" y="437083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صورت مجلس فک پلمب برای رفع نواقص</a:t>
            </a:r>
            <a:endParaRPr lang="fa-IR" sz="1100" dirty="0"/>
          </a:p>
        </p:txBody>
      </p:sp>
      <p:sp>
        <p:nvSpPr>
          <p:cNvPr id="98" name="Shape 96">
            <a:hlinkClick r:id="rId19" tooltip="فرم ۱۹: صورت مجلس فک پلمب به منظور رفع نواقص بهداشتی"/>
          </p:cNvPr>
          <p:cNvSpPr/>
          <p:nvPr/>
        </p:nvSpPr>
        <p:spPr>
          <a:xfrm>
            <a:off x="3361334" y="4370832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47726" y="4370832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632558" y="4489704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2586838" y="448970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۲۰</a:t>
            </a:r>
            <a:endParaRPr lang="fa-IR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639166" y="437083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اعلام تخلف بهره برداری غیر مجاز</a:t>
            </a:r>
            <a:endParaRPr lang="fa-IR" sz="1100" dirty="0"/>
          </a:p>
        </p:txBody>
      </p:sp>
      <p:sp>
        <p:nvSpPr>
          <p:cNvPr id="103" name="Shape 101">
            <a:hlinkClick r:id="rId20" tooltip="فرم ۲۰: اعلام تخلف بهره برداری غیر مجاز"/>
          </p:cNvPr>
          <p:cNvSpPr/>
          <p:nvPr/>
        </p:nvSpPr>
        <p:spPr>
          <a:xfrm>
            <a:off x="547726" y="4370832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988552" y="512064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073384" y="5239512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1027664" y="523951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۲۱</a:t>
            </a:r>
            <a:endParaRPr lang="fa-IR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9079992" y="512064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صورت مجلس جمع آوری/ توقیف مواد غذایی</a:t>
            </a:r>
            <a:endParaRPr lang="fa-IR" sz="1100" dirty="0"/>
          </a:p>
        </p:txBody>
      </p:sp>
      <p:sp>
        <p:nvSpPr>
          <p:cNvPr id="108" name="Shape 106">
            <a:hlinkClick r:id="rId21" tooltip="فرم ۲۱: صورت مجلس جمع آوری/ توقیف مواد غذایی فاسد/ تاریخ مصرف گذشته/ فاقد مجوزهای بهداشتی (مشمول مجوز)"/>
          </p:cNvPr>
          <p:cNvSpPr/>
          <p:nvPr/>
        </p:nvSpPr>
        <p:spPr>
          <a:xfrm>
            <a:off x="8988552" y="512064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174943" y="512064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59775" y="5239512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8214055" y="523951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۲۲</a:t>
            </a:r>
            <a:endParaRPr lang="fa-IR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6266383" y="512064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صورت مجلس معدوم سازی/ ارجاع مواد غذایی</a:t>
            </a:r>
            <a:endParaRPr lang="fa-IR" sz="1100" dirty="0"/>
          </a:p>
        </p:txBody>
      </p:sp>
      <p:sp>
        <p:nvSpPr>
          <p:cNvPr id="113" name="Shape 111">
            <a:hlinkClick r:id="rId22" tooltip="فرم ۲۲: صورت مجلس معدوم سازی/ ارجاع مواد غذایی"/>
          </p:cNvPr>
          <p:cNvSpPr/>
          <p:nvPr/>
        </p:nvSpPr>
        <p:spPr>
          <a:xfrm>
            <a:off x="6174943" y="512064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361334" y="512064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446166" y="5239512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5400446" y="523951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۲۳</a:t>
            </a:r>
            <a:endParaRPr lang="fa-IR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3452774" y="512064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ارجاع به دادگاه (مواد غذایی غیرمجاز)</a:t>
            </a:r>
            <a:endParaRPr lang="fa-IR" sz="1100" dirty="0"/>
          </a:p>
        </p:txBody>
      </p:sp>
      <p:sp>
        <p:nvSpPr>
          <p:cNvPr id="118" name="Shape 116">
            <a:hlinkClick r:id="rId23" tooltip="فرم ۲۳: ارجاع پرونده متخلف بهداشتی به دادگاه (به دلیل عرضه مواد غذایی فاسد، تاریخ مصرف گذشته و یا فاقد مجوزهای بهداشتی (مشمول مجوز))"/>
          </p:cNvPr>
          <p:cNvSpPr/>
          <p:nvPr/>
        </p:nvSpPr>
        <p:spPr>
          <a:xfrm>
            <a:off x="3361334" y="512064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47726" y="512064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2F6F7"/>
          </a:solidFill>
          <a:ln w="12700">
            <a:solidFill>
              <a:srgbClr val="C9D6D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632558" y="5239512"/>
            <a:ext cx="475488" cy="475488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2586838" y="523951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۲۴</a:t>
            </a:r>
            <a:endParaRPr lang="fa-IR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39166" y="512064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100" b="1" dirty="0">
                <a:solidFill>
                  <a:srgbClr val="1526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درخواست اعلام نظر از سازمان های ذی ربط</a:t>
            </a:r>
            <a:endParaRPr lang="fa-IR" sz="1100" dirty="0"/>
          </a:p>
        </p:txBody>
      </p:sp>
      <p:sp>
        <p:nvSpPr>
          <p:cNvPr id="123" name="Shape 121">
            <a:hlinkClick r:id="rId24" tooltip="فرم ۲۴: درخواست اعلام نظر از سازمان های ذی ربط"/>
          </p:cNvPr>
          <p:cNvSpPr/>
          <p:nvPr/>
        </p:nvSpPr>
        <p:spPr>
          <a:xfrm>
            <a:off x="547726" y="5120640"/>
            <a:ext cx="2651760" cy="676656"/>
          </a:xfrm>
          <a:prstGeom prst="roundRect">
            <a:avLst>
              <a:gd name="adj" fmla="val 135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6D9">
                <a:alpha val="0"/>
              </a:srgbClr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ctr" indent="0" marL="0">
              <a:buNone/>
            </a:pPr>
            <a:r>
              <a:rPr lang="fa-IR" altLang="en-US" sz="1100" dirty="0">
                <a:solidFill>
                  <a:srgbClr val="4C616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روی هر کادر کلیک کنید تا همان فرم در فایل Word باز شود.</a:t>
            </a:r>
            <a:endParaRPr lang="fa-I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E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گردش کار ماده ۱۳ — دستورالعمل اجرایی ۱۸۰۳۹۲۰۶</dc:title>
  <dc:subject>PptxGenJS Presentation</dc:subject>
  <dc:creator>PptxGenJS</dc:creator>
  <cp:lastModifiedBy>PptxGenJS</cp:lastModifiedBy>
  <cp:revision>1</cp:revision>
  <dcterms:created xsi:type="dcterms:W3CDTF">2026-10-09T17:47:27Z</dcterms:created>
  <dcterms:modified xsi:type="dcterms:W3CDTF">2026-10-09T17:47:27Z</dcterms:modified>
</cp:coreProperties>
</file>