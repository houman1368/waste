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5" Type="http://schemas.openxmlformats.org/officeDocument/2006/relationships/slide" Target="slide9.xml"/><Relationship Id="rId7" Type="http://schemas.openxmlformats.org/officeDocument/2006/relationships/slide" Target="slide19.xml"/><Relationship Id="rId9" Type="http://schemas.openxmlformats.org/officeDocument/2006/relationships/slide" Target="slide21.xml"/><Relationship Id="rId11" Type="http://schemas.openxmlformats.org/officeDocument/2006/relationships/slide" Target="slide28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image" Target="../media/image-3-5.png"/><Relationship Id="rId10" Type="http://schemas.openxmlformats.org/officeDocument/2006/relationships/image" Target="../media/image-3-6.png"/><Relationship Id="rId12" Type="http://schemas.openxmlformats.org/officeDocument/2006/relationships/image" Target="../media/image-3-7.png"/><Relationship Id="rId13" Type="http://schemas.openxmlformats.org/officeDocument/2006/relationships/image" Target="../media/image-3-8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" Target="slide3.xml"/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6.xml"/><Relationship Id="rId12" Type="http://schemas.openxmlformats.org/officeDocument/2006/relationships/slide" Target="slide6.xml"/><Relationship Id="rId13" Type="http://schemas.openxmlformats.org/officeDocument/2006/relationships/slide" Target="slide4.xml"/><Relationship Id="rId15" Type="http://schemas.openxmlformats.org/officeDocument/2006/relationships/slide" Target="slide4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11" Type="http://schemas.openxmlformats.org/officeDocument/2006/relationships/image" Target="../media/image-5-4.png"/><Relationship Id="rId14" Type="http://schemas.openxmlformats.org/officeDocument/2006/relationships/image" Target="../media/image-5-5.png"/><Relationship Id="rId16" Type="http://schemas.openxmlformats.org/officeDocument/2006/relationships/image" Target="../media/image-5-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7.xml"/><Relationship Id="rId12" Type="http://schemas.openxmlformats.org/officeDocument/2006/relationships/slide" Target="slide7.xml"/><Relationship Id="rId13" Type="http://schemas.openxmlformats.org/officeDocument/2006/relationships/slide" Target="slide5.xml"/><Relationship Id="rId15" Type="http://schemas.openxmlformats.org/officeDocument/2006/relationships/slide" Target="slide5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11" Type="http://schemas.openxmlformats.org/officeDocument/2006/relationships/image" Target="../media/image-6-4.png"/><Relationship Id="rId14" Type="http://schemas.openxmlformats.org/officeDocument/2006/relationships/image" Target="../media/image-6-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6.xml"/><Relationship Id="rId15" Type="http://schemas.openxmlformats.org/officeDocument/2006/relationships/slide" Target="slide6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11" Type="http://schemas.openxmlformats.org/officeDocument/2006/relationships/image" Target="../media/image-7-4.png"/><Relationship Id="rId14" Type="http://schemas.openxmlformats.org/officeDocument/2006/relationships/image" Target="../media/image-7-5.png"/><Relationship Id="rId16" Type="http://schemas.openxmlformats.org/officeDocument/2006/relationships/image" Target="../media/image-7-6.png"/><Relationship Id="rId17" Type="http://schemas.openxmlformats.org/officeDocument/2006/relationships/image" Target="../media/image-7-7.png"/><Relationship Id="rId18" Type="http://schemas.openxmlformats.org/officeDocument/2006/relationships/image" Target="../media/image-7-8.png"/><Relationship Id="rId19" Type="http://schemas.openxmlformats.org/officeDocument/2006/relationships/image" Target="../media/image-7-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9.xml"/><Relationship Id="rId12" Type="http://schemas.openxmlformats.org/officeDocument/2006/relationships/slide" Target="slide9.xml"/><Relationship Id="rId13" Type="http://schemas.openxmlformats.org/officeDocument/2006/relationships/slide" Target="slide7.xml"/><Relationship Id="rId15" Type="http://schemas.openxmlformats.org/officeDocument/2006/relationships/slide" Target="slide7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11" Type="http://schemas.openxmlformats.org/officeDocument/2006/relationships/image" Target="../media/image-8-4.png"/><Relationship Id="rId14" Type="http://schemas.openxmlformats.org/officeDocument/2006/relationships/image" Target="../media/image-8-5.png"/><Relationship Id="rId16" Type="http://schemas.openxmlformats.org/officeDocument/2006/relationships/image" Target="../media/image-8-6.png"/><Relationship Id="rId17" Type="http://schemas.openxmlformats.org/officeDocument/2006/relationships/image" Target="../media/image-8-7.png"/><Relationship Id="rId18" Type="http://schemas.openxmlformats.org/officeDocument/2006/relationships/image" Target="../media/image-8-8.png"/><Relationship Id="rId19" Type="http://schemas.openxmlformats.org/officeDocument/2006/relationships/image" Target="../media/image-8-9.png"/><Relationship Id="rId20" Type="http://schemas.openxmlformats.org/officeDocument/2006/relationships/image" Target="../media/image-8-10.png"/><Relationship Id="rId21" Type="http://schemas.openxmlformats.org/officeDocument/2006/relationships/image" Target="../media/image-8-1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" Target="slide3.xml"/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1.xml"/><Relationship Id="rId12" Type="http://schemas.openxmlformats.org/officeDocument/2006/relationships/slide" Target="slide11.xml"/><Relationship Id="rId13" Type="http://schemas.openxmlformats.org/officeDocument/2006/relationships/slide" Target="slide9.xml"/><Relationship Id="rId15" Type="http://schemas.openxmlformats.org/officeDocument/2006/relationships/slide" Target="slide9.xml"/><Relationship Id="rId16" Type="http://schemas.openxmlformats.org/officeDocument/2006/relationships/hyperlink" Target="Madde13-Forms.docx#form_1" TargetMode="External"/><Relationship Id="rId17" Type="http://schemas.openxmlformats.org/officeDocument/2006/relationships/hyperlink" Target="Madde13-Forms.docx#form_2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11" Type="http://schemas.openxmlformats.org/officeDocument/2006/relationships/image" Target="../media/image-10-4.png"/><Relationship Id="rId14" Type="http://schemas.openxmlformats.org/officeDocument/2006/relationships/image" Target="../media/image-10-5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2.xml"/><Relationship Id="rId12" Type="http://schemas.openxmlformats.org/officeDocument/2006/relationships/slide" Target="slide12.xml"/><Relationship Id="rId13" Type="http://schemas.openxmlformats.org/officeDocument/2006/relationships/slide" Target="slide10.xml"/><Relationship Id="rId15" Type="http://schemas.openxmlformats.org/officeDocument/2006/relationships/slide" Target="slide10.xml"/><Relationship Id="rId17" Type="http://schemas.openxmlformats.org/officeDocument/2006/relationships/hyperlink" Target="Madde13-Forms.docx#form_3" TargetMode="External"/><Relationship Id="rId19" Type="http://schemas.openxmlformats.org/officeDocument/2006/relationships/hyperlink" Target="Madde13-Forms.docx#form_4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11" Type="http://schemas.openxmlformats.org/officeDocument/2006/relationships/image" Target="../media/image-11-4.png"/><Relationship Id="rId14" Type="http://schemas.openxmlformats.org/officeDocument/2006/relationships/image" Target="../media/image-11-5.png"/><Relationship Id="rId16" Type="http://schemas.openxmlformats.org/officeDocument/2006/relationships/image" Target="../media/image-11-6.png"/><Relationship Id="rId18" Type="http://schemas.openxmlformats.org/officeDocument/2006/relationships/image" Target="../media/image-11-7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3.xml"/><Relationship Id="rId12" Type="http://schemas.openxmlformats.org/officeDocument/2006/relationships/slide" Target="slide13.xml"/><Relationship Id="rId13" Type="http://schemas.openxmlformats.org/officeDocument/2006/relationships/slide" Target="slide11.xml"/><Relationship Id="rId15" Type="http://schemas.openxmlformats.org/officeDocument/2006/relationships/slide" Target="slide11.xml"/><Relationship Id="rId16" Type="http://schemas.openxmlformats.org/officeDocument/2006/relationships/hyperlink" Target="Madde13-Forms.docx#form_5" TargetMode="External"/><Relationship Id="rId17" Type="http://schemas.openxmlformats.org/officeDocument/2006/relationships/hyperlink" Target="Madde13-Forms.docx#form_6" TargetMode="External"/><Relationship Id="rId18" Type="http://schemas.openxmlformats.org/officeDocument/2006/relationships/hyperlink" Target="Madde13-Forms.docx#form_7" TargetMode="External"/><Relationship Id="rId19" Type="http://schemas.openxmlformats.org/officeDocument/2006/relationships/hyperlink" Target="Madde13-Forms.docx#form_8" TargetMode="External"/><Relationship Id="rId21" Type="http://schemas.openxmlformats.org/officeDocument/2006/relationships/hyperlink" Target="Madde13-Forms.docx#form_6" TargetMode="External"/><Relationship Id="rId22" Type="http://schemas.openxmlformats.org/officeDocument/2006/relationships/hyperlink" Target="Madde13-Forms.docx#form_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11" Type="http://schemas.openxmlformats.org/officeDocument/2006/relationships/image" Target="../media/image-12-4.png"/><Relationship Id="rId14" Type="http://schemas.openxmlformats.org/officeDocument/2006/relationships/image" Target="../media/image-12-5.png"/><Relationship Id="rId20" Type="http://schemas.openxmlformats.org/officeDocument/2006/relationships/image" Target="../media/image-12-6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3" Type="http://schemas.openxmlformats.org/officeDocument/2006/relationships/slide" Target="slide12.xml"/><Relationship Id="rId15" Type="http://schemas.openxmlformats.org/officeDocument/2006/relationships/slide" Target="slide12.xml"/><Relationship Id="rId16" Type="http://schemas.openxmlformats.org/officeDocument/2006/relationships/hyperlink" Target="Madde13-Forms.docx#form_9" TargetMode="External"/><Relationship Id="rId17" Type="http://schemas.openxmlformats.org/officeDocument/2006/relationships/hyperlink" Target="Madde13-Forms.docx#form_10" TargetMode="External"/><Relationship Id="rId18" Type="http://schemas.openxmlformats.org/officeDocument/2006/relationships/hyperlink" Target="Madde13-Forms.docx#form_12" TargetMode="External"/><Relationship Id="rId19" Type="http://schemas.openxmlformats.org/officeDocument/2006/relationships/hyperlink" Target="Madde13-Forms.docx#form_13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11" Type="http://schemas.openxmlformats.org/officeDocument/2006/relationships/image" Target="../media/image-13-4.png"/><Relationship Id="rId14" Type="http://schemas.openxmlformats.org/officeDocument/2006/relationships/image" Target="../media/image-13-5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3" Type="http://schemas.openxmlformats.org/officeDocument/2006/relationships/slide" Target="slide13.xml"/><Relationship Id="rId15" Type="http://schemas.openxmlformats.org/officeDocument/2006/relationships/slide" Target="slide13.xml"/><Relationship Id="rId16" Type="http://schemas.openxmlformats.org/officeDocument/2006/relationships/hyperlink" Target="Madde13-Forms.docx#form_14" TargetMode="External"/><Relationship Id="rId17" Type="http://schemas.openxmlformats.org/officeDocument/2006/relationships/hyperlink" Target="Madde13-Forms.docx#form_9" TargetMode="External"/><Relationship Id="rId18" Type="http://schemas.openxmlformats.org/officeDocument/2006/relationships/hyperlink" Target="Madde13-Forms.docx#form_11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11" Type="http://schemas.openxmlformats.org/officeDocument/2006/relationships/image" Target="../media/image-14-4.png"/><Relationship Id="rId14" Type="http://schemas.openxmlformats.org/officeDocument/2006/relationships/image" Target="../media/image-14-5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4.xml"/><Relationship Id="rId15" Type="http://schemas.openxmlformats.org/officeDocument/2006/relationships/slide" Target="slide14.xml"/><Relationship Id="rId17" Type="http://schemas.openxmlformats.org/officeDocument/2006/relationships/hyperlink" Target="Madde13-Forms.docx#form_15" TargetMode="External"/><Relationship Id="rId19" Type="http://schemas.openxmlformats.org/officeDocument/2006/relationships/hyperlink" Target="Madde13-Forms.docx#form_16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11" Type="http://schemas.openxmlformats.org/officeDocument/2006/relationships/image" Target="../media/image-15-4.png"/><Relationship Id="rId14" Type="http://schemas.openxmlformats.org/officeDocument/2006/relationships/image" Target="../media/image-15-5.png"/><Relationship Id="rId16" Type="http://schemas.openxmlformats.org/officeDocument/2006/relationships/image" Target="../media/image-15-6.png"/><Relationship Id="rId18" Type="http://schemas.openxmlformats.org/officeDocument/2006/relationships/image" Target="../media/image-15-7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7.xml"/><Relationship Id="rId12" Type="http://schemas.openxmlformats.org/officeDocument/2006/relationships/slide" Target="slide17.xml"/><Relationship Id="rId13" Type="http://schemas.openxmlformats.org/officeDocument/2006/relationships/slide" Target="slide15.xml"/><Relationship Id="rId15" Type="http://schemas.openxmlformats.org/officeDocument/2006/relationships/slide" Target="slide15.xml"/><Relationship Id="rId17" Type="http://schemas.openxmlformats.org/officeDocument/2006/relationships/hyperlink" Target="Madde13-Forms.docx#form_17" TargetMode="External"/><Relationship Id="rId19" Type="http://schemas.openxmlformats.org/officeDocument/2006/relationships/hyperlink" Target="Madde13-Forms.docx#form_18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11" Type="http://schemas.openxmlformats.org/officeDocument/2006/relationships/image" Target="../media/image-16-4.png"/><Relationship Id="rId14" Type="http://schemas.openxmlformats.org/officeDocument/2006/relationships/image" Target="../media/image-16-5.png"/><Relationship Id="rId16" Type="http://schemas.openxmlformats.org/officeDocument/2006/relationships/image" Target="../media/image-16-6.png"/><Relationship Id="rId18" Type="http://schemas.openxmlformats.org/officeDocument/2006/relationships/image" Target="../media/image-16-7.png"/><Relationship Id="rId20" Type="http://schemas.openxmlformats.org/officeDocument/2006/relationships/image" Target="../media/image-16-8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8.xml"/><Relationship Id="rId12" Type="http://schemas.openxmlformats.org/officeDocument/2006/relationships/slide" Target="slide18.xml"/><Relationship Id="rId13" Type="http://schemas.openxmlformats.org/officeDocument/2006/relationships/slide" Target="slide16.xml"/><Relationship Id="rId15" Type="http://schemas.openxmlformats.org/officeDocument/2006/relationships/slide" Target="slide16.xml"/><Relationship Id="rId16" Type="http://schemas.openxmlformats.org/officeDocument/2006/relationships/hyperlink" Target="Madde13-Forms.docx#form_19" TargetMode="External"/><Relationship Id="rId17" Type="http://schemas.openxmlformats.org/officeDocument/2006/relationships/hyperlink" Target="Madde13-Forms.docx#form_9" TargetMode="External"/><Relationship Id="rId18" Type="http://schemas.openxmlformats.org/officeDocument/2006/relationships/hyperlink" Target="Madde13-Forms.docx#form_20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11" Type="http://schemas.openxmlformats.org/officeDocument/2006/relationships/image" Target="../media/image-17-4.png"/><Relationship Id="rId14" Type="http://schemas.openxmlformats.org/officeDocument/2006/relationships/image" Target="../media/image-17-5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19.xml"/><Relationship Id="rId12" Type="http://schemas.openxmlformats.org/officeDocument/2006/relationships/slide" Target="slide19.xml"/><Relationship Id="rId13" Type="http://schemas.openxmlformats.org/officeDocument/2006/relationships/slide" Target="slide17.xml"/><Relationship Id="rId15" Type="http://schemas.openxmlformats.org/officeDocument/2006/relationships/slide" Target="slide17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11" Type="http://schemas.openxmlformats.org/officeDocument/2006/relationships/image" Target="../media/image-18-4.png"/><Relationship Id="rId14" Type="http://schemas.openxmlformats.org/officeDocument/2006/relationships/image" Target="../media/image-18-5.png"/><Relationship Id="rId16" Type="http://schemas.openxmlformats.org/officeDocument/2006/relationships/image" Target="../media/image-18-6.png"/><Relationship Id="rId17" Type="http://schemas.openxmlformats.org/officeDocument/2006/relationships/image" Target="../media/image-18-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" Target="slide3.xml"/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1.xml"/><Relationship Id="rId12" Type="http://schemas.openxmlformats.org/officeDocument/2006/relationships/slide" Target="slide21.xml"/><Relationship Id="rId13" Type="http://schemas.openxmlformats.org/officeDocument/2006/relationships/slide" Target="slide19.xml"/><Relationship Id="rId15" Type="http://schemas.openxmlformats.org/officeDocument/2006/relationships/slide" Target="slide19.xml"/><Relationship Id="rId16" Type="http://schemas.openxmlformats.org/officeDocument/2006/relationships/hyperlink" Target="Madde13-Forms.docx#form_21" TargetMode="External"/><Relationship Id="rId17" Type="http://schemas.openxmlformats.org/officeDocument/2006/relationships/hyperlink" Target="Madde13-Forms.docx#form_22" TargetMode="External"/><Relationship Id="rId18" Type="http://schemas.openxmlformats.org/officeDocument/2006/relationships/hyperlink" Target="Madde13-Forms.docx#form_23" TargetMode="External"/><Relationship Id="rId19" Type="http://schemas.openxmlformats.org/officeDocument/2006/relationships/hyperlink" Target="Madde13-Forms.docx#form_24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11" Type="http://schemas.openxmlformats.org/officeDocument/2006/relationships/image" Target="../media/image-20-4.png"/><Relationship Id="rId14" Type="http://schemas.openxmlformats.org/officeDocument/2006/relationships/image" Target="../media/image-20-5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slide" Target="slide3.xm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3.xml"/><Relationship Id="rId12" Type="http://schemas.openxmlformats.org/officeDocument/2006/relationships/slide" Target="slide23.xml"/><Relationship Id="rId13" Type="http://schemas.openxmlformats.org/officeDocument/2006/relationships/slide" Target="slide21.xml"/><Relationship Id="rId15" Type="http://schemas.openxmlformats.org/officeDocument/2006/relationships/slide" Target="slide21.xml"/><Relationship Id="rId16" Type="http://schemas.openxmlformats.org/officeDocument/2006/relationships/hyperlink" Target="Madde13-Forms.docx#form_1" TargetMode="External"/><Relationship Id="rId17" Type="http://schemas.openxmlformats.org/officeDocument/2006/relationships/hyperlink" Target="Madde13-Forms.docx#form_2" TargetMode="External"/><Relationship Id="rId18" Type="http://schemas.openxmlformats.org/officeDocument/2006/relationships/hyperlink" Target="Madde13-Forms.docx#form_4" TargetMode="External"/><Relationship Id="rId19" Type="http://schemas.openxmlformats.org/officeDocument/2006/relationships/hyperlink" Target="Madde13-Forms.docx#form_5" TargetMode="External"/><Relationship Id="rId20" Type="http://schemas.openxmlformats.org/officeDocument/2006/relationships/hyperlink" Target="Madde13-Forms.docx#form_6" TargetMode="External"/><Relationship Id="rId21" Type="http://schemas.openxmlformats.org/officeDocument/2006/relationships/hyperlink" Target="Madde13-Forms.docx#form_7" TargetMode="External"/><Relationship Id="rId22" Type="http://schemas.openxmlformats.org/officeDocument/2006/relationships/hyperlink" Target="Madde13-Forms.docx#form_8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11" Type="http://schemas.openxmlformats.org/officeDocument/2006/relationships/image" Target="../media/image-22-4.png"/><Relationship Id="rId14" Type="http://schemas.openxmlformats.org/officeDocument/2006/relationships/image" Target="../media/image-22-5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4.xml"/><Relationship Id="rId12" Type="http://schemas.openxmlformats.org/officeDocument/2006/relationships/slide" Target="slide24.xml"/><Relationship Id="rId13" Type="http://schemas.openxmlformats.org/officeDocument/2006/relationships/slide" Target="slide22.xml"/><Relationship Id="rId15" Type="http://schemas.openxmlformats.org/officeDocument/2006/relationships/slide" Target="slide22.xml"/><Relationship Id="rId16" Type="http://schemas.openxmlformats.org/officeDocument/2006/relationships/hyperlink" Target="Madde13-Forms.docx#form_12" TargetMode="External"/><Relationship Id="rId17" Type="http://schemas.openxmlformats.org/officeDocument/2006/relationships/hyperlink" Target="Madde13-Forms.docx#form_13" TargetMode="External"/><Relationship Id="rId18" Type="http://schemas.openxmlformats.org/officeDocument/2006/relationships/hyperlink" Target="Madde13-Forms.docx#form_14" TargetMode="External"/><Relationship Id="rId19" Type="http://schemas.openxmlformats.org/officeDocument/2006/relationships/hyperlink" Target="Madde13-Forms.docx#form_5" TargetMode="External"/><Relationship Id="rId20" Type="http://schemas.openxmlformats.org/officeDocument/2006/relationships/hyperlink" Target="Madde13-Forms.docx#form_15" TargetMode="External"/><Relationship Id="rId21" Type="http://schemas.openxmlformats.org/officeDocument/2006/relationships/hyperlink" Target="Madde13-Forms.docx#form_9" TargetMode="External"/><Relationship Id="rId22" Type="http://schemas.openxmlformats.org/officeDocument/2006/relationships/hyperlink" Target="Madde13-Forms.docx#form_11" TargetMode="External"/><Relationship Id="rId23" Type="http://schemas.openxmlformats.org/officeDocument/2006/relationships/hyperlink" Target="Madde13-Forms.docx#form_17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11" Type="http://schemas.openxmlformats.org/officeDocument/2006/relationships/image" Target="../media/image-23-4.png"/><Relationship Id="rId14" Type="http://schemas.openxmlformats.org/officeDocument/2006/relationships/image" Target="../media/image-23-5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5.xml"/><Relationship Id="rId12" Type="http://schemas.openxmlformats.org/officeDocument/2006/relationships/slide" Target="slide25.xml"/><Relationship Id="rId13" Type="http://schemas.openxmlformats.org/officeDocument/2006/relationships/slide" Target="slide23.xml"/><Relationship Id="rId15" Type="http://schemas.openxmlformats.org/officeDocument/2006/relationships/slide" Target="slide23.xml"/><Relationship Id="rId16" Type="http://schemas.openxmlformats.org/officeDocument/2006/relationships/hyperlink" Target="Madde13-Forms.docx#form_18" TargetMode="External"/><Relationship Id="rId17" Type="http://schemas.openxmlformats.org/officeDocument/2006/relationships/hyperlink" Target="Madde13-Forms.docx#form_19" TargetMode="External"/><Relationship Id="rId18" Type="http://schemas.openxmlformats.org/officeDocument/2006/relationships/hyperlink" Target="Madde13-Forms.docx#form_9" TargetMode="External"/><Relationship Id="rId19" Type="http://schemas.openxmlformats.org/officeDocument/2006/relationships/hyperlink" Target="Madde13-Forms.docx#form_20" TargetMode="External"/><Relationship Id="rId20" Type="http://schemas.openxmlformats.org/officeDocument/2006/relationships/hyperlink" Target="Madde13-Forms.docx#form_5" TargetMode="External"/><Relationship Id="rId21" Type="http://schemas.openxmlformats.org/officeDocument/2006/relationships/hyperlink" Target="Madde13-Forms.docx#form_6" TargetMode="External"/><Relationship Id="rId22" Type="http://schemas.openxmlformats.org/officeDocument/2006/relationships/hyperlink" Target="Madde13-Forms.docx#form_7" TargetMode="External"/><Relationship Id="rId23" Type="http://schemas.openxmlformats.org/officeDocument/2006/relationships/hyperlink" Target="Madde13-Forms.docx#form_8" TargetMode="External"/><Relationship Id="rId25" Type="http://schemas.openxmlformats.org/officeDocument/2006/relationships/hyperlink" Target="Madde13-Forms.docx#form_16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11" Type="http://schemas.openxmlformats.org/officeDocument/2006/relationships/image" Target="../media/image-24-4.png"/><Relationship Id="rId14" Type="http://schemas.openxmlformats.org/officeDocument/2006/relationships/image" Target="../media/image-24-5.png"/><Relationship Id="rId24" Type="http://schemas.openxmlformats.org/officeDocument/2006/relationships/image" Target="../media/image-24-6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6.xml"/><Relationship Id="rId12" Type="http://schemas.openxmlformats.org/officeDocument/2006/relationships/slide" Target="slide26.xml"/><Relationship Id="rId13" Type="http://schemas.openxmlformats.org/officeDocument/2006/relationships/slide" Target="slide24.xml"/><Relationship Id="rId15" Type="http://schemas.openxmlformats.org/officeDocument/2006/relationships/slide" Target="slide24.xml"/><Relationship Id="rId16" Type="http://schemas.openxmlformats.org/officeDocument/2006/relationships/hyperlink" Target="Madde13-Forms.docx#form_1" TargetMode="External"/><Relationship Id="rId17" Type="http://schemas.openxmlformats.org/officeDocument/2006/relationships/hyperlink" Target="Madde13-Forms.docx#form_2" TargetMode="External"/><Relationship Id="rId18" Type="http://schemas.openxmlformats.org/officeDocument/2006/relationships/hyperlink" Target="Madde13-Forms.docx#form_3" TargetMode="External"/><Relationship Id="rId19" Type="http://schemas.openxmlformats.org/officeDocument/2006/relationships/hyperlink" Target="Madde13-Forms.docx#form_5" TargetMode="External"/><Relationship Id="rId20" Type="http://schemas.openxmlformats.org/officeDocument/2006/relationships/hyperlink" Target="Madde13-Forms.docx#form_6" TargetMode="External"/><Relationship Id="rId21" Type="http://schemas.openxmlformats.org/officeDocument/2006/relationships/hyperlink" Target="Madde13-Forms.docx#form_7" TargetMode="External"/><Relationship Id="rId22" Type="http://schemas.openxmlformats.org/officeDocument/2006/relationships/hyperlink" Target="Madde13-Forms.docx#form_8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11" Type="http://schemas.openxmlformats.org/officeDocument/2006/relationships/image" Target="../media/image-25-4.png"/><Relationship Id="rId14" Type="http://schemas.openxmlformats.org/officeDocument/2006/relationships/image" Target="../media/image-25-5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7.xml"/><Relationship Id="rId12" Type="http://schemas.openxmlformats.org/officeDocument/2006/relationships/slide" Target="slide27.xml"/><Relationship Id="rId13" Type="http://schemas.openxmlformats.org/officeDocument/2006/relationships/slide" Target="slide25.xml"/><Relationship Id="rId15" Type="http://schemas.openxmlformats.org/officeDocument/2006/relationships/slide" Target="slide25.xml"/><Relationship Id="rId16" Type="http://schemas.openxmlformats.org/officeDocument/2006/relationships/hyperlink" Target="Madde13-Forms.docx#form_9" TargetMode="External"/><Relationship Id="rId17" Type="http://schemas.openxmlformats.org/officeDocument/2006/relationships/hyperlink" Target="Madde13-Forms.docx#form_10" TargetMode="External"/><Relationship Id="rId18" Type="http://schemas.openxmlformats.org/officeDocument/2006/relationships/hyperlink" Target="Madde13-Forms.docx#form_17" TargetMode="External"/><Relationship Id="rId19" Type="http://schemas.openxmlformats.org/officeDocument/2006/relationships/hyperlink" Target="Madde13-Forms.docx#form_18" TargetMode="External"/><Relationship Id="rId20" Type="http://schemas.openxmlformats.org/officeDocument/2006/relationships/hyperlink" Target="Madde13-Forms.docx#form_19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11" Type="http://schemas.openxmlformats.org/officeDocument/2006/relationships/image" Target="../media/image-26-4.png"/><Relationship Id="rId14" Type="http://schemas.openxmlformats.org/officeDocument/2006/relationships/image" Target="../media/image-26-5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28.xml"/><Relationship Id="rId12" Type="http://schemas.openxmlformats.org/officeDocument/2006/relationships/slide" Target="slide28.xml"/><Relationship Id="rId13" Type="http://schemas.openxmlformats.org/officeDocument/2006/relationships/slide" Target="slide26.xml"/><Relationship Id="rId15" Type="http://schemas.openxmlformats.org/officeDocument/2006/relationships/slide" Target="slide26.xml"/><Relationship Id="rId16" Type="http://schemas.openxmlformats.org/officeDocument/2006/relationships/hyperlink" Target="Madde13-Forms.docx#form_9" TargetMode="External"/><Relationship Id="rId17" Type="http://schemas.openxmlformats.org/officeDocument/2006/relationships/hyperlink" Target="Madde13-Forms.docx#form_20" TargetMode="External"/><Relationship Id="rId18" Type="http://schemas.openxmlformats.org/officeDocument/2006/relationships/hyperlink" Target="Madde13-Forms.docx#form_5" TargetMode="External"/><Relationship Id="rId19" Type="http://schemas.openxmlformats.org/officeDocument/2006/relationships/hyperlink" Target="Madde13-Forms.docx#form_6" TargetMode="External"/><Relationship Id="rId20" Type="http://schemas.openxmlformats.org/officeDocument/2006/relationships/hyperlink" Target="Madde13-Forms.docx#form_7" TargetMode="External"/><Relationship Id="rId21" Type="http://schemas.openxmlformats.org/officeDocument/2006/relationships/hyperlink" Target="Madde13-Forms.docx#form_8" TargetMode="External"/><Relationship Id="rId23" Type="http://schemas.openxmlformats.org/officeDocument/2006/relationships/hyperlink" Target="Madde13-Forms.docx#form_16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11" Type="http://schemas.openxmlformats.org/officeDocument/2006/relationships/image" Target="../media/image-27-4.png"/><Relationship Id="rId14" Type="http://schemas.openxmlformats.org/officeDocument/2006/relationships/image" Target="../media/image-27-5.png"/><Relationship Id="rId22" Type="http://schemas.openxmlformats.org/officeDocument/2006/relationships/image" Target="../media/image-27-6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slide" Target="slide3.xml"/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9.xml"/><Relationship Id="rId7" Type="http://schemas.openxmlformats.org/officeDocument/2006/relationships/slide" Target="slide19.xml"/><Relationship Id="rId8" Type="http://schemas.openxmlformats.org/officeDocument/2006/relationships/slide" Target="slide21.xml"/><Relationship Id="rId9" Type="http://schemas.openxmlformats.org/officeDocument/2006/relationships/slide" Target="slide28.xml"/><Relationship Id="rId10" Type="http://schemas.openxmlformats.org/officeDocument/2006/relationships/slide" Target="slide30.xml"/><Relationship Id="rId12" Type="http://schemas.openxmlformats.org/officeDocument/2006/relationships/slide" Target="slide30.xml"/><Relationship Id="rId13" Type="http://schemas.openxmlformats.org/officeDocument/2006/relationships/slide" Target="slide28.xml"/><Relationship Id="rId15" Type="http://schemas.openxmlformats.org/officeDocument/2006/relationships/slide" Target="slide28.xml"/><Relationship Id="rId16" Type="http://schemas.openxmlformats.org/officeDocument/2006/relationships/hyperlink" Target="Madde13-Forms.docx#form_1" TargetMode="External"/><Relationship Id="rId17" Type="http://schemas.openxmlformats.org/officeDocument/2006/relationships/hyperlink" Target="Madde13-Forms.docx#form_2" TargetMode="External"/><Relationship Id="rId18" Type="http://schemas.openxmlformats.org/officeDocument/2006/relationships/hyperlink" Target="Madde13-Forms.docx#form_3" TargetMode="External"/><Relationship Id="rId19" Type="http://schemas.openxmlformats.org/officeDocument/2006/relationships/hyperlink" Target="Madde13-Forms.docx#form_4" TargetMode="External"/><Relationship Id="rId20" Type="http://schemas.openxmlformats.org/officeDocument/2006/relationships/hyperlink" Target="Madde13-Forms.docx#form_5" TargetMode="External"/><Relationship Id="rId21" Type="http://schemas.openxmlformats.org/officeDocument/2006/relationships/hyperlink" Target="Madde13-Forms.docx#form_6" TargetMode="External"/><Relationship Id="rId22" Type="http://schemas.openxmlformats.org/officeDocument/2006/relationships/hyperlink" Target="Madde13-Forms.docx#form_7" TargetMode="External"/><Relationship Id="rId23" Type="http://schemas.openxmlformats.org/officeDocument/2006/relationships/hyperlink" Target="Madde13-Forms.docx#form_8" TargetMode="External"/><Relationship Id="rId24" Type="http://schemas.openxmlformats.org/officeDocument/2006/relationships/hyperlink" Target="Madde13-Forms.docx#form_9" TargetMode="External"/><Relationship Id="rId25" Type="http://schemas.openxmlformats.org/officeDocument/2006/relationships/hyperlink" Target="Madde13-Forms.docx#form_10" TargetMode="External"/><Relationship Id="rId26" Type="http://schemas.openxmlformats.org/officeDocument/2006/relationships/hyperlink" Target="Madde13-Forms.docx#form_11" TargetMode="External"/><Relationship Id="rId27" Type="http://schemas.openxmlformats.org/officeDocument/2006/relationships/hyperlink" Target="Madde13-Forms.docx#form_12" TargetMode="External"/><Relationship Id="rId28" Type="http://schemas.openxmlformats.org/officeDocument/2006/relationships/hyperlink" Target="Madde13-Forms.docx#form_13" TargetMode="External"/><Relationship Id="rId29" Type="http://schemas.openxmlformats.org/officeDocument/2006/relationships/hyperlink" Target="Madde13-Forms.docx#form_14" TargetMode="External"/><Relationship Id="rId30" Type="http://schemas.openxmlformats.org/officeDocument/2006/relationships/hyperlink" Target="Madde13-Forms.docx#form_15" TargetMode="External"/><Relationship Id="rId31" Type="http://schemas.openxmlformats.org/officeDocument/2006/relationships/hyperlink" Target="Madde13-Forms.docx#form_16" TargetMode="External"/><Relationship Id="rId32" Type="http://schemas.openxmlformats.org/officeDocument/2006/relationships/hyperlink" Target="Madde13-Forms.docx#form_17" TargetMode="External"/><Relationship Id="rId33" Type="http://schemas.openxmlformats.org/officeDocument/2006/relationships/hyperlink" Target="Madde13-Forms.docx#form_18" TargetMode="External"/><Relationship Id="rId34" Type="http://schemas.openxmlformats.org/officeDocument/2006/relationships/hyperlink" Target="Madde13-Forms.docx#form_19" TargetMode="External"/><Relationship Id="rId35" Type="http://schemas.openxmlformats.org/officeDocument/2006/relationships/hyperlink" Target="Madde13-Forms.docx#form_20" TargetMode="External"/><Relationship Id="rId36" Type="http://schemas.openxmlformats.org/officeDocument/2006/relationships/hyperlink" Target="Madde13-Forms.docx#form_21" TargetMode="External"/><Relationship Id="rId37" Type="http://schemas.openxmlformats.org/officeDocument/2006/relationships/hyperlink" Target="Madde13-Forms.docx#form_22" TargetMode="External"/><Relationship Id="rId38" Type="http://schemas.openxmlformats.org/officeDocument/2006/relationships/hyperlink" Target="Madde13-Forms.docx#form_23" TargetMode="External"/><Relationship Id="rId39" Type="http://schemas.openxmlformats.org/officeDocument/2006/relationships/hyperlink" Target="Madde13-Forms.docx#form_24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11" Type="http://schemas.openxmlformats.org/officeDocument/2006/relationships/image" Target="../media/image-29-4.png"/><Relationship Id="rId14" Type="http://schemas.openxmlformats.org/officeDocument/2006/relationships/image" Target="../media/image-29-5.png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78024" y="914400"/>
            <a:ext cx="7223760" cy="4983480"/>
          </a:xfrm>
          <a:prstGeom prst="roundRect">
            <a:avLst>
              <a:gd name="adj" fmla="val 367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9464" y="1005840"/>
            <a:ext cx="7040880" cy="48006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4" name="Image 0" descr="/tmp/claude-0/-home-user-Waste/dcb1a03d-345b-5441-8898-3e9a4c6379b1/scratchpad/build/assets/bismillah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344" y="1161288"/>
            <a:ext cx="6675120" cy="44531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5840" y="4754880"/>
            <a:ext cx="1280160" cy="12801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149840" y="109728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914400"/>
            <a:ext cx="5212080" cy="5212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C10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3" name="Image 0" descr="/tmp/claude-0/-home-user-Waste/dcb1a03d-345b-5441-8898-3e9a4c6379b1/scratchpad/build/assets/ic-41-balance-fea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4663440" cy="4663440"/>
          </a:xfrm>
          <a:prstGeom prst="ellipse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74920" y="1143000"/>
            <a:ext cx="320040" cy="32004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5394960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149840" y="411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C107"/>
            </a:solidFill>
            <a:prstDash val="solid"/>
          </a:ln>
        </p:spPr>
      </p:sp>
      <p:pic>
        <p:nvPicPr>
          <p:cNvPr id="7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432" y="576072"/>
            <a:ext cx="676656" cy="6766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52160" y="15087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000" b="1" dirty="0">
                <a:solidFill>
                  <a:srgbClr val="FFC10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دستورالعمل اجرایی</a:t>
            </a:r>
            <a:endParaRPr lang="fa-IR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205740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46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</a:t>
            </a:r>
            <a:endParaRPr lang="fa-IR" sz="4600" dirty="0"/>
          </a:p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46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تخلفات بهداشتی</a:t>
            </a:r>
            <a:endParaRPr lang="fa-IR" sz="4600" dirty="0"/>
          </a:p>
        </p:txBody>
      </p:sp>
      <p:sp>
        <p:nvSpPr>
          <p:cNvPr id="10" name="Text 6"/>
          <p:cNvSpPr txBox="1"/>
          <p:nvPr/>
        </p:nvSpPr>
        <p:spPr>
          <a:xfrm>
            <a:off x="5852160" y="363931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fa-IR" altLang="en-US" sz="16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مراکز تهیه، تولید، توزیع، نگهداری، حمل و نقل و فروش مواد خوردنی، آشامیدنی، آرایشی، بهداشتی و اماکن عمومی</a:t>
            </a:r>
            <a:endParaRPr lang="fa-IR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434840"/>
            <a:ext cx="4937760" cy="457200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قانون اصلاح ماده ۱۳  |  شماره دستورالعمل ۱۸۰۳۹۲۰۶</a:t>
            </a:r>
            <a:endParaRPr lang="fa-IR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035040" y="5029200"/>
            <a:ext cx="4937760" cy="457200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گروه مهندسی سلامت محیط  |  معاونت بهداشت استان همدان</a:t>
            </a:r>
            <a:endParaRPr lang="fa-IR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0"/>
            <a:ext cx="0" cy="6858000"/>
          </a:xfrm>
          <a:prstGeom prst="line">
            <a:avLst/>
          </a:prstGeom>
          <a:noFill/>
          <a:ln w="25400">
            <a:solidFill>
              <a:srgbClr val="FFC10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 rot="16200000">
            <a:off x="9144000" y="29718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485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فهرست مطالب</a:t>
            </a:r>
            <a:endParaRPr lang="fa-IR" sz="4850" dirty="0"/>
          </a:p>
        </p:txBody>
      </p:sp>
      <p:sp>
        <p:nvSpPr>
          <p:cNvPr id="4" name="Shape 2"/>
          <p:cNvSpPr/>
          <p:nvPr/>
        </p:nvSpPr>
        <p:spPr>
          <a:xfrm>
            <a:off x="9326880" y="868680"/>
            <a:ext cx="658368" cy="566928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5" name="Image 0" descr="/tmp/claude-0/-home-user-Waste/dcb1a03d-345b-5441-8898-3e9a4c6379b1/scratchpad/build/assets/ic-2-menubook-pl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754880" y="914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 و مقدمه</a:t>
            </a:r>
            <a:endParaRPr lang="fa-IR" sz="2400" dirty="0"/>
          </a:p>
        </p:txBody>
      </p:sp>
      <p:sp>
        <p:nvSpPr>
          <p:cNvPr id="7" name="Shape 4">
            <a:hlinkClick r:id="rId3" tooltip="تعاریف و مقدمه" action="ppaction://hlinksldjump"/>
          </p:cNvPr>
          <p:cNvSpPr/>
          <p:nvPr/>
        </p:nvSpPr>
        <p:spPr>
          <a:xfrm>
            <a:off x="4754880" y="914400"/>
            <a:ext cx="5257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326880" y="1947672"/>
            <a:ext cx="658368" cy="566928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9" name="Image 1" descr="/tmp/claude-0/-home-user-Waste/dcb1a03d-345b-5441-8898-3e9a4c6379b1/scratchpad/build/assets/ic-3-factcheck-pl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2176272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99339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فرایند رسیدگی به نواقص بهداشتی</a:t>
            </a:r>
            <a:endParaRPr lang="fa-IR" sz="2400" dirty="0"/>
          </a:p>
        </p:txBody>
      </p:sp>
      <p:sp>
        <p:nvSpPr>
          <p:cNvPr id="11" name="Shape 7">
            <a:hlinkClick r:id="rId5" tooltip="فرایند رسیدگی به نواقص بهداشتی" action="ppaction://hlinksldjump"/>
          </p:cNvPr>
          <p:cNvSpPr/>
          <p:nvPr/>
        </p:nvSpPr>
        <p:spPr>
          <a:xfrm>
            <a:off x="4754880" y="1993392"/>
            <a:ext cx="5257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0" y="3026664"/>
            <a:ext cx="658368" cy="566928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13" name="Image 2" descr="/tmp/claude-0/-home-user-Waste/dcb1a03d-345b-5441-8898-3e9a4c6379b1/scratchpad/build/assets/ic-50-findinpage-pla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325526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754880" y="307238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فرایند اجرایی ماده ۳۱ آیین‌نامه</a:t>
            </a:r>
            <a:endParaRPr lang="fa-IR" sz="2400" dirty="0"/>
          </a:p>
        </p:txBody>
      </p:sp>
      <p:sp>
        <p:nvSpPr>
          <p:cNvPr id="15" name="Shape 10">
            <a:hlinkClick r:id="rId7" tooltip="فرایند اجرایی ماده ۳۱ آیین‌نامه" action="ppaction://hlinksldjump"/>
          </p:cNvPr>
          <p:cNvSpPr/>
          <p:nvPr/>
        </p:nvSpPr>
        <p:spPr>
          <a:xfrm>
            <a:off x="4754880" y="3072384"/>
            <a:ext cx="5257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326880" y="4105656"/>
            <a:ext cx="658368" cy="566928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17" name="Image 3" descr="/tmp/claude-0/-home-user-Waste/dcb1a03d-345b-5441-8898-3e9a4c6379b1/scratchpad/build/assets/ic-4-balance-plai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334256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754880" y="41513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نمودارهای گردش کار</a:t>
            </a:r>
            <a:endParaRPr lang="fa-IR" sz="2400" dirty="0"/>
          </a:p>
        </p:txBody>
      </p:sp>
      <p:sp>
        <p:nvSpPr>
          <p:cNvPr id="19" name="Shape 13">
            <a:hlinkClick r:id="rId9" tooltip="نمودارهای گردش کار" action="ppaction://hlinksldjump"/>
          </p:cNvPr>
          <p:cNvSpPr/>
          <p:nvPr/>
        </p:nvSpPr>
        <p:spPr>
          <a:xfrm>
            <a:off x="4754880" y="4151376"/>
            <a:ext cx="5257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326880" y="5184648"/>
            <a:ext cx="658368" cy="566928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pic>
        <p:nvPicPr>
          <p:cNvPr id="21" name="Image 4" descr="/tmp/claude-0/-home-user-Waste/dcb1a03d-345b-5441-8898-3e9a4c6379b1/scratchpad/build/assets/ic-49-description-plai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9760" y="5413248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754880" y="5230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فرم‌های اجرایی (فایل Word)</a:t>
            </a:r>
            <a:endParaRPr lang="fa-IR" sz="2400" dirty="0"/>
          </a:p>
        </p:txBody>
      </p:sp>
      <p:sp>
        <p:nvSpPr>
          <p:cNvPr id="23" name="Shape 16">
            <a:hlinkClick r:id="rId11" tooltip="فرم‌های اجرایی (فایل Word)" action="ppaction://hlinksldjump"/>
          </p:cNvPr>
          <p:cNvSpPr/>
          <p:nvPr/>
        </p:nvSpPr>
        <p:spPr>
          <a:xfrm>
            <a:off x="4754880" y="5230368"/>
            <a:ext cx="5257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5" descr="/tmp/claude-0/-home-user-Waste/dcb1a03d-345b-5441-8898-3e9a4c6379b1/scratchpad/build/assets/ic-7-policy-pla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60" y="1005840"/>
            <a:ext cx="4206240" cy="420624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85800" y="3749040"/>
            <a:ext cx="1828800" cy="1828800"/>
          </a:xfrm>
          <a:prstGeom prst="ellipse">
            <a:avLst/>
          </a:prstGeom>
          <a:solidFill>
            <a:srgbClr val="0B3A8C"/>
          </a:solidFill>
          <a:ln w="12700">
            <a:solidFill>
              <a:srgbClr val="0B3A8C"/>
            </a:solidFill>
            <a:prstDash val="solid"/>
          </a:ln>
        </p:spPr>
      </p:sp>
      <p:pic>
        <p:nvPicPr>
          <p:cNvPr id="26" name="Image 6" descr="/tmp/claude-0/-home-user-Waste/dcb1a03d-345b-5441-8898-3e9a4c6379b1/scratchpad/build/assets/ic-8-verifieduser-plai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840" y="406908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3" name="Image 0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475488"/>
            <a:ext cx="512064" cy="51206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9704" y="822960"/>
            <a:ext cx="3200400" cy="2743200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D54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5" name="Image 1" descr="/tmp/claude-0/-home-user-Waste/dcb1a03d-345b-5441-8898-3e9a4c6379b1/scratchpad/build/assets/ic-2-menubook-pl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920240"/>
            <a:ext cx="1316736" cy="1316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384048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6000" b="1" dirty="0">
                <a:solidFill>
                  <a:srgbClr val="FFC10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 و مقدمه</a:t>
            </a:r>
            <a:endParaRPr lang="fa-IR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۱ — اصطلاحات کلیدی دستورالعمل</a:t>
            </a:r>
            <a:endParaRPr lang="fa-IR" sz="2200" dirty="0"/>
          </a:p>
        </p:txBody>
      </p:sp>
      <p:pic>
        <p:nvPicPr>
          <p:cNvPr id="8" name="Image 2" descr="/tmp/claude-0/-home-user-Waste/dcb1a03d-345b-5441-8898-3e9a4c6379b1/scratchpad/build/assets/home.png">
            <a:hlinkClick r:id="rId5" tooltip="فهرست مطالب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61264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9" name="Shape 4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۵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هدف و دامنه دستورالعمل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Introduction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713232" y="1170432"/>
            <a:ext cx="4242816" cy="4242816"/>
          </a:xfrm>
          <a:prstGeom prst="ellipse">
            <a:avLst/>
          </a:prstGeom>
          <a:solidFill>
            <a:srgbClr val="FFFFFF"/>
          </a:solidFill>
          <a:ln w="63500">
            <a:solidFill>
              <a:srgbClr val="DCE3EE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26" name="Image 5" descr="/tmp/claude-0/-home-user-Waste/dcb1a03d-345b-5441-8898-3e9a4c6379b1/scratchpad/build/assets/ic-16-postadd-featur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2960" y="1280160"/>
            <a:ext cx="4023360" cy="4023360"/>
          </a:xfrm>
          <a:prstGeom prst="ellipse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394960" y="137160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just" indent="0" marL="0">
              <a:lnSpc>
                <a:spcPct val="145000"/>
              </a:lnSpc>
              <a:spcAft>
                <a:spcPts val="1000"/>
              </a:spcAft>
              <a:buNone/>
            </a:pPr>
            <a:r>
              <a:rPr lang="fa-IR" altLang="en-US" sz="18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مقدمه: </a:t>
            </a:r>
            <a:pPr rtl="1" algn="just" indent="0" marL="0">
              <a:lnSpc>
                <a:spcPct val="145000"/>
              </a:lnSpc>
              <a:spcAft>
                <a:spcPts val="1000"/>
              </a:spcAft>
              <a:buNone/>
            </a:pPr>
            <a:r>
              <a:rPr lang="fa-IR" altLang="en-US" sz="17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راستای اجرای قانون اصلاح ماده ۱۳ قانون مواد خوردنی، آشامیدنی، آرایشی و بهداشتی و آیین نامه اجرایی آن، دستورالعمل اجرایی رسیدگی به تخلفات بهداشتی مراکز تهیه، تولید، توزیع، نگهداری، حمل و نقل و فروش مواد خوردنی، آشامیدنی، آرایشی، بهداشتی و اماکن عمومی توسط این معاونت برای اجرا ابلاغ می گردد.</a:t>
            </a:r>
            <a:endParaRPr lang="fa-IR" sz="1850" dirty="0"/>
          </a:p>
          <a:p>
            <a:pPr rtl="1" algn="just" indent="0" marL="0">
              <a:lnSpc>
                <a:spcPct val="145000"/>
              </a:lnSpc>
              <a:spcAft>
                <a:spcPts val="1000"/>
              </a:spcAft>
              <a:buNone/>
            </a:pPr>
            <a:r>
              <a:rPr lang="fa-IR" altLang="en-US" sz="18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مسئولیت: </a:t>
            </a:r>
            <a:pPr rtl="1" algn="just" indent="0" marL="0">
              <a:lnSpc>
                <a:spcPct val="145000"/>
              </a:lnSpc>
              <a:spcAft>
                <a:spcPts val="1000"/>
              </a:spcAft>
              <a:buNone/>
            </a:pPr>
            <a:r>
              <a:rPr lang="fa-IR" altLang="en-US" sz="17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های بهداشتی دانشگاه ها و دانشکده های علوم پزشکی موظفند در زمینه رسیدگی به تخلفات بهداشتی مراکز و اماکن مذکور بر اساس این دستورالعمل اقدام نمایند.</a:t>
            </a:r>
            <a:endParaRPr lang="fa-IR" sz="1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9" name="Shape 4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۶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۱: تعاریف (۱)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Definitions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349240" y="1600200"/>
            <a:ext cx="4617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83080"/>
            <a:ext cx="658368" cy="658368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8308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۱-۱</a:t>
            </a:r>
            <a:endParaRPr lang="fa-IR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5623560" y="1764792"/>
            <a:ext cx="3291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آیین نامه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منظور آیین نامه اجرایی قانون اصلاح ماده ۱۳ قانون مواد خوردنی، آشامیدنی، آرایشی و بهداشتی مصوب ۹۲/۳/۱۸ می باشد.</a:t>
            </a:r>
            <a:endParaRPr lang="fa-IR" sz="1800" dirty="0"/>
          </a:p>
        </p:txBody>
      </p:sp>
      <p:sp>
        <p:nvSpPr>
          <p:cNvPr id="29" name="Shape 22"/>
          <p:cNvSpPr/>
          <p:nvPr/>
        </p:nvSpPr>
        <p:spPr>
          <a:xfrm>
            <a:off x="548640" y="1600200"/>
            <a:ext cx="4617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297680" y="1783080"/>
            <a:ext cx="658368" cy="658368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4251960" y="178308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۱-۲</a:t>
            </a:r>
            <a:endParaRPr lang="fa-IR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" y="1764792"/>
            <a:ext cx="3291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8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تخلف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عبارت است از فعل یا ترک فعلی که در قوانین مرتبط از جمله قانون اصلاح ماده ۱۳ و آیین نامه اجرایی و دستورالعمل های آن تخلف و جرم بهداشتی تلقی شده و طبق قانون مستوجب مجازات می باشد.</a:t>
            </a:r>
            <a:endParaRPr lang="fa-IR" sz="1800" dirty="0"/>
          </a:p>
        </p:txBody>
      </p:sp>
      <p:sp>
        <p:nvSpPr>
          <p:cNvPr id="33" name="Shape 26"/>
          <p:cNvSpPr/>
          <p:nvPr/>
        </p:nvSpPr>
        <p:spPr>
          <a:xfrm>
            <a:off x="5349240" y="3931920"/>
            <a:ext cx="4617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098280" y="4114800"/>
            <a:ext cx="658368" cy="658368"/>
          </a:xfrm>
          <a:prstGeom prst="ellipse">
            <a:avLst/>
          </a:prstGeom>
          <a:solidFill>
            <a:srgbClr val="1E88E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9052560" y="411480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۱-۳</a:t>
            </a:r>
            <a:endParaRPr lang="fa-IR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5623560" y="4096512"/>
            <a:ext cx="3291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800" b="1" dirty="0">
                <a:solidFill>
                  <a:srgbClr val="1E88E5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بازرسی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به عمل نظارتی گفته می شود که هدف از آن بررسی میزان انطباق شرایط موضوع و محل بازرسی با قوانین، مقررات و الزامات بهداشتی ناشی از آن ها می باشد.</a:t>
            </a:r>
            <a:endParaRPr lang="fa-IR" sz="1800" dirty="0"/>
          </a:p>
        </p:txBody>
      </p:sp>
      <p:sp>
        <p:nvSpPr>
          <p:cNvPr id="37" name="Shape 30"/>
          <p:cNvSpPr/>
          <p:nvPr/>
        </p:nvSpPr>
        <p:spPr>
          <a:xfrm>
            <a:off x="548640" y="3931920"/>
            <a:ext cx="4617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4297680" y="4114800"/>
            <a:ext cx="658368" cy="658368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4251960" y="411480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۱-۴</a:t>
            </a:r>
            <a:endParaRPr lang="fa-IR" sz="1500" dirty="0"/>
          </a:p>
        </p:txBody>
      </p:sp>
      <p:sp>
        <p:nvSpPr>
          <p:cNvPr id="40" name="Text 33"/>
          <p:cNvSpPr txBox="1"/>
          <p:nvPr/>
        </p:nvSpPr>
        <p:spPr>
          <a:xfrm>
            <a:off x="822960" y="4096512"/>
            <a:ext cx="3291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8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مسئول بهداشت محل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رییس مرکز بهداشت استان و شهرستان، که در صورت لزوم می تواند به رئیس مرکز بهداشتی درمانی شهری/ روستایی نیز تفویض اختیار نماید.</a:t>
            </a:r>
            <a:endParaRPr lang="fa-IR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9" name="Shape 4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۷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۱: تعاریف (۲)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Definitions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394960" y="1691640"/>
            <a:ext cx="4572000" cy="1600200"/>
          </a:xfrm>
          <a:prstGeom prst="roundRect">
            <a:avLst>
              <a:gd name="adj" fmla="val 6857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217920" y="14630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۱-۵  موارد بحرانی</a:t>
            </a:r>
            <a:endParaRPr lang="fa-IR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5669280" y="21031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مواردی است که عدم رعایت آن به طور مستقیم موجب به خطر افتادن سلامت انسان گردد.</a:t>
            </a:r>
            <a:endParaRPr lang="fa-IR" sz="1650" dirty="0"/>
          </a:p>
        </p:txBody>
      </p:sp>
      <p:sp>
        <p:nvSpPr>
          <p:cNvPr id="28" name="Shape 21"/>
          <p:cNvSpPr/>
          <p:nvPr/>
        </p:nvSpPr>
        <p:spPr>
          <a:xfrm>
            <a:off x="548640" y="1691640"/>
            <a:ext cx="4572000" cy="1600200"/>
          </a:xfrm>
          <a:prstGeom prst="roundRect">
            <a:avLst>
              <a:gd name="adj" fmla="val 6857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1371600" y="14630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۱-۶  موارد غیر بحرانی</a:t>
            </a:r>
            <a:endParaRPr lang="fa-IR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210312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مواردی است که عدم رعایت آن به طور غیر مستقیم بر سلامت انسان اثر دارد.</a:t>
            </a:r>
            <a:endParaRPr lang="fa-IR" sz="1650" dirty="0"/>
          </a:p>
        </p:txBody>
      </p:sp>
      <p:sp>
        <p:nvSpPr>
          <p:cNvPr id="31" name="Shape 24"/>
          <p:cNvSpPr/>
          <p:nvPr/>
        </p:nvSpPr>
        <p:spPr>
          <a:xfrm>
            <a:off x="7754112" y="3611880"/>
            <a:ext cx="2212848" cy="25603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540496" y="3749040"/>
            <a:ext cx="640080" cy="640080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33" name="Image 5" descr="/tmp/claude-0/-home-user-Waste/dcb1a03d-345b-5441-8898-3e9a4c6379b1/scratchpad/build/assets/ic-37-verified-plai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68512" y="3877056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845552" y="443484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7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۱-۷  بهره برداری</a:t>
            </a:r>
            <a:endParaRPr lang="fa-IR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7891272" y="484632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بکارگیری و استفاده از واحد، مکان، قسمت و ابزار و تجهیزات برای موارد تعیین شده.</a:t>
            </a:r>
            <a:endParaRPr lang="fa-IR" sz="1450" dirty="0"/>
          </a:p>
        </p:txBody>
      </p:sp>
      <p:sp>
        <p:nvSpPr>
          <p:cNvPr id="36" name="Shape 28"/>
          <p:cNvSpPr/>
          <p:nvPr/>
        </p:nvSpPr>
        <p:spPr>
          <a:xfrm>
            <a:off x="5385816" y="3611880"/>
            <a:ext cx="2212848" cy="25603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172200" y="3749040"/>
            <a:ext cx="640080" cy="640080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38" name="Image 6" descr="/tmp/claude-0/-home-user-Waste/dcb1a03d-345b-5441-8898-3e9a4c6379b1/scratchpad/build/assets/ic-58-store-plai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0216" y="3877056"/>
            <a:ext cx="384048" cy="38404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477256" y="443484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7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۱-۸  واحد صنفی</a:t>
            </a:r>
            <a:endParaRPr lang="fa-IR" sz="1700" dirty="0"/>
          </a:p>
        </p:txBody>
      </p:sp>
      <p:sp>
        <p:nvSpPr>
          <p:cNvPr id="40" name="Text 31"/>
          <p:cNvSpPr txBox="1"/>
          <p:nvPr/>
        </p:nvSpPr>
        <p:spPr>
          <a:xfrm>
            <a:off x="5522976" y="484632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هر واحد اقتصادی که فعالیت آن در محل ثابت یا وسیله سیار باشد و توسط فرد یا افراد صنفی دایر شده باشد.</a:t>
            </a:r>
            <a:endParaRPr lang="fa-IR" sz="1450" dirty="0"/>
          </a:p>
        </p:txBody>
      </p:sp>
      <p:sp>
        <p:nvSpPr>
          <p:cNvPr id="41" name="Shape 32"/>
          <p:cNvSpPr/>
          <p:nvPr/>
        </p:nvSpPr>
        <p:spPr>
          <a:xfrm>
            <a:off x="3017520" y="3611880"/>
            <a:ext cx="2212848" cy="25603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2" name="Shape 33"/>
          <p:cNvSpPr/>
          <p:nvPr/>
        </p:nvSpPr>
        <p:spPr>
          <a:xfrm>
            <a:off x="3803904" y="3749040"/>
            <a:ext cx="640080" cy="640080"/>
          </a:xfrm>
          <a:prstGeom prst="ellipse">
            <a:avLst/>
          </a:prstGeom>
          <a:solidFill>
            <a:srgbClr val="1E88E5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43" name="Image 7" descr="/tmp/claude-0/-home-user-Waste/dcb1a03d-345b-5441-8898-3e9a4c6379b1/scratchpad/build/assets/ic-17-article-plai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31920" y="3877056"/>
            <a:ext cx="384048" cy="384048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3108960" y="443484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7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۱-۹  مکان</a:t>
            </a:r>
            <a:endParaRPr lang="fa-IR" sz="1700" dirty="0"/>
          </a:p>
        </p:txBody>
      </p:sp>
      <p:sp>
        <p:nvSpPr>
          <p:cNvPr id="45" name="Text 35"/>
          <p:cNvSpPr txBox="1"/>
          <p:nvPr/>
        </p:nvSpPr>
        <p:spPr>
          <a:xfrm>
            <a:off x="3154680" y="484632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بخشی از واحد صنفی از قبیل آشپزخانه که به تشخیص مسئول بهداشت محل دارای فعالیت مجزا و مستقل باشد.</a:t>
            </a:r>
            <a:endParaRPr lang="fa-IR" sz="1450" dirty="0"/>
          </a:p>
        </p:txBody>
      </p:sp>
      <p:sp>
        <p:nvSpPr>
          <p:cNvPr id="46" name="Shape 36"/>
          <p:cNvSpPr/>
          <p:nvPr/>
        </p:nvSpPr>
        <p:spPr>
          <a:xfrm>
            <a:off x="649224" y="3611880"/>
            <a:ext cx="2212848" cy="256032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7" name="Shape 37"/>
          <p:cNvSpPr/>
          <p:nvPr/>
        </p:nvSpPr>
        <p:spPr>
          <a:xfrm>
            <a:off x="1435608" y="3749040"/>
            <a:ext cx="640080" cy="64008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48" name="Image 8" descr="/tmp/claude-0/-home-user-Waste/dcb1a03d-345b-5441-8898-3e9a4c6379b1/scratchpad/build/assets/ic-69-build-plai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63624" y="3877056"/>
            <a:ext cx="384048" cy="384048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740664" y="443484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7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۱-۱۰  قسمت</a:t>
            </a:r>
            <a:endParaRPr lang="fa-IR" sz="1700" dirty="0"/>
          </a:p>
        </p:txBody>
      </p:sp>
      <p:sp>
        <p:nvSpPr>
          <p:cNvPr id="50" name="Text 39"/>
          <p:cNvSpPr txBox="1"/>
          <p:nvPr/>
        </p:nvSpPr>
        <p:spPr>
          <a:xfrm>
            <a:off x="786384" y="484632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شامل مواردی نظیر دستگاه و تجهیزات که برای مقاصد خاص از جمله فراوری و نگهداری مواد غذایی استفاده می شود.</a:t>
            </a:r>
            <a:endParaRPr lang="fa-IR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9" name="Shape 4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۸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۱: تعاریف (۳)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Definitions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15087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9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۱-۱۱  تیم بازرسی: </a:t>
            </a:r>
            <a:pPr rtl="1" algn="r" indent="0" marL="0">
              <a:buNone/>
            </a:pPr>
            <a:r>
              <a:rPr lang="fa-IR" altLang="en-US" sz="17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گروهی که شامل اعضای زیر بوده و حضور حداقل یک نماینده از دستگاه نظارت الزامی است:</a:t>
            </a:r>
            <a:endParaRPr lang="fa-IR" sz="1900" dirty="0"/>
          </a:p>
        </p:txBody>
      </p:sp>
      <p:sp>
        <p:nvSpPr>
          <p:cNvPr id="26" name="Shape 19"/>
          <p:cNvSpPr/>
          <p:nvPr/>
        </p:nvSpPr>
        <p:spPr>
          <a:xfrm>
            <a:off x="8426196" y="2103120"/>
            <a:ext cx="868680" cy="868680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27" name="Image 5" descr="/tmp/claude-0/-home-user-Waste/dcb1a03d-345b-5441-8898-3e9a4c6379b1/scratchpad/build/assets/ic-19-healthandsafety-plai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22792" y="2299716"/>
            <a:ext cx="475488" cy="47548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54112" y="3063240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5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نماینده بهداشت محیط مرکز بهداشت شهرستان</a:t>
            </a:r>
            <a:endParaRPr lang="fa-IR" sz="1550" dirty="0"/>
          </a:p>
        </p:txBody>
      </p:sp>
      <p:sp>
        <p:nvSpPr>
          <p:cNvPr id="29" name="Shape 21"/>
          <p:cNvSpPr/>
          <p:nvPr/>
        </p:nvSpPr>
        <p:spPr>
          <a:xfrm>
            <a:off x="6057900" y="2103120"/>
            <a:ext cx="868680" cy="868680"/>
          </a:xfrm>
          <a:prstGeom prst="ellipse">
            <a:avLst/>
          </a:prstGeom>
          <a:solidFill>
            <a:srgbClr val="1E88E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30" name="Image 6" descr="/tmp/claude-0/-home-user-Waste/dcb1a03d-345b-5441-8898-3e9a4c6379b1/scratchpad/build/assets/ic-21-badge-plai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54496" y="2299716"/>
            <a:ext cx="475488" cy="47548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385816" y="3063240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5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بازرس بهداشت محیط</a:t>
            </a:r>
            <a:endParaRPr lang="fa-IR" sz="1550" dirty="0"/>
          </a:p>
        </p:txBody>
      </p:sp>
      <p:sp>
        <p:nvSpPr>
          <p:cNvPr id="32" name="Shape 23"/>
          <p:cNvSpPr/>
          <p:nvPr/>
        </p:nvSpPr>
        <p:spPr>
          <a:xfrm>
            <a:off x="3689604" y="2103120"/>
            <a:ext cx="868680" cy="868680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33" name="Image 7" descr="/tmp/claude-0/-home-user-Waste/dcb1a03d-345b-5441-8898-3e9a4c6379b1/scratchpad/build/assets/ic-40-lock-plai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86200" y="2299716"/>
            <a:ext cx="475488" cy="47548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3017520" y="3063240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5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نماینده نیروی انتظامی</a:t>
            </a:r>
            <a:endParaRPr lang="fa-IR" sz="1550" dirty="0"/>
          </a:p>
        </p:txBody>
      </p:sp>
      <p:sp>
        <p:nvSpPr>
          <p:cNvPr id="35" name="Text 25"/>
          <p:cNvSpPr txBox="1"/>
          <p:nvPr/>
        </p:nvSpPr>
        <p:spPr>
          <a:xfrm>
            <a:off x="3483864" y="3639312"/>
            <a:ext cx="1280160" cy="292608"/>
          </a:xfrm>
          <a:prstGeom prst="roundRect">
            <a:avLst>
              <a:gd name="adj" fmla="val 46875"/>
            </a:avLst>
          </a:prstGeom>
          <a:solidFill>
            <a:srgbClr val="FFF3C4"/>
          </a:solidFill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نیاز</a:t>
            </a:r>
            <a:endParaRPr lang="fa-IR" sz="1200" dirty="0"/>
          </a:p>
        </p:txBody>
      </p:sp>
      <p:sp>
        <p:nvSpPr>
          <p:cNvPr id="36" name="Shape 26"/>
          <p:cNvSpPr/>
          <p:nvPr/>
        </p:nvSpPr>
        <p:spPr>
          <a:xfrm>
            <a:off x="1321308" y="2103120"/>
            <a:ext cx="868680" cy="868680"/>
          </a:xfrm>
          <a:prstGeom prst="ellipse">
            <a:avLst/>
          </a:prstGeom>
          <a:solidFill>
            <a:srgbClr val="1565C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37" name="Image 8" descr="/tmp/claude-0/-home-user-Waste/dcb1a03d-345b-5441-8898-3e9a4c6379b1/scratchpad/build/assets/ic-59-groups-plai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17904" y="2299716"/>
            <a:ext cx="475488" cy="47548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49224" y="3063240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5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نماینده اتحادیه صنفی</a:t>
            </a:r>
            <a:endParaRPr lang="fa-IR" sz="1550" dirty="0"/>
          </a:p>
        </p:txBody>
      </p:sp>
      <p:sp>
        <p:nvSpPr>
          <p:cNvPr id="39" name="Text 28"/>
          <p:cNvSpPr txBox="1"/>
          <p:nvPr/>
        </p:nvSpPr>
        <p:spPr>
          <a:xfrm>
            <a:off x="1115568" y="3639312"/>
            <a:ext cx="1280160" cy="292608"/>
          </a:xfrm>
          <a:prstGeom prst="roundRect">
            <a:avLst>
              <a:gd name="adj" fmla="val 46875"/>
            </a:avLst>
          </a:prstGeom>
          <a:solidFill>
            <a:srgbClr val="FFF3C4"/>
          </a:solidFill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لزوم</a:t>
            </a:r>
            <a:endParaRPr lang="fa-IR" sz="1200" dirty="0"/>
          </a:p>
        </p:txBody>
      </p:sp>
      <p:sp>
        <p:nvSpPr>
          <p:cNvPr id="40" name="Shape 29"/>
          <p:cNvSpPr/>
          <p:nvPr/>
        </p:nvSpPr>
        <p:spPr>
          <a:xfrm>
            <a:off x="5943600" y="4114800"/>
            <a:ext cx="3657600" cy="82296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1" name="Text 30"/>
          <p:cNvSpPr txBox="1"/>
          <p:nvPr/>
        </p:nvSpPr>
        <p:spPr>
          <a:xfrm>
            <a:off x="6035040" y="41148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۱-۱۲ نقص قابل رفع در محل</a:t>
            </a:r>
            <a:endParaRPr lang="fa-IR" sz="1800" dirty="0"/>
          </a:p>
        </p:txBody>
      </p:sp>
      <p:sp>
        <p:nvSpPr>
          <p:cNvPr id="42" name="Shape 31"/>
          <p:cNvSpPr/>
          <p:nvPr/>
        </p:nvSpPr>
        <p:spPr>
          <a:xfrm>
            <a:off x="8915400" y="3995928"/>
            <a:ext cx="1060704" cy="1060704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43" name="Image 9" descr="/tmp/claude-0/-home-user-Waste/dcb1a03d-345b-5441-8898-3e9a4c6379b1/scratchpad/build/assets/ic-44-checkcircle-plai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148755" y="4229283"/>
            <a:ext cx="593994" cy="59399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548640" y="402336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به مواردی اطلاق می گردد که در طی زمان بازرسی قابل اصلاح و رفع در محل باشد.</a:t>
            </a:r>
            <a:endParaRPr lang="fa-IR" sz="1600" dirty="0"/>
          </a:p>
        </p:txBody>
      </p:sp>
      <p:sp>
        <p:nvSpPr>
          <p:cNvPr id="45" name="Shape 33"/>
          <p:cNvSpPr/>
          <p:nvPr/>
        </p:nvSpPr>
        <p:spPr>
          <a:xfrm>
            <a:off x="5943600" y="5257800"/>
            <a:ext cx="3657600" cy="82296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6" name="Text 34"/>
          <p:cNvSpPr txBox="1"/>
          <p:nvPr/>
        </p:nvSpPr>
        <p:spPr>
          <a:xfrm>
            <a:off x="6035040" y="52578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۱-۱۳ گردش کار اداری</a:t>
            </a:r>
            <a:endParaRPr lang="fa-IR" sz="1800" dirty="0"/>
          </a:p>
        </p:txBody>
      </p:sp>
      <p:sp>
        <p:nvSpPr>
          <p:cNvPr id="47" name="Shape 35"/>
          <p:cNvSpPr/>
          <p:nvPr/>
        </p:nvSpPr>
        <p:spPr>
          <a:xfrm>
            <a:off x="8915400" y="5138928"/>
            <a:ext cx="1060704" cy="1060704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48" name="Image 10" descr="/tmp/claude-0/-home-user-Waste/dcb1a03d-345b-5441-8898-3e9a4c6379b1/scratchpad/build/assets/ic-17-article-plai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8755" y="5372283"/>
            <a:ext cx="593994" cy="593994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548640" y="516636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عبارت است از تمام یا بخشی از فرایند بازرسی و فعالیت های بعدی آن.</a:t>
            </a:r>
            <a:endParaRPr lang="fa-IR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3" name="Image 0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475488"/>
            <a:ext cx="512064" cy="51206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9704" y="822960"/>
            <a:ext cx="3200400" cy="2743200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D54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5" name="Image 1" descr="/tmp/claude-0/-home-user-Waste/dcb1a03d-345b-5441-8898-3e9a4c6379b1/scratchpad/build/assets/ic-3-factcheck-pl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920240"/>
            <a:ext cx="1316736" cy="1316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384048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6000" b="1" dirty="0">
                <a:solidFill>
                  <a:srgbClr val="FFC10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 بهداشتی</a:t>
            </a:r>
            <a:endParaRPr lang="fa-IR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۲ — فرایند اجرایی رسیدگی به نواقص بهداشتی</a:t>
            </a:r>
            <a:endParaRPr lang="fa-IR" sz="2200" dirty="0"/>
          </a:p>
        </p:txBody>
      </p:sp>
      <p:pic>
        <p:nvPicPr>
          <p:cNvPr id="8" name="Image 2" descr="/tmp/claude-0/-home-user-Waste/dcb1a03d-345b-5441-8898-3e9a4c6379b1/scratchpad/build/assets/home.png">
            <a:hlinkClick r:id="rId5" tooltip="فهرست مطالب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61264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۱۰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بازرسی و ثبت نقص بهداشتی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48640" y="1600200"/>
            <a:ext cx="94183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83080"/>
            <a:ext cx="658368" cy="658368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8308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</a:t>
            </a:r>
            <a:endParaRPr lang="fa-IR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1764792"/>
            <a:ext cx="8092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نقص قابل رفع در زمان بازرسی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چنانچه در هنگام بازرسی، نقص بهداشتی مشاهده شده با تذکر بازرس در محل تا پایان زمان بازرسی رفع گردد، باید نقص در گزارش بازرسی با علامت + ثبت، ولی وارد گردش کار اداری نگردد.</a:t>
            </a:r>
            <a:endParaRPr lang="fa-IR" sz="1900" dirty="0"/>
          </a:p>
        </p:txBody>
      </p:sp>
      <p:sp>
        <p:nvSpPr>
          <p:cNvPr id="29" name="Shape 22"/>
          <p:cNvSpPr/>
          <p:nvPr/>
        </p:nvSpPr>
        <p:spPr>
          <a:xfrm>
            <a:off x="548640" y="3520440"/>
            <a:ext cx="941832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098280" y="3703320"/>
            <a:ext cx="658368" cy="658368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9052560" y="370332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۲-۲</a:t>
            </a:r>
            <a:endParaRPr lang="fa-IR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" y="3685032"/>
            <a:ext cx="8092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نقص غیرقابل رفع یا تکرار نقص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چنانچه در هنگام بازرسی نقص بهداشتی غیرقابل رفع و یا تکرار نقص بهداشتی قابل رفع درمحل مشاهده شود، باید توسط بازرس با علامت X ثبت و وارد گردش کار اداری گردد.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فرم ۱: گزارش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: در صورت عدم تفویض اختیار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۲: گزارش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۲-۱۸۰۳۹۲۰۶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: در صورت تفویض اختیار به رییس مرکز بهداشتی درمانی شهری/ روستایی</a:t>
            </a:r>
            <a:endParaRPr lang="fa-IR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۱۱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مهلت رفع نواقص: بحرانی و غیربحرانی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394960" y="178308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217920" y="15544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۲-۳  نواقص بحرانی</a:t>
            </a:r>
            <a:endParaRPr lang="fa-IR" sz="1800" dirty="0"/>
          </a:p>
        </p:txBody>
      </p:sp>
      <p:pic>
        <p:nvPicPr>
          <p:cNvPr id="27" name="Image 5" descr="/tmp/claude-0/-home-user-Waste/dcb1a03d-345b-5441-8898-3e9a4c6379b1/scratchpad/build/assets/ic-47-cancel-plai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97496" y="2130552"/>
            <a:ext cx="566928" cy="56692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669280" y="2788920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وجود هر یک از نواقص بحرانی بر اساس مواد ۲۲، ۲۳ و ۲۶ آیین نامه و تائید مسئول بهداشت محل، واحد/ مکان/ قسمت مربوطه با مهلت ۴۸ ساعته به منظور رفع نواقص بهداشتی، غیر فعال و یا بطور موقت تعطیل (خارج کردن از سیکل کاری) گردد.</a:t>
            </a:r>
            <a:endParaRPr lang="fa-IR" sz="16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۳: اخطار تعطیل موقت واحد/ مکان/ قسمت دارای نواقص بحرا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۳-۱۸۰۳۹۲۰۶</a:t>
            </a:r>
            <a:endParaRPr lang="fa-IR" sz="1650" dirty="0"/>
          </a:p>
        </p:txBody>
      </p:sp>
      <p:sp>
        <p:nvSpPr>
          <p:cNvPr id="29" name="Shape 21"/>
          <p:cNvSpPr/>
          <p:nvPr/>
        </p:nvSpPr>
        <p:spPr>
          <a:xfrm>
            <a:off x="548640" y="178308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1371600" y="15544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۲-۴  نواقص غیربحرانی</a:t>
            </a:r>
            <a:endParaRPr lang="fa-IR" sz="1800" dirty="0"/>
          </a:p>
        </p:txBody>
      </p:sp>
      <p:pic>
        <p:nvPicPr>
          <p:cNvPr id="31" name="Image 6" descr="/tmp/claude-0/-home-user-Waste/dcb1a03d-345b-5441-8898-3e9a4c6379b1/scratchpad/build/assets/ic-43-priorityhigh-plai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51176" y="2130552"/>
            <a:ext cx="566928" cy="56692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22960" y="2788920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وجود هر یک از نواقص غیربحرانی بر اساس مواد ۲۲، ۲۳ و ۳۰ آیین نامه، و تائید مسئول بهداشت محل، حداکثر به مدت ۶۰ روز به مالک/ مدیر/ متصدی مهلت داده می شود تا نسبت به رفع نواقص بهداشتی در مهلت تعیین شده اقدام نماید.</a:t>
            </a:r>
            <a:endParaRPr lang="fa-IR" sz="16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فرم ۴: اخطار برای رفع نواقص غیر بحرا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۴-۱۸۰۳۹۲۰۶</a:t>
            </a:r>
            <a:endParaRPr lang="fa-IR" sz="1650" dirty="0"/>
          </a:p>
        </p:txBody>
      </p:sp>
      <p:sp>
        <p:nvSpPr>
          <p:cNvPr id="33" name="Shape 24"/>
          <p:cNvSpPr/>
          <p:nvPr/>
        </p:nvSpPr>
        <p:spPr>
          <a:xfrm>
            <a:off x="4956048" y="3611880"/>
            <a:ext cx="603504" cy="603504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4956048" y="36118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6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یا</a:t>
            </a:r>
            <a:endParaRPr lang="fa-IR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۱۲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رفع نواقص و صدور اجازه بهره برداری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48640" y="1600200"/>
            <a:ext cx="941832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83080"/>
            <a:ext cx="658368" cy="658368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8308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۲-۵</a:t>
            </a:r>
            <a:endParaRPr lang="fa-IR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1764792"/>
            <a:ext cx="8092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صدور اجازه بهره برداری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رفع نواقص بهداشتی در طی مدت مذکور در بند ۲-۳ و ۲-۴ و یا رفع نواقص بهداشتی بعد از فک پلمب، پس از اعلام کتبی مالک/ مدیر/ متصدی مبنی بر رفع نواقص بهداشتی و انجام بازرسی و تائید مسئول بهداشت محل، اجازه بهره برداری صادر خواهد شد.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فرم‌های مرتبط: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فرم ۵: اعلام کتبی متصدی مبنی بر رفع نواقص بهداشتی و درخواست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۵-۱۸۰۳۹۲۰۶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۶: 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۶-۱۸۰۳۹۲۰۶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فرم ۷: 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۷-۱۸۰۳۹۲۰۶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فرم ۸: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۸-۱۸۰۳۹۲۰۶</a:t>
            </a:r>
            <a:endParaRPr lang="fa-IR" sz="1900" dirty="0"/>
          </a:p>
        </p:txBody>
      </p:sp>
      <p:sp>
        <p:nvSpPr>
          <p:cNvPr id="29" name="Shape 22"/>
          <p:cNvSpPr/>
          <p:nvPr/>
        </p:nvSpPr>
        <p:spPr>
          <a:xfrm>
            <a:off x="548640" y="4480560"/>
            <a:ext cx="9418320" cy="1691640"/>
          </a:xfrm>
          <a:prstGeom prst="roundRect">
            <a:avLst>
              <a:gd name="adj" fmla="val 6486"/>
            </a:avLst>
          </a:prstGeom>
          <a:solidFill>
            <a:srgbClr val="FFF3C4"/>
          </a:solidFill>
          <a:ln w="15875">
            <a:solidFill>
              <a:srgbClr val="FFC10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198864" y="4663440"/>
            <a:ext cx="603504" cy="603504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31" name="Image 5" descr="/tmp/claude-0/-home-user-Waste/dcb1a03d-345b-5441-8898-3e9a4c6379b1/scratchpad/build/assets/ic-13-lightbulb-plai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17736" y="4782312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77240" y="4572000"/>
            <a:ext cx="8275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تذکر: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1" invalidUrl="" action="" tgtFrame="" tooltip="فرم ۶: 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۶-۱۸۰۳۹۲۰۶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در صورت عدم تفویض اختیار، و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2" invalidUrl="" action="" tgtFrame="" tooltip="فرم ۷: 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۷-۱۸۰۳۹۲۰۶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در صورت تفویض اختیار به رییس مرکز بهداشتی درمانی شهری/ روستایی جهت تایید رفع نواقص بهداشتی تکمیل می گردد.</a:t>
            </a:r>
            <a:endParaRPr lang="fa-IR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۱۳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رفع نواقص در مهلت مقرر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48640" y="1554480"/>
            <a:ext cx="94183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37360"/>
            <a:ext cx="658368" cy="658368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3736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۲-۶</a:t>
            </a:r>
            <a:endParaRPr lang="fa-IR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1719072"/>
            <a:ext cx="8092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8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نواقص بحرانی — پلمب و ارجاع به دادگاه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عدم رفع هر یک از نواقص بحرانی بعد از ۴۸ ساعت، واحد/ مکان/ قسمت مذکور با دستور مسئول بهداشت محل به مدت حداکثر یک هفته پلمب می گردد و پرونده مالک/ مدیر/ متصدی به دادگاه ارجاع می گردد. فک پلمب منوط به درخواست کتبی مالک/ مدیر/ متصدی و تایید مسئول بهداشت محل می باشد و عدم مراجعه و تقاضای فک پلمب توسط مالک/ مدیر/ متصدی به معنی پذیرش ادامه توقف فعالیت توسط ذی نفع است.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فرم‌های مرتبط: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فرم ۹: 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۹-۱۸۰۳۹۲۰۶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۱۰: ارجاع پرونده متخلف بهداشتی به دادگاه (نواقص بحرانی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۱۰-۱۸۰۳۹۲۰۶</a:t>
            </a:r>
            <a:endParaRPr lang="fa-IR" sz="1800" dirty="0"/>
          </a:p>
        </p:txBody>
      </p:sp>
      <p:sp>
        <p:nvSpPr>
          <p:cNvPr id="29" name="Shape 22"/>
          <p:cNvSpPr/>
          <p:nvPr/>
        </p:nvSpPr>
        <p:spPr>
          <a:xfrm>
            <a:off x="548640" y="4480560"/>
            <a:ext cx="94183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098280" y="4663440"/>
            <a:ext cx="658368" cy="658368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9052560" y="466344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۲-۷</a:t>
            </a:r>
            <a:endParaRPr lang="fa-IR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" y="4645152"/>
            <a:ext cx="8092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نواقص غیربحرانی — ورود به گردش کار اداری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عدم رفع نواقص غیر بحرانی پس از مهلت در نظر گرفته شده (حداکثر ۶۰ روزه)، نتیجه بازرسی وارد گردش کار اداری می گردد.</a:t>
            </a:r>
            <a:endParaRPr lang="fa-IR" sz="18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فرم ۱۲: گزارش کتبی عدم رفع نواقص غیربحرانی در مهلت مقرر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۱۲-۱۸۰۳۹۲۰۶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در صورت عدم تفویض اختیار  |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فرم ۱۳: گزارش کتبی عدم رفع نواقص غیربحرانی در مهلت مقرر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۱۳-۱۸۰۳۹۲۰۶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در صورت تفویض اختیار</a:t>
            </a:r>
            <a:endParaRPr lang="fa-IR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۱۴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اخطار و پلمب در نواقص غیربحرانی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48640" y="1600200"/>
            <a:ext cx="9418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83080"/>
            <a:ext cx="658368" cy="658368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8308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۲-۸</a:t>
            </a:r>
            <a:endParaRPr lang="fa-IR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1764792"/>
            <a:ext cx="8092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اخطار تعطیل ۴۸ ساعته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تایید گزارش نواقص بهداشتی غیربحرانی توسط مسئول بهداشت محل، اخطار تعطیل ۴۸ ساعته صادر می گردد.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فرم ۱۴: اخطار ۴۸ ساعته جهت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۱۴-۱۸۰۳۹۲۰۶</a:t>
            </a:r>
            <a:endParaRPr lang="fa-IR" sz="1900" dirty="0"/>
          </a:p>
        </p:txBody>
      </p:sp>
      <p:sp>
        <p:nvSpPr>
          <p:cNvPr id="29" name="Shape 22"/>
          <p:cNvSpPr/>
          <p:nvPr/>
        </p:nvSpPr>
        <p:spPr>
          <a:xfrm>
            <a:off x="548640" y="3383280"/>
            <a:ext cx="941832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098280" y="3566160"/>
            <a:ext cx="658368" cy="658368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9052560" y="356616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۲-۹</a:t>
            </a:r>
            <a:endParaRPr lang="fa-IR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" y="3547872"/>
            <a:ext cx="8092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تعطیل و ارجاع پرونده به دادگاه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درصورت عدم رفع نواقص غیربحرانی، واحد با تنظیم صورت مجلس حداکثر یک هفته تعطیل می گردد و پرونده مالک/ مدیر متصدی به دادگاه ارجاع می گردد. فک پلمب منوط به درخواست کتبی مالک/ مدیر/ متصدی و تایید مسئول بهداشت محل میباشد و عدم مراجعه و تقاضای فک پلمب توسط مالک/ مدیر/ متصدی به معنی پذیرش ادامه توقف فعالیت توسط ذی نفع است.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فرم‌های مرتبط: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۹: 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۹-۱۸۰۳۹۲۰۶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فرم ۱۱: ارجاع پرونده متخلف بهداشتی به دادگاه (نواقص غیربحرانی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۱۱-۱۸۰۳۹۲۰۶</a:t>
            </a:r>
            <a:endParaRPr lang="fa-IR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۱۵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انصراف از پلمب و فک غیرقانونی پلمب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394960" y="178308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E8F5E9"/>
          </a:solidFill>
          <a:ln w="19050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217920" y="15544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43A047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۲-۱۰  انصراف از پلمب</a:t>
            </a:r>
            <a:endParaRPr lang="fa-IR" sz="1800" dirty="0"/>
          </a:p>
        </p:txBody>
      </p:sp>
      <p:pic>
        <p:nvPicPr>
          <p:cNvPr id="27" name="Image 5" descr="/tmp/claude-0/-home-user-Waste/dcb1a03d-345b-5441-8898-3e9a4c6379b1/scratchpad/build/assets/ic-48-checkcircle-plai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97496" y="2130552"/>
            <a:ext cx="566928" cy="56692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669280" y="2788920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چنانچه طی گردش کار اداری لازم به منظور پلمب، مالک/ مدیر/ متصدی نسبت به رفع نواقص بهداشتی اقدام نماید با تنظیم صورت مجلس و تائید مسئول بهداشت محل، واحد/ مکان/ قسمت مذکور تعطیل نخواهد شد.</a:t>
            </a:r>
            <a:endParaRPr lang="fa-IR" sz="16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۱۵: صورت مجلس انصراف از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۱۵-۱۸۰۳۹۲۰۶</a:t>
            </a:r>
            <a:endParaRPr lang="fa-IR" sz="1650" dirty="0"/>
          </a:p>
        </p:txBody>
      </p:sp>
      <p:sp>
        <p:nvSpPr>
          <p:cNvPr id="29" name="Shape 21"/>
          <p:cNvSpPr/>
          <p:nvPr/>
        </p:nvSpPr>
        <p:spPr>
          <a:xfrm>
            <a:off x="548640" y="178308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1371600" y="15544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۲-۱۱  فک غیرقانونی پلمب</a:t>
            </a:r>
            <a:endParaRPr lang="fa-IR" sz="1800" dirty="0"/>
          </a:p>
        </p:txBody>
      </p:sp>
      <p:pic>
        <p:nvPicPr>
          <p:cNvPr id="31" name="Image 6" descr="/tmp/claude-0/-home-user-Waste/dcb1a03d-345b-5441-8898-3e9a4c6379b1/scratchpad/build/assets/ic-71-dangerous-plai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51176" y="2130552"/>
            <a:ext cx="566928" cy="566928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22960" y="2788920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 فک پلمب غیر قانونی واحد/ مکان/ قسمت، پرونده مالک/ مدیر/ متصدی مربوطه باید به دلیل فک پلمب غیر قانونی به دادگاه ارجاع گردد. نحوه تعطیل مجدد و بازگشایی واحد/ مکان/ قسمت طبق نظر دادگاه خواهد بود.</a:t>
            </a:r>
            <a:endParaRPr lang="fa-IR" sz="16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فرم ۱۶: اعلام تخلف فک پلمب بصورت غیرقانو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۱۶-۱۸۰۳۹۲۰۶</a:t>
            </a:r>
            <a:endParaRPr lang="fa-IR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۱۶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بازگشایی به منظور رفع نواقص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943600" y="1874520"/>
            <a:ext cx="3657600" cy="82296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035040" y="18745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۲-۱۲ درخواست کتبی</a:t>
            </a:r>
            <a:endParaRPr lang="fa-IR" sz="1800" dirty="0"/>
          </a:p>
        </p:txBody>
      </p:sp>
      <p:sp>
        <p:nvSpPr>
          <p:cNvPr id="27" name="Shape 20"/>
          <p:cNvSpPr/>
          <p:nvPr/>
        </p:nvSpPr>
        <p:spPr>
          <a:xfrm>
            <a:off x="8915400" y="1755648"/>
            <a:ext cx="1060704" cy="1060704"/>
          </a:xfrm>
          <a:prstGeom prst="ellipse">
            <a:avLst/>
          </a:prstGeom>
          <a:solidFill>
            <a:srgbClr val="1E88E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28" name="Image 5" descr="/tmp/claude-0/-home-user-Waste/dcb1a03d-345b-5441-8898-3e9a4c6379b1/scratchpad/build/assets/ic-11-description-plai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8755" y="1989003"/>
            <a:ext cx="593994" cy="59399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48640" y="16002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مالک/ مدیر/ متصدی باید جهت بازگشایی واحد/ مکان/ قسمت خود به منظور رفع نواقص بهداشتی از مسئول بهداشت محل به صورت کتبی درخواست نماید.  </a:t>
            </a:r>
            <a:pPr rtl="1" algn="r" indent="0" marL="0">
              <a:lnSpc>
                <a:spcPct val="115000"/>
              </a:lnSpc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۱۷: درخواست کتبی مالک/ مدیر/ متصدی مبنی بر بازگشایی واحد/ مکان/ قسمت به منظور رفع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۱۷-۱۸۰۳۹۲۰۶</a:t>
            </a:r>
            <a:endParaRPr lang="fa-IR" sz="1600" dirty="0"/>
          </a:p>
        </p:txBody>
      </p:sp>
      <p:sp>
        <p:nvSpPr>
          <p:cNvPr id="30" name="Shape 22"/>
          <p:cNvSpPr/>
          <p:nvPr/>
        </p:nvSpPr>
        <p:spPr>
          <a:xfrm>
            <a:off x="5943600" y="3429000"/>
            <a:ext cx="3657600" cy="82296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035040" y="34290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۲-۱۳ تعهد محضری</a:t>
            </a:r>
            <a:endParaRPr lang="fa-IR" sz="1800" dirty="0"/>
          </a:p>
        </p:txBody>
      </p:sp>
      <p:sp>
        <p:nvSpPr>
          <p:cNvPr id="32" name="Shape 24"/>
          <p:cNvSpPr/>
          <p:nvPr/>
        </p:nvSpPr>
        <p:spPr>
          <a:xfrm>
            <a:off x="8915400" y="3310128"/>
            <a:ext cx="1060704" cy="1060704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33" name="Image 6" descr="/tmp/claude-0/-home-user-Waste/dcb1a03d-345b-5441-8898-3e9a4c6379b1/scratchpad/build/assets/ic-39-assignmentturnedin-plai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8755" y="3543483"/>
            <a:ext cx="593994" cy="593994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48640" y="31546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اخذ تعهد محضری از مالک/ مدیر/ متصدی مبنی بر عدم استفاده از مجوز بازگشایی واحد به منظور رفع نواقص بهداشتی برای بهره برداری از واحد.  </a:t>
            </a:r>
            <a:pPr rtl="1" algn="r" indent="0" marL="0">
              <a:lnSpc>
                <a:spcPct val="115000"/>
              </a:lnSpc>
              <a:buNone/>
            </a:pPr>
            <a:r>
              <a:rPr lang="fa-IR" altLang="en-US" sz="16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فرم ۱۸: تعهد محض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۱۸-۱۸۰۳۹۲۰۶</a:t>
            </a:r>
            <a:endParaRPr lang="fa-IR" sz="1600" dirty="0"/>
          </a:p>
        </p:txBody>
      </p:sp>
      <p:sp>
        <p:nvSpPr>
          <p:cNvPr id="35" name="Shape 26"/>
          <p:cNvSpPr/>
          <p:nvPr/>
        </p:nvSpPr>
        <p:spPr>
          <a:xfrm>
            <a:off x="548640" y="4800600"/>
            <a:ext cx="9418320" cy="1325880"/>
          </a:xfrm>
          <a:prstGeom prst="roundRect">
            <a:avLst>
              <a:gd name="adj" fmla="val 8276"/>
            </a:avLst>
          </a:prstGeom>
          <a:solidFill>
            <a:srgbClr val="FFF3C4"/>
          </a:solidFill>
          <a:ln w="15875">
            <a:solidFill>
              <a:srgbClr val="FFC107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9198864" y="4983480"/>
            <a:ext cx="603504" cy="603504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37" name="Image 7" descr="/tmp/claude-0/-home-user-Waste/dcb1a03d-345b-5441-8898-3e9a4c6379b1/scratchpad/build/assets/ic-13-lightbulb-plai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17736" y="5102352"/>
            <a:ext cx="365760" cy="365760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77240" y="4892040"/>
            <a:ext cx="8275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تبصره: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بازگشایی مکان/ قسمت دارای نقص بهداشتی به منظور رفع نواقص بهداشتی با تایید مسئول بهداشت محل مجاز است و نیازی به اخذ تعهد محضری نیست.</a:t>
            </a:r>
            <a:endParaRPr lang="fa-IR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۱۷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فک پلمب و بهره برداری غیرمجاز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48640" y="1600200"/>
            <a:ext cx="941832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83080"/>
            <a:ext cx="658368" cy="658368"/>
          </a:xfrm>
          <a:prstGeom prst="ellipse">
            <a:avLst/>
          </a:prstGeom>
          <a:solidFill>
            <a:srgbClr val="1E88E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8308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3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۲-۱۴</a:t>
            </a:r>
            <a:endParaRPr lang="fa-IR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1764792"/>
            <a:ext cx="8092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1E88E5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فک پلمب برای رفع نواقص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فک پلمب به منظور رفع نواقص بهداشتی بدون بهره برداری توسط تیم بازرسی، با تنظیم صورت مجلس و تفهیم موضوع به مالک/ مدیر/ متصدی انجام می گردد.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فرم ۱۹: صورت مجلس فک پلمب به منظور رفع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۱۹-۱۸۰۳۹۲۰۶</a:t>
            </a:r>
            <a:endParaRPr lang="fa-IR" sz="1900" dirty="0"/>
          </a:p>
        </p:txBody>
      </p:sp>
      <p:sp>
        <p:nvSpPr>
          <p:cNvPr id="29" name="Shape 22"/>
          <p:cNvSpPr/>
          <p:nvPr/>
        </p:nvSpPr>
        <p:spPr>
          <a:xfrm>
            <a:off x="548640" y="3794760"/>
            <a:ext cx="94183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098280" y="3977640"/>
            <a:ext cx="658368" cy="658368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9052560" y="397764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3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۲-۱۵</a:t>
            </a:r>
            <a:endParaRPr lang="fa-IR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" y="3959352"/>
            <a:ext cx="8092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9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بهره برداری قبل از دریافت اجازه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6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چنانچه مالک/ مدیر/ متصدی قبل از دریافت اجازه بهره برداری اقدام به فعالیت نماید، واحد/ مکان/ قسمت مربوطه مجدداً به مدت دو هفته، تعطیل خواهد شد و به دلیل بهره برداری غیر مجاز، پرونده مالک/ مدیر/ متصدی به دادگاه ارجاع می گردد.</a:t>
            </a:r>
            <a:endParaRPr lang="fa-IR" sz="19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فرم‌های مرتبط: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۹: 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۹-۱۸۰۳۹۲۰۶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5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فرم ۲۰: اعلام تخلف بهره برداری غیر مجا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۲۰-۱۸۰۳۹۲۰۶</a:t>
            </a:r>
            <a:endParaRPr lang="fa-IR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1" name="Shape 6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۱۸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پلاکارد/ اطلاعیه و موارد طغیان بیماری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2 — Handling Health Deficiencies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943600" y="1783080"/>
            <a:ext cx="3657600" cy="822960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035040" y="17830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۲-۱۶ نصب پلاکارد</a:t>
            </a:r>
            <a:endParaRPr lang="fa-IR" sz="1800" dirty="0"/>
          </a:p>
        </p:txBody>
      </p:sp>
      <p:sp>
        <p:nvSpPr>
          <p:cNvPr id="27" name="Shape 20"/>
          <p:cNvSpPr/>
          <p:nvPr/>
        </p:nvSpPr>
        <p:spPr>
          <a:xfrm>
            <a:off x="8915400" y="1664208"/>
            <a:ext cx="1060704" cy="1060704"/>
          </a:xfrm>
          <a:prstGeom prst="ellipse">
            <a:avLst/>
          </a:prstGeom>
          <a:solidFill>
            <a:srgbClr val="1E88E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28" name="Image 5" descr="/tmp/claude-0/-home-user-Waste/dcb1a03d-345b-5441-8898-3e9a4c6379b1/scratchpad/build/assets/ic-61-feedback-plai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8755" y="1897563"/>
            <a:ext cx="593994" cy="59399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48640" y="16002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6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تمامی مراحل فوق نصب پلاکارد/ اطلاعیه در صورت لزوم با ذکر علت، طبق نظر مسئول بهداشت محل انجام می گردد.</a:t>
            </a:r>
            <a:endParaRPr lang="fa-IR" sz="1600" dirty="0"/>
          </a:p>
        </p:txBody>
      </p:sp>
      <p:sp>
        <p:nvSpPr>
          <p:cNvPr id="30" name="Shape 22"/>
          <p:cNvSpPr/>
          <p:nvPr/>
        </p:nvSpPr>
        <p:spPr>
          <a:xfrm>
            <a:off x="548640" y="3063240"/>
            <a:ext cx="9418320" cy="3108960"/>
          </a:xfrm>
          <a:prstGeom prst="roundRect">
            <a:avLst>
              <a:gd name="adj" fmla="val 3529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09360" y="283464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تبصره: طغیان/ اپیدمی بیماری</a:t>
            </a:r>
            <a:endParaRPr lang="fa-IR" sz="1800" dirty="0"/>
          </a:p>
        </p:txBody>
      </p:sp>
      <p:sp>
        <p:nvSpPr>
          <p:cNvPr id="32" name="Shape 24"/>
          <p:cNvSpPr/>
          <p:nvPr/>
        </p:nvSpPr>
        <p:spPr>
          <a:xfrm>
            <a:off x="868680" y="4069080"/>
            <a:ext cx="1097280" cy="109728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33" name="Image 6" descr="/tmp/claude-0/-home-user-Waste/dcb1a03d-345b-5441-8898-3e9a4c6379b1/scratchpad/build/assets/ic-70-warning-plai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5568" y="4297680"/>
            <a:ext cx="603504" cy="603504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2240280" y="3429000"/>
            <a:ext cx="7452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just" indent="0" marL="0">
              <a:lnSpc>
                <a:spcPct val="130000"/>
              </a:lnSpc>
              <a:buNone/>
            </a:pPr>
            <a:r>
              <a:rPr lang="fa-IR" altLang="en-US" sz="17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صورتی که تشخیص داده شود وقوع طغیان/ اپیدمی بیماری، به دلیل عدم رعایت موازین بهداشتی توسط مراکز و اماکن موضوع این دستورالعمل رخ داده است، پس از اعطای مهلت قانونی واحد مورد نظر تعطیل و پرونده مالک/ مدیر/ متصدی به دادگاه ارجاع و برای وی درخواست اشد مجازات می گردد. در این مورد نصب پلاکارد/ اطلاعیه مبنی بر عدم رعایت موازین بهداشتی الزامی می باشد.</a:t>
            </a:r>
            <a:endParaRPr lang="fa-IR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3" name="Image 0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475488"/>
            <a:ext cx="512064" cy="51206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9704" y="822960"/>
            <a:ext cx="3200400" cy="2743200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D54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5" name="Image 1" descr="/tmp/claude-0/-home-user-Waste/dcb1a03d-345b-5441-8898-3e9a4c6379b1/scratchpad/build/assets/ic-50-findinpage-pl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920240"/>
            <a:ext cx="1316736" cy="1316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384048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6000" b="1" dirty="0">
                <a:solidFill>
                  <a:srgbClr val="FFC10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 — مواد غذایی فاسد، تاریخ مصرف گذشته یا فاقد مجوز</a:t>
            </a:r>
            <a:endParaRPr lang="fa-IR" sz="2200" dirty="0"/>
          </a:p>
        </p:txBody>
      </p:sp>
      <p:pic>
        <p:nvPicPr>
          <p:cNvPr id="8" name="Image 2" descr="/tmp/claude-0/-home-user-Waste/dcb1a03d-345b-5441-8898-3e9a4c6379b1/scratchpad/build/assets/home.png">
            <a:hlinkClick r:id="rId5" tooltip="فهرست مطالب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61264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3" name="Shape 8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۲۰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۳: فرایند اجرایی ماده ۳۱ آیین نامه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Article 3 — Spoiled, Expired or Unlicensed Food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349240" y="1554480"/>
            <a:ext cx="4617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098280" y="1737360"/>
            <a:ext cx="658368" cy="658368"/>
          </a:xfrm>
          <a:prstGeom prst="ellipse">
            <a:avLst/>
          </a:prstGeom>
          <a:solidFill>
            <a:srgbClr val="0D3B8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9052560" y="173736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۳-۱</a:t>
            </a:r>
            <a:endParaRPr lang="fa-IR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5623560" y="171907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7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جمع آوری و توقیف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جمع آوری و توقیف مواد غذایی فاسد، تاریخ مصرف گذشته و یا فاقد مجوزهای بهداشتی (مشمول مجوز).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فرم ۲۱: صورت مجلس جمع آوری/ توقیف مواد غذایی فاسد/ تاریخ مصرف گذشته/ فاقد مجوزهای بهداشتی (مشمول مجوز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۲۱-۱۸۰۳۹۲۰۶</a:t>
            </a:r>
            <a:endParaRPr lang="fa-IR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1554480"/>
            <a:ext cx="4617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297680" y="1737360"/>
            <a:ext cx="658368" cy="658368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Text 24"/>
          <p:cNvSpPr txBox="1"/>
          <p:nvPr/>
        </p:nvSpPr>
        <p:spPr>
          <a:xfrm>
            <a:off x="4251960" y="173736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۳-۲</a:t>
            </a:r>
            <a:endParaRPr lang="fa-IR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822960" y="171907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7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معدوم سازی/ ارجاع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معدوم سازی/ ارجاع مواد غذایی فاسد، تاریخ مصرف گذشته و یا فاقد مجوزهای بهداشتی (مشمول مجوز)، طبق صورت مجلس.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فرم ۲۲: صورت مجلس معدوم سازی/ ارجاع مواد غذای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۲۲-۱۸۰۳۹۲۰۶</a:t>
            </a:r>
            <a:endParaRPr lang="fa-IR" sz="1700" dirty="0"/>
          </a:p>
        </p:txBody>
      </p:sp>
      <p:sp>
        <p:nvSpPr>
          <p:cNvPr id="33" name="Shape 26"/>
          <p:cNvSpPr/>
          <p:nvPr/>
        </p:nvSpPr>
        <p:spPr>
          <a:xfrm>
            <a:off x="5349240" y="3520440"/>
            <a:ext cx="4617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098280" y="3703320"/>
            <a:ext cx="658368" cy="658368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9052560" y="370332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۳-۳</a:t>
            </a:r>
            <a:endParaRPr lang="fa-IR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5623560" y="368503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7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ارجاع به دادگاه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ارجاع پرونده متخلف بهداشتی به دادگاه به دلیل عرضه مواد غذایی فاسد، تاریخ مصرف گذشته و یا فاقد مجوزهای بهداشتی (مشمول مجوز).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فرم ۲۳: ارجاع پرونده متخلف بهداشتی به دادگاه (به دلیل عرضه مواد غذایی فاسد، تاریخ مصرف گذشته و یا فاقد مجوزهای بهداشتی (مشمول مجوز)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۲۳-۱۸۰۳۹۲۰۶</a:t>
            </a:r>
            <a:endParaRPr lang="fa-IR" sz="1700" dirty="0"/>
          </a:p>
        </p:txBody>
      </p:sp>
      <p:sp>
        <p:nvSpPr>
          <p:cNvPr id="37" name="Shape 30"/>
          <p:cNvSpPr/>
          <p:nvPr/>
        </p:nvSpPr>
        <p:spPr>
          <a:xfrm>
            <a:off x="548640" y="3520440"/>
            <a:ext cx="4617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6E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4297680" y="3703320"/>
            <a:ext cx="658368" cy="658368"/>
          </a:xfrm>
          <a:prstGeom prst="ellipse">
            <a:avLst/>
          </a:prstGeom>
          <a:solidFill>
            <a:srgbClr val="43A047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4251960" y="3703320"/>
            <a:ext cx="749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۳-۴</a:t>
            </a:r>
            <a:endParaRPr lang="fa-IR" sz="1500" dirty="0"/>
          </a:p>
        </p:txBody>
      </p:sp>
      <p:sp>
        <p:nvSpPr>
          <p:cNvPr id="40" name="Text 33"/>
          <p:cNvSpPr txBox="1"/>
          <p:nvPr/>
        </p:nvSpPr>
        <p:spPr>
          <a:xfrm>
            <a:off x="822960" y="368503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7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نظر سازمان‌ها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4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اعلام نظر از سازمان های ذی ربط مبنی بر تعیین تکلیف وضعیت مواد غذایی توقیف شده.</a:t>
            </a:r>
            <a:endParaRPr lang="fa-IR" sz="170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فرم ۲۴: درخواست اعلام نظر از سازمان های ذی ربط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۲۴-۱۸۰۳۹۲۰۶</a:t>
            </a:r>
            <a:endParaRPr lang="fa-IR" sz="170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5596128"/>
            <a:ext cx="9418320" cy="566928"/>
          </a:xfrm>
          <a:prstGeom prst="roundRect">
            <a:avLst>
              <a:gd name="adj" fmla="val 16129"/>
            </a:avLst>
          </a:prstGeom>
          <a:solidFill>
            <a:srgbClr val="0D3B8C"/>
          </a:solidFill>
          <a:ln>
            <a:solidFill>
              <a:srgbClr val="0D3B8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این دستورالعمل مشتمل بر ۳ ماده و ۲ تبصره بوده و از تاریخ ابلاغ، لازم الاجرا می باشد.</a:t>
            </a:r>
            <a:endParaRPr lang="fa-IR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3" name="Image 0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475488"/>
            <a:ext cx="512064" cy="51206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9704" y="822960"/>
            <a:ext cx="3200400" cy="2743200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D54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5" name="Image 1" descr="/tmp/claude-0/-home-user-Waste/dcb1a03d-345b-5441-8898-3e9a4c6379b1/scratchpad/build/assets/ic-4-balance-pl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920240"/>
            <a:ext cx="1316736" cy="1316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384048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6000" b="1" dirty="0">
                <a:solidFill>
                  <a:srgbClr val="FFC10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نمودارهای گردش کار</a:t>
            </a:r>
            <a:endParaRPr lang="fa-IR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نواقص غیربحرانی و نواقص بحرانی</a:t>
            </a:r>
            <a:endParaRPr lang="fa-IR" sz="2200" dirty="0"/>
          </a:p>
        </p:txBody>
      </p:sp>
      <p:pic>
        <p:nvPicPr>
          <p:cNvPr id="8" name="Image 2" descr="/tmp/claude-0/-home-user-Waste/dcb1a03d-345b-5441-8898-3e9a4c6379b1/scratchpad/build/assets/home.png">
            <a:hlinkClick r:id="rId5" tooltip="فهرست مطالب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61264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۲۲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 نواقص غیر بحرانی (۱ از 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Non-critical Deficiencies Workflow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257800" y="1481328"/>
            <a:ext cx="4709160" cy="342571"/>
          </a:xfrm>
          <a:prstGeom prst="flowChartTerminator">
            <a:avLst/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5330952" y="1481328"/>
            <a:ext cx="4562856" cy="342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بازرسی از واحد صنفی</a:t>
            </a:r>
            <a:endParaRPr lang="fa-IR" sz="1300" dirty="0"/>
          </a:p>
        </p:txBody>
      </p:sp>
      <p:sp>
        <p:nvSpPr>
          <p:cNvPr id="27" name="Shape 20"/>
          <p:cNvSpPr/>
          <p:nvPr/>
        </p:nvSpPr>
        <p:spPr>
          <a:xfrm>
            <a:off x="7612380" y="1823899"/>
            <a:ext cx="914" cy="20554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257800" y="2029441"/>
            <a:ext cx="4709160" cy="493302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964174" y="2029441"/>
            <a:ext cx="3296412" cy="493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نقص غیر بحرانی دارد؟</a:t>
            </a:r>
            <a:endParaRPr lang="fa-IR" sz="1300" dirty="0"/>
          </a:p>
        </p:txBody>
      </p:sp>
      <p:sp>
        <p:nvSpPr>
          <p:cNvPr id="30" name="Shape 23"/>
          <p:cNvSpPr/>
          <p:nvPr/>
        </p:nvSpPr>
        <p:spPr>
          <a:xfrm flipH="1">
            <a:off x="4892040" y="2276092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4873752" y="19926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32" name="Shape 25"/>
          <p:cNvSpPr/>
          <p:nvPr/>
        </p:nvSpPr>
        <p:spPr>
          <a:xfrm>
            <a:off x="1783080" y="2063698"/>
            <a:ext cx="3108960" cy="424788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1856232" y="2063698"/>
            <a:ext cx="2962656" cy="42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اقدام قانونی ندارد، ثبت در سامانه/ پرونده</a:t>
            </a:r>
            <a:endParaRPr lang="fa-IR" sz="1300" dirty="0"/>
          </a:p>
        </p:txBody>
      </p:sp>
      <p:sp>
        <p:nvSpPr>
          <p:cNvPr id="34" name="Shape 27"/>
          <p:cNvSpPr/>
          <p:nvPr/>
        </p:nvSpPr>
        <p:spPr>
          <a:xfrm>
            <a:off x="7612380" y="2522743"/>
            <a:ext cx="914" cy="20554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7648956" y="250445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36" name="Shape 29"/>
          <p:cNvSpPr/>
          <p:nvPr/>
        </p:nvSpPr>
        <p:spPr>
          <a:xfrm>
            <a:off x="5257800" y="2728285"/>
            <a:ext cx="4709160" cy="493302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5964174" y="2728285"/>
            <a:ext cx="3296412" cy="493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نواقص در محل قابل رفع است؟</a:t>
            </a:r>
            <a:endParaRPr lang="fa-IR" sz="1300" dirty="0"/>
          </a:p>
        </p:txBody>
      </p:sp>
      <p:sp>
        <p:nvSpPr>
          <p:cNvPr id="38" name="Shape 31"/>
          <p:cNvSpPr/>
          <p:nvPr/>
        </p:nvSpPr>
        <p:spPr>
          <a:xfrm flipH="1">
            <a:off x="4892040" y="2974936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9" name="Text 32"/>
          <p:cNvSpPr txBox="1"/>
          <p:nvPr/>
        </p:nvSpPr>
        <p:spPr>
          <a:xfrm>
            <a:off x="4873752" y="26914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40" name="Shape 33"/>
          <p:cNvSpPr/>
          <p:nvPr/>
        </p:nvSpPr>
        <p:spPr>
          <a:xfrm>
            <a:off x="1783080" y="2762542"/>
            <a:ext cx="3108960" cy="424788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1" name="Text 34"/>
          <p:cNvSpPr txBox="1"/>
          <p:nvPr/>
        </p:nvSpPr>
        <p:spPr>
          <a:xfrm>
            <a:off x="1856232" y="2762542"/>
            <a:ext cx="2962656" cy="42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اقدام قانونی ندارد، ثبت در سامانه/ پرونده با علامت +</a:t>
            </a:r>
            <a:endParaRPr lang="fa-IR" sz="1300" dirty="0"/>
          </a:p>
        </p:txBody>
      </p:sp>
      <p:sp>
        <p:nvSpPr>
          <p:cNvPr id="42" name="Shape 35"/>
          <p:cNvSpPr/>
          <p:nvPr/>
        </p:nvSpPr>
        <p:spPr>
          <a:xfrm>
            <a:off x="7612380" y="3221587"/>
            <a:ext cx="914" cy="20554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3" name="Text 36"/>
          <p:cNvSpPr txBox="1"/>
          <p:nvPr/>
        </p:nvSpPr>
        <p:spPr>
          <a:xfrm>
            <a:off x="7648956" y="3203299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44" name="Shape 37"/>
          <p:cNvSpPr/>
          <p:nvPr/>
        </p:nvSpPr>
        <p:spPr>
          <a:xfrm>
            <a:off x="5257800" y="3427129"/>
            <a:ext cx="4709160" cy="548113"/>
          </a:xfrm>
          <a:prstGeom prst="roundRect">
            <a:avLst>
              <a:gd name="adj" fmla="val 10010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5" name="Text 38"/>
          <p:cNvSpPr txBox="1"/>
          <p:nvPr/>
        </p:nvSpPr>
        <p:spPr>
          <a:xfrm>
            <a:off x="5330952" y="3427129"/>
            <a:ext cx="4562856" cy="54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معرفی واحد صنفی دارای نقص غیربحرانی به مسئول بهداشت محل طبق گردش کار اداری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گزارش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گزارش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۲</a:t>
            </a:r>
            <a:endParaRPr lang="fa-IR" sz="1300" dirty="0"/>
          </a:p>
        </p:txBody>
      </p:sp>
      <p:sp>
        <p:nvSpPr>
          <p:cNvPr id="46" name="Shape 39"/>
          <p:cNvSpPr/>
          <p:nvPr/>
        </p:nvSpPr>
        <p:spPr>
          <a:xfrm>
            <a:off x="7612380" y="3975242"/>
            <a:ext cx="914" cy="20554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7" name="Shape 40"/>
          <p:cNvSpPr/>
          <p:nvPr/>
        </p:nvSpPr>
        <p:spPr>
          <a:xfrm>
            <a:off x="5257800" y="4180784"/>
            <a:ext cx="4709160" cy="548113"/>
          </a:xfrm>
          <a:prstGeom prst="roundRect">
            <a:avLst>
              <a:gd name="adj" fmla="val 10010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8" name="Text 41"/>
          <p:cNvSpPr txBox="1"/>
          <p:nvPr/>
        </p:nvSpPr>
        <p:spPr>
          <a:xfrm>
            <a:off x="5330952" y="4180784"/>
            <a:ext cx="4562856" cy="54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ابلاغ اخطار با مهلت حداکثر تا ۶۰ روز با تایید و دستور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اخطار برای رفع نواقص غیر بحرا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۴</a:t>
            </a:r>
            <a:endParaRPr lang="fa-IR" sz="1300" dirty="0"/>
          </a:p>
        </p:txBody>
      </p:sp>
      <p:sp>
        <p:nvSpPr>
          <p:cNvPr id="49" name="Shape 42"/>
          <p:cNvSpPr/>
          <p:nvPr/>
        </p:nvSpPr>
        <p:spPr>
          <a:xfrm>
            <a:off x="7612380" y="4728897"/>
            <a:ext cx="914" cy="222671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5257800" y="4951568"/>
            <a:ext cx="4709160" cy="787912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5964174" y="4951568"/>
            <a:ext cx="3296412" cy="787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آیا بعد از مهلت تعیین شده نواقص برطرف گردیدند؟</a:t>
            </a:r>
            <a:endParaRPr lang="fa-IR" sz="1300" dirty="0"/>
          </a:p>
        </p:txBody>
      </p:sp>
      <p:sp>
        <p:nvSpPr>
          <p:cNvPr id="52" name="Shape 45"/>
          <p:cNvSpPr/>
          <p:nvPr/>
        </p:nvSpPr>
        <p:spPr>
          <a:xfrm flipH="1">
            <a:off x="4892040" y="5345524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3" name="Text 46"/>
          <p:cNvSpPr txBox="1"/>
          <p:nvPr/>
        </p:nvSpPr>
        <p:spPr>
          <a:xfrm>
            <a:off x="4873752" y="50620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54" name="Shape 47"/>
          <p:cNvSpPr/>
          <p:nvPr/>
        </p:nvSpPr>
        <p:spPr>
          <a:xfrm>
            <a:off x="3593592" y="4934440"/>
            <a:ext cx="1298448" cy="822169"/>
          </a:xfrm>
          <a:prstGeom prst="roundRect">
            <a:avLst>
              <a:gd name="adj" fmla="val 6673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5" name="Text 48"/>
          <p:cNvSpPr txBox="1"/>
          <p:nvPr/>
        </p:nvSpPr>
        <p:spPr>
          <a:xfrm>
            <a:off x="3666744" y="4934440"/>
            <a:ext cx="1152144" cy="822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کتبی مالک/ مدیر/ متصدی مبنی بر رفع نواقص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اعلام کتبی متصدی مبنی بر رفع نواقص بهداشتی و درخواست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۵</a:t>
            </a:r>
            <a:endParaRPr lang="fa-IR" sz="1150" dirty="0"/>
          </a:p>
        </p:txBody>
      </p:sp>
      <p:sp>
        <p:nvSpPr>
          <p:cNvPr id="56" name="Shape 49"/>
          <p:cNvSpPr/>
          <p:nvPr/>
        </p:nvSpPr>
        <p:spPr>
          <a:xfrm flipH="1">
            <a:off x="3355848" y="5345524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7" name="Shape 50"/>
          <p:cNvSpPr/>
          <p:nvPr/>
        </p:nvSpPr>
        <p:spPr>
          <a:xfrm>
            <a:off x="2057400" y="4934440"/>
            <a:ext cx="1298448" cy="822169"/>
          </a:xfrm>
          <a:prstGeom prst="roundRect">
            <a:avLst>
              <a:gd name="adj" fmla="val 6673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8" name="Text 51"/>
          <p:cNvSpPr txBox="1"/>
          <p:nvPr/>
        </p:nvSpPr>
        <p:spPr>
          <a:xfrm>
            <a:off x="2130552" y="4934440"/>
            <a:ext cx="1152144" cy="822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انجام بازرسی و تایید مسئول بهداشت محل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0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۶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1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۷</a:t>
            </a:r>
            <a:endParaRPr lang="fa-IR" sz="1150" dirty="0"/>
          </a:p>
        </p:txBody>
      </p:sp>
      <p:sp>
        <p:nvSpPr>
          <p:cNvPr id="59" name="Shape 52"/>
          <p:cNvSpPr/>
          <p:nvPr/>
        </p:nvSpPr>
        <p:spPr>
          <a:xfrm flipH="1">
            <a:off x="1819656" y="5345524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60" name="Shape 53"/>
          <p:cNvSpPr/>
          <p:nvPr/>
        </p:nvSpPr>
        <p:spPr>
          <a:xfrm>
            <a:off x="521208" y="4934440"/>
            <a:ext cx="1298448" cy="822169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61" name="Text 54"/>
          <p:cNvSpPr txBox="1"/>
          <p:nvPr/>
        </p:nvSpPr>
        <p:spPr>
          <a:xfrm>
            <a:off x="594360" y="4934440"/>
            <a:ext cx="1152144" cy="822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صدور اجازه بهره برداری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2" invalidUrl="" action="" tgtFrame="" tooltip="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۸</a:t>
            </a:r>
            <a:endParaRPr lang="fa-IR" sz="1150" dirty="0"/>
          </a:p>
        </p:txBody>
      </p:sp>
      <p:sp>
        <p:nvSpPr>
          <p:cNvPr id="62" name="Shape 55"/>
          <p:cNvSpPr/>
          <p:nvPr/>
        </p:nvSpPr>
        <p:spPr>
          <a:xfrm>
            <a:off x="7612380" y="5739481"/>
            <a:ext cx="914" cy="201168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63" name="Shape 56"/>
          <p:cNvSpPr/>
          <p:nvPr/>
        </p:nvSpPr>
        <p:spPr>
          <a:xfrm>
            <a:off x="7420356" y="5958937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7420356" y="59589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الف</a:t>
            </a:r>
            <a:endParaRPr lang="fa-IR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۲۳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 نواقص غیر بحرانی (۲ از 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Non-critical Deficiencies Workflow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7420356" y="1435608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420356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الف</a:t>
            </a:r>
            <a:endParaRPr lang="fa-IR" sz="1200" dirty="0"/>
          </a:p>
        </p:txBody>
      </p:sp>
      <p:sp>
        <p:nvSpPr>
          <p:cNvPr id="27" name="Shape 20"/>
          <p:cNvSpPr/>
          <p:nvPr/>
        </p:nvSpPr>
        <p:spPr>
          <a:xfrm>
            <a:off x="7612380" y="1819656"/>
            <a:ext cx="914" cy="182880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257800" y="2029968"/>
            <a:ext cx="4709160" cy="684703"/>
          </a:xfrm>
          <a:prstGeom prst="roundRect">
            <a:avLst>
              <a:gd name="adj" fmla="val 8013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5330952" y="2029968"/>
            <a:ext cx="4562856" cy="684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گزارش کتبی عدم رفع نواقص و صدور اخطار تعطیل ۴۸ ساعته با تایید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گزارش کتبی عدم رفع نواقص غیربحرانی در مهلت مقرر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۱۲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گزارش کتبی عدم رفع نواقص غیربحرانی در مهلت مقرر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۱۳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اخطار ۴۸ ساعته جهت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۱۴</a:t>
            </a:r>
            <a:endParaRPr lang="fa-IR" sz="1300" dirty="0"/>
          </a:p>
        </p:txBody>
      </p:sp>
      <p:sp>
        <p:nvSpPr>
          <p:cNvPr id="30" name="Shape 23"/>
          <p:cNvSpPr/>
          <p:nvPr/>
        </p:nvSpPr>
        <p:spPr>
          <a:xfrm>
            <a:off x="7612380" y="2714671"/>
            <a:ext cx="914" cy="266273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5257800" y="2980944"/>
            <a:ext cx="4709160" cy="1027054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964174" y="2980944"/>
            <a:ext cx="3296412" cy="1027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قبل از پلمب و در مهلت اخطار و مراحل گردش کار اداری، آیا نواقص برطرف شده اند؟</a:t>
            </a:r>
            <a:endParaRPr lang="fa-IR" sz="1300" dirty="0"/>
          </a:p>
        </p:txBody>
      </p:sp>
      <p:sp>
        <p:nvSpPr>
          <p:cNvPr id="33" name="Shape 26"/>
          <p:cNvSpPr/>
          <p:nvPr/>
        </p:nvSpPr>
        <p:spPr>
          <a:xfrm flipH="1">
            <a:off x="4892040" y="3494471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4" name="Text 27"/>
          <p:cNvSpPr txBox="1"/>
          <p:nvPr/>
        </p:nvSpPr>
        <p:spPr>
          <a:xfrm>
            <a:off x="4873752" y="3211007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35" name="Shape 28"/>
          <p:cNvSpPr/>
          <p:nvPr/>
        </p:nvSpPr>
        <p:spPr>
          <a:xfrm>
            <a:off x="3593592" y="2942905"/>
            <a:ext cx="1298448" cy="1103132"/>
          </a:xfrm>
          <a:prstGeom prst="roundRect">
            <a:avLst>
              <a:gd name="adj" fmla="val 4973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3666744" y="2942905"/>
            <a:ext cx="1152144" cy="1103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کتبی مالک/ مدیر/ متصدی مبنی بر رفع نواقص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اعلام کتبی متصدی مبنی بر رفع نواقص بهداشتی و درخواست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۵</a:t>
            </a:r>
            <a:endParaRPr lang="fa-IR" sz="1150" dirty="0"/>
          </a:p>
        </p:txBody>
      </p:sp>
      <p:sp>
        <p:nvSpPr>
          <p:cNvPr id="37" name="Shape 30"/>
          <p:cNvSpPr/>
          <p:nvPr/>
        </p:nvSpPr>
        <p:spPr>
          <a:xfrm flipH="1">
            <a:off x="3355848" y="3494471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8" name="Shape 31"/>
          <p:cNvSpPr/>
          <p:nvPr/>
        </p:nvSpPr>
        <p:spPr>
          <a:xfrm>
            <a:off x="2057400" y="2942905"/>
            <a:ext cx="1298448" cy="1103132"/>
          </a:xfrm>
          <a:prstGeom prst="roundRect">
            <a:avLst>
              <a:gd name="adj" fmla="val 4973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2130552" y="2942905"/>
            <a:ext cx="1152144" cy="1103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انجام بازرسی و تنظیم صورت مجلس انصراف از پلمب با تایید مسئول بهداشت محل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0" invalidUrl="" action="" tgtFrame="" tooltip="صورت مجلس انصراف از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۱۵</a:t>
            </a:r>
            <a:endParaRPr lang="fa-IR" sz="1150" dirty="0"/>
          </a:p>
        </p:txBody>
      </p:sp>
      <p:sp>
        <p:nvSpPr>
          <p:cNvPr id="40" name="Shape 33"/>
          <p:cNvSpPr/>
          <p:nvPr/>
        </p:nvSpPr>
        <p:spPr>
          <a:xfrm flipH="1">
            <a:off x="1819656" y="3494471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1" name="Shape 34"/>
          <p:cNvSpPr/>
          <p:nvPr/>
        </p:nvSpPr>
        <p:spPr>
          <a:xfrm>
            <a:off x="521208" y="2942905"/>
            <a:ext cx="1298448" cy="1103132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2" name="Text 35"/>
          <p:cNvSpPr txBox="1"/>
          <p:nvPr/>
        </p:nvSpPr>
        <p:spPr>
          <a:xfrm>
            <a:off x="594360" y="2942905"/>
            <a:ext cx="1152144" cy="1103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اقدام قانونی ندارد، ثبت در سامانه/ پرونده</a:t>
            </a:r>
            <a:endParaRPr lang="fa-IR" sz="1150" dirty="0"/>
          </a:p>
        </p:txBody>
      </p:sp>
      <p:sp>
        <p:nvSpPr>
          <p:cNvPr id="43" name="Shape 36"/>
          <p:cNvSpPr/>
          <p:nvPr/>
        </p:nvSpPr>
        <p:spPr>
          <a:xfrm>
            <a:off x="7612380" y="4007998"/>
            <a:ext cx="914" cy="266273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4" name="Text 37"/>
          <p:cNvSpPr txBox="1"/>
          <p:nvPr/>
        </p:nvSpPr>
        <p:spPr>
          <a:xfrm>
            <a:off x="7648956" y="398971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45" name="Shape 38"/>
          <p:cNvSpPr/>
          <p:nvPr/>
        </p:nvSpPr>
        <p:spPr>
          <a:xfrm>
            <a:off x="5257800" y="4274271"/>
            <a:ext cx="4709160" cy="684703"/>
          </a:xfrm>
          <a:prstGeom prst="roundRect">
            <a:avLst>
              <a:gd name="adj" fmla="val 8013"/>
            </a:avLst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6" name="Text 39"/>
          <p:cNvSpPr txBox="1"/>
          <p:nvPr/>
        </p:nvSpPr>
        <p:spPr>
          <a:xfrm>
            <a:off x="5330952" y="4274271"/>
            <a:ext cx="4562856" cy="684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پلمب واحد مربوطه با تایید مسئول بهداشت محل با تنظیم صورت مجلس، حداکثر به مدت یک هفته و ارجاع پرونده به دادگاه *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1" invalidUrl="" action="" tgtFrame="" tooltip="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۹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2" invalidUrl="" action="" tgtFrame="" tooltip="ارجاع پرونده متخلف بهداشتی به دادگاه (نواقص غیربحرانی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۱۱</a:t>
            </a:r>
            <a:endParaRPr lang="fa-IR" sz="1300" dirty="0"/>
          </a:p>
        </p:txBody>
      </p:sp>
      <p:sp>
        <p:nvSpPr>
          <p:cNvPr id="47" name="Shape 40"/>
          <p:cNvSpPr/>
          <p:nvPr/>
        </p:nvSpPr>
        <p:spPr>
          <a:xfrm>
            <a:off x="7612380" y="4958974"/>
            <a:ext cx="914" cy="22823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5257800" y="5187208"/>
            <a:ext cx="4709160" cy="608625"/>
          </a:xfrm>
          <a:prstGeom prst="roundRect">
            <a:avLst>
              <a:gd name="adj" fmla="val 9014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9" name="Text 42"/>
          <p:cNvSpPr txBox="1"/>
          <p:nvPr/>
        </p:nvSpPr>
        <p:spPr>
          <a:xfrm>
            <a:off x="5330952" y="5187208"/>
            <a:ext cx="4562856" cy="60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کتبی متصدی از مسئول بهداشت محل جهت بازگشایی به منظور رفع نواقص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3" invalidUrl="" action="" tgtFrame="" tooltip="درخواست کتبی مالک/ مدیر/ متصدی مبنی بر بازگشایی واحد/ مکان/ قسمت به منظور رفع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۱۷</a:t>
            </a:r>
            <a:endParaRPr lang="fa-IR" sz="1300" dirty="0"/>
          </a:p>
        </p:txBody>
      </p:sp>
      <p:sp>
        <p:nvSpPr>
          <p:cNvPr id="50" name="Shape 43"/>
          <p:cNvSpPr/>
          <p:nvPr/>
        </p:nvSpPr>
        <p:spPr>
          <a:xfrm>
            <a:off x="7612380" y="5795833"/>
            <a:ext cx="914" cy="201168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7420356" y="6015289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7420356" y="60152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</a:t>
            </a:r>
            <a:endParaRPr lang="fa-IR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۲۴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 نواقص غیر بحرانی (۳ از 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Non-critical Deficiencies Workflow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7420356" y="1435608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420356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</a:t>
            </a:r>
            <a:endParaRPr lang="fa-IR" sz="1200" dirty="0"/>
          </a:p>
        </p:txBody>
      </p:sp>
      <p:sp>
        <p:nvSpPr>
          <p:cNvPr id="27" name="Shape 20"/>
          <p:cNvSpPr/>
          <p:nvPr/>
        </p:nvSpPr>
        <p:spPr>
          <a:xfrm>
            <a:off x="7612380" y="1819656"/>
            <a:ext cx="914" cy="182880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257800" y="2029968"/>
            <a:ext cx="4709160" cy="654341"/>
          </a:xfrm>
          <a:prstGeom prst="roundRect">
            <a:avLst>
              <a:gd name="adj" fmla="val 8385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5330952" y="2029968"/>
            <a:ext cx="4562856" cy="6543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مورد واحد صنفی: اخذ تعهد محضری با تایید مسئول بهداشت محل/ در مورد مکان یا قسمت: صرفاً با تأیید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تعهد محض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۱۸</a:t>
            </a:r>
            <a:endParaRPr lang="fa-IR" sz="1300" dirty="0"/>
          </a:p>
        </p:txBody>
      </p:sp>
      <p:sp>
        <p:nvSpPr>
          <p:cNvPr id="30" name="Shape 23"/>
          <p:cNvSpPr/>
          <p:nvPr/>
        </p:nvSpPr>
        <p:spPr>
          <a:xfrm>
            <a:off x="7612380" y="2684309"/>
            <a:ext cx="914" cy="18903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5257800" y="2873341"/>
            <a:ext cx="4709160" cy="581637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5330952" y="2873341"/>
            <a:ext cx="4562856" cy="58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فک پلمب قسمت مربوطه با دستور مسئول بهداشت محل به منظور رفع نقص با تنظیم صورت مجلس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صورت مجلس فک پلمب به منظور رفع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۱۹</a:t>
            </a:r>
            <a:endParaRPr lang="fa-IR" sz="1300" dirty="0"/>
          </a:p>
        </p:txBody>
      </p:sp>
      <p:sp>
        <p:nvSpPr>
          <p:cNvPr id="33" name="Shape 26"/>
          <p:cNvSpPr/>
          <p:nvPr/>
        </p:nvSpPr>
        <p:spPr>
          <a:xfrm>
            <a:off x="7612380" y="3454978"/>
            <a:ext cx="914" cy="279913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5257800" y="3734891"/>
            <a:ext cx="4709160" cy="581637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964174" y="3734891"/>
            <a:ext cx="3296412" cy="58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آیا رفع نقص انجام شده است؟</a:t>
            </a:r>
            <a:endParaRPr lang="fa-IR" sz="1300" dirty="0"/>
          </a:p>
        </p:txBody>
      </p:sp>
      <p:sp>
        <p:nvSpPr>
          <p:cNvPr id="36" name="Shape 29"/>
          <p:cNvSpPr/>
          <p:nvPr/>
        </p:nvSpPr>
        <p:spPr>
          <a:xfrm flipH="1">
            <a:off x="4892040" y="4025709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7" name="Text 30"/>
          <p:cNvSpPr txBox="1"/>
          <p:nvPr/>
        </p:nvSpPr>
        <p:spPr>
          <a:xfrm>
            <a:off x="4873752" y="374224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38" name="Shape 31"/>
          <p:cNvSpPr/>
          <p:nvPr/>
        </p:nvSpPr>
        <p:spPr>
          <a:xfrm>
            <a:off x="2926080" y="3644010"/>
            <a:ext cx="1965960" cy="763398"/>
          </a:xfrm>
          <a:prstGeom prst="roundRect">
            <a:avLst>
              <a:gd name="adj" fmla="val 7187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9" name="Text 32"/>
          <p:cNvSpPr txBox="1"/>
          <p:nvPr/>
        </p:nvSpPr>
        <p:spPr>
          <a:xfrm>
            <a:off x="2999232" y="3644010"/>
            <a:ext cx="1819656" cy="763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رفع نقص یا فعالیت قبل از دریافت اجازه بهره برداری</a:t>
            </a:r>
            <a:endParaRPr lang="fa-IR" sz="1150" dirty="0"/>
          </a:p>
        </p:txBody>
      </p:sp>
      <p:sp>
        <p:nvSpPr>
          <p:cNvPr id="40" name="Shape 33"/>
          <p:cNvSpPr/>
          <p:nvPr/>
        </p:nvSpPr>
        <p:spPr>
          <a:xfrm flipH="1">
            <a:off x="2688336" y="4025709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1" name="Shape 34"/>
          <p:cNvSpPr/>
          <p:nvPr/>
        </p:nvSpPr>
        <p:spPr>
          <a:xfrm>
            <a:off x="722376" y="3644010"/>
            <a:ext cx="1965960" cy="763398"/>
          </a:xfrm>
          <a:prstGeom prst="roundRect">
            <a:avLst>
              <a:gd name="adj" fmla="val 7187"/>
            </a:avLst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2" name="Text 35"/>
          <p:cNvSpPr txBox="1"/>
          <p:nvPr/>
        </p:nvSpPr>
        <p:spPr>
          <a:xfrm>
            <a:off x="795528" y="3644010"/>
            <a:ext cx="1819656" cy="763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تعطیل مجدد، دو برابر مدت تعطیلی قبل و معرفی به دادگاه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۹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اعلام تخلف بهره برداری غیر مجا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۲۰</a:t>
            </a:r>
            <a:endParaRPr lang="fa-IR" sz="1150" dirty="0"/>
          </a:p>
        </p:txBody>
      </p:sp>
      <p:sp>
        <p:nvSpPr>
          <p:cNvPr id="43" name="Shape 36"/>
          <p:cNvSpPr/>
          <p:nvPr/>
        </p:nvSpPr>
        <p:spPr>
          <a:xfrm>
            <a:off x="7612380" y="4316527"/>
            <a:ext cx="914" cy="279913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4" name="Text 37"/>
          <p:cNvSpPr txBox="1"/>
          <p:nvPr/>
        </p:nvSpPr>
        <p:spPr>
          <a:xfrm>
            <a:off x="7648956" y="4298239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45" name="Shape 38"/>
          <p:cNvSpPr/>
          <p:nvPr/>
        </p:nvSpPr>
        <p:spPr>
          <a:xfrm>
            <a:off x="5257800" y="4596440"/>
            <a:ext cx="4709160" cy="450768"/>
          </a:xfrm>
          <a:prstGeom prst="roundRect">
            <a:avLst>
              <a:gd name="adj" fmla="val 12171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6" name="Text 39"/>
          <p:cNvSpPr txBox="1"/>
          <p:nvPr/>
        </p:nvSpPr>
        <p:spPr>
          <a:xfrm>
            <a:off x="5330952" y="4596440"/>
            <a:ext cx="4562856" cy="45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کتبی مالک/ مدیر/ متصدی مبنی بر رفع نواقص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0" invalidUrl="" action="" tgtFrame="" tooltip="اعلام کتبی متصدی مبنی بر رفع نواقص بهداشتی و درخواست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۵</a:t>
            </a:r>
            <a:endParaRPr lang="fa-IR" sz="1300" dirty="0"/>
          </a:p>
        </p:txBody>
      </p:sp>
      <p:sp>
        <p:nvSpPr>
          <p:cNvPr id="47" name="Shape 40"/>
          <p:cNvSpPr/>
          <p:nvPr/>
        </p:nvSpPr>
        <p:spPr>
          <a:xfrm>
            <a:off x="7612380" y="5047208"/>
            <a:ext cx="914" cy="18903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5257800" y="5236240"/>
            <a:ext cx="4709160" cy="450768"/>
          </a:xfrm>
          <a:prstGeom prst="roundRect">
            <a:avLst>
              <a:gd name="adj" fmla="val 12171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9" name="Text 42"/>
          <p:cNvSpPr txBox="1"/>
          <p:nvPr/>
        </p:nvSpPr>
        <p:spPr>
          <a:xfrm>
            <a:off x="5330952" y="5236240"/>
            <a:ext cx="4562856" cy="45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انجام بازرسی و تایید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1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۶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2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۷</a:t>
            </a:r>
            <a:endParaRPr lang="fa-IR" sz="1300" dirty="0"/>
          </a:p>
        </p:txBody>
      </p:sp>
      <p:sp>
        <p:nvSpPr>
          <p:cNvPr id="50" name="Shape 43"/>
          <p:cNvSpPr/>
          <p:nvPr/>
        </p:nvSpPr>
        <p:spPr>
          <a:xfrm>
            <a:off x="7612380" y="5687009"/>
            <a:ext cx="914" cy="18903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1" name="Shape 44"/>
          <p:cNvSpPr/>
          <p:nvPr/>
        </p:nvSpPr>
        <p:spPr>
          <a:xfrm>
            <a:off x="5257800" y="5876041"/>
            <a:ext cx="4709160" cy="472580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2" name="Text 45"/>
          <p:cNvSpPr txBox="1"/>
          <p:nvPr/>
        </p:nvSpPr>
        <p:spPr>
          <a:xfrm>
            <a:off x="5330952" y="5876041"/>
            <a:ext cx="4562856" cy="472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صدور اجازه بهره برداری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3" invalidUrl="" action="" tgtFrame="" tooltip="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۸</a:t>
            </a:r>
            <a:endParaRPr lang="fa-IR" sz="1300" dirty="0"/>
          </a:p>
        </p:txBody>
      </p:sp>
      <p:sp>
        <p:nvSpPr>
          <p:cNvPr id="53" name="Shape 46"/>
          <p:cNvSpPr/>
          <p:nvPr/>
        </p:nvSpPr>
        <p:spPr>
          <a:xfrm>
            <a:off x="548640" y="4800600"/>
            <a:ext cx="4343400" cy="1325880"/>
          </a:xfrm>
          <a:prstGeom prst="roundRect">
            <a:avLst>
              <a:gd name="adj" fmla="val 8276"/>
            </a:avLst>
          </a:prstGeom>
          <a:solidFill>
            <a:srgbClr val="FFF3C4"/>
          </a:solidFill>
          <a:ln w="15875">
            <a:solidFill>
              <a:srgbClr val="FFC107"/>
            </a:solidFill>
            <a:prstDash val="solid"/>
          </a:ln>
        </p:spPr>
      </p:sp>
      <p:sp>
        <p:nvSpPr>
          <p:cNvPr id="54" name="Shape 47"/>
          <p:cNvSpPr/>
          <p:nvPr/>
        </p:nvSpPr>
        <p:spPr>
          <a:xfrm>
            <a:off x="4123944" y="4983480"/>
            <a:ext cx="603504" cy="603504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55" name="Image 5" descr="/tmp/claude-0/-home-user-Waste/dcb1a03d-345b-5441-8898-3e9a4c6379b1/scratchpad/build/assets/ic-43-priorityhigh-plain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242816" y="5102352"/>
            <a:ext cx="365760" cy="365760"/>
          </a:xfrm>
          <a:prstGeom prst="rect">
            <a:avLst/>
          </a:prstGeom>
        </p:spPr>
      </p:pic>
      <p:sp>
        <p:nvSpPr>
          <p:cNvPr id="56" name="Text 48"/>
          <p:cNvSpPr txBox="1"/>
          <p:nvPr/>
        </p:nvSpPr>
        <p:spPr>
          <a:xfrm>
            <a:off x="777240" y="48920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* در صورت فک پلمب غیر قانونی مکان، متصدی مربوطه جهت فک پلمب غیر قانونی به دادگاه صالحه معرفی، تعطیل و پلمب مجدد و بازگشایی مکان طبق نظر آن دادگاه خواهد بود.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5" invalidUrl="" action="" tgtFrame="" tooltip="فرم ۱۶: اعلام تخلف فک پلمب بصورت غیرقانو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۱۶-۱۸۰۳۹۲۰۶</a:t>
            </a:r>
            <a:endParaRPr lang="fa-IR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۲۵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 نواقص بحرانی (۱ از 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Critical Deficiencies Workflow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5257800" y="1481328"/>
            <a:ext cx="4709160" cy="340120"/>
          </a:xfrm>
          <a:prstGeom prst="flowChartTerminator">
            <a:avLst/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5330952" y="1481328"/>
            <a:ext cx="4562856" cy="34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بازرسی از واحد صنفی</a:t>
            </a:r>
            <a:endParaRPr lang="fa-IR" sz="1300" dirty="0"/>
          </a:p>
        </p:txBody>
      </p:sp>
      <p:sp>
        <p:nvSpPr>
          <p:cNvPr id="27" name="Shape 20"/>
          <p:cNvSpPr/>
          <p:nvPr/>
        </p:nvSpPr>
        <p:spPr>
          <a:xfrm>
            <a:off x="7612380" y="1821448"/>
            <a:ext cx="914" cy="20407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257800" y="2025520"/>
            <a:ext cx="4709160" cy="489773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964174" y="2025520"/>
            <a:ext cx="3296412" cy="489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نواقص بحرانی دارد؟</a:t>
            </a:r>
            <a:endParaRPr lang="fa-IR" sz="1300" dirty="0"/>
          </a:p>
        </p:txBody>
      </p:sp>
      <p:sp>
        <p:nvSpPr>
          <p:cNvPr id="30" name="Shape 23"/>
          <p:cNvSpPr/>
          <p:nvPr/>
        </p:nvSpPr>
        <p:spPr>
          <a:xfrm flipH="1">
            <a:off x="4892040" y="2270407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4873752" y="1986943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32" name="Shape 25"/>
          <p:cNvSpPr/>
          <p:nvPr/>
        </p:nvSpPr>
        <p:spPr>
          <a:xfrm>
            <a:off x="1783080" y="2059532"/>
            <a:ext cx="3108960" cy="421749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1856232" y="2059532"/>
            <a:ext cx="2962656" cy="421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اقدام قانونی ندارد، ثبت در سامانه/ پرونده</a:t>
            </a:r>
            <a:endParaRPr lang="fa-IR" sz="1300" dirty="0"/>
          </a:p>
        </p:txBody>
      </p:sp>
      <p:sp>
        <p:nvSpPr>
          <p:cNvPr id="34" name="Shape 27"/>
          <p:cNvSpPr/>
          <p:nvPr/>
        </p:nvSpPr>
        <p:spPr>
          <a:xfrm>
            <a:off x="7612380" y="2515293"/>
            <a:ext cx="914" cy="20407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7648956" y="249700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36" name="Shape 29"/>
          <p:cNvSpPr/>
          <p:nvPr/>
        </p:nvSpPr>
        <p:spPr>
          <a:xfrm>
            <a:off x="5257800" y="2719365"/>
            <a:ext cx="4709160" cy="489773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5964174" y="2719365"/>
            <a:ext cx="3296412" cy="489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نواقص در محل قابل رفع است؟</a:t>
            </a:r>
            <a:endParaRPr lang="fa-IR" sz="1300" dirty="0"/>
          </a:p>
        </p:txBody>
      </p:sp>
      <p:sp>
        <p:nvSpPr>
          <p:cNvPr id="38" name="Shape 31"/>
          <p:cNvSpPr/>
          <p:nvPr/>
        </p:nvSpPr>
        <p:spPr>
          <a:xfrm flipH="1">
            <a:off x="4892040" y="2964252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9" name="Text 32"/>
          <p:cNvSpPr txBox="1"/>
          <p:nvPr/>
        </p:nvSpPr>
        <p:spPr>
          <a:xfrm>
            <a:off x="4873752" y="26807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40" name="Shape 33"/>
          <p:cNvSpPr/>
          <p:nvPr/>
        </p:nvSpPr>
        <p:spPr>
          <a:xfrm>
            <a:off x="1783080" y="2753377"/>
            <a:ext cx="3108960" cy="421749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1" name="Text 34"/>
          <p:cNvSpPr txBox="1"/>
          <p:nvPr/>
        </p:nvSpPr>
        <p:spPr>
          <a:xfrm>
            <a:off x="1856232" y="2753377"/>
            <a:ext cx="2962656" cy="421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اقدام قانونی ندارد، ثبت در سامانه/ پرونده با علامت +</a:t>
            </a:r>
            <a:endParaRPr lang="fa-IR" sz="1300" dirty="0"/>
          </a:p>
        </p:txBody>
      </p:sp>
      <p:sp>
        <p:nvSpPr>
          <p:cNvPr id="42" name="Shape 35"/>
          <p:cNvSpPr/>
          <p:nvPr/>
        </p:nvSpPr>
        <p:spPr>
          <a:xfrm>
            <a:off x="7612380" y="3209138"/>
            <a:ext cx="914" cy="20407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3" name="Text 36"/>
          <p:cNvSpPr txBox="1"/>
          <p:nvPr/>
        </p:nvSpPr>
        <p:spPr>
          <a:xfrm>
            <a:off x="7648956" y="31908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44" name="Shape 37"/>
          <p:cNvSpPr/>
          <p:nvPr/>
        </p:nvSpPr>
        <p:spPr>
          <a:xfrm>
            <a:off x="5257800" y="3413211"/>
            <a:ext cx="4709160" cy="544192"/>
          </a:xfrm>
          <a:prstGeom prst="roundRect">
            <a:avLst>
              <a:gd name="adj" fmla="val 10082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5" name="Text 38"/>
          <p:cNvSpPr txBox="1"/>
          <p:nvPr/>
        </p:nvSpPr>
        <p:spPr>
          <a:xfrm>
            <a:off x="5330952" y="3413211"/>
            <a:ext cx="4562856" cy="5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معرفی واحد صنفی دارای نقص بحرانی به مسئول بهداشت محل طبق گردش کار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گزارش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گزارش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۲</a:t>
            </a:r>
            <a:endParaRPr lang="fa-IR" sz="1300" dirty="0"/>
          </a:p>
        </p:txBody>
      </p:sp>
      <p:sp>
        <p:nvSpPr>
          <p:cNvPr id="46" name="Shape 39"/>
          <p:cNvSpPr/>
          <p:nvPr/>
        </p:nvSpPr>
        <p:spPr>
          <a:xfrm>
            <a:off x="7612380" y="3957403"/>
            <a:ext cx="914" cy="20407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7" name="Shape 40"/>
          <p:cNvSpPr/>
          <p:nvPr/>
        </p:nvSpPr>
        <p:spPr>
          <a:xfrm>
            <a:off x="5257800" y="4161475"/>
            <a:ext cx="4709160" cy="578204"/>
          </a:xfrm>
          <a:prstGeom prst="roundRect">
            <a:avLst>
              <a:gd name="adj" fmla="val 9489"/>
            </a:avLst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8" name="Text 41"/>
          <p:cNvSpPr txBox="1"/>
          <p:nvPr/>
        </p:nvSpPr>
        <p:spPr>
          <a:xfrm>
            <a:off x="5330952" y="4161475"/>
            <a:ext cx="4562856" cy="578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غیر فعال سازی و تعطیلی موقت قسمت/ محل با مهلت ۴۸ ساعت به منظور رفع نقص با تایید و دستور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اخطار تعطیل موقت واحد/ مکان/ قسمت دارای نواقص بحرا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۳</a:t>
            </a:r>
            <a:endParaRPr lang="fa-IR" sz="1300" dirty="0"/>
          </a:p>
        </p:txBody>
      </p:sp>
      <p:sp>
        <p:nvSpPr>
          <p:cNvPr id="49" name="Shape 42"/>
          <p:cNvSpPr/>
          <p:nvPr/>
        </p:nvSpPr>
        <p:spPr>
          <a:xfrm>
            <a:off x="7612380" y="4739679"/>
            <a:ext cx="914" cy="204072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5257800" y="4943751"/>
            <a:ext cx="4709160" cy="816288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5964174" y="4943751"/>
            <a:ext cx="3296412" cy="81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آیا در مهلت اخطار ۴۸ ساعت و مراحل گردش کار اداری، نواقص برطرف شده اند؟</a:t>
            </a:r>
            <a:endParaRPr lang="fa-IR" sz="1300" dirty="0"/>
          </a:p>
        </p:txBody>
      </p:sp>
      <p:sp>
        <p:nvSpPr>
          <p:cNvPr id="52" name="Shape 45"/>
          <p:cNvSpPr/>
          <p:nvPr/>
        </p:nvSpPr>
        <p:spPr>
          <a:xfrm flipH="1">
            <a:off x="4892040" y="5351896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3" name="Text 46"/>
          <p:cNvSpPr txBox="1"/>
          <p:nvPr/>
        </p:nvSpPr>
        <p:spPr>
          <a:xfrm>
            <a:off x="4873752" y="50684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54" name="Shape 47"/>
          <p:cNvSpPr/>
          <p:nvPr/>
        </p:nvSpPr>
        <p:spPr>
          <a:xfrm>
            <a:off x="3593592" y="4943751"/>
            <a:ext cx="1298448" cy="816288"/>
          </a:xfrm>
          <a:prstGeom prst="roundRect">
            <a:avLst>
              <a:gd name="adj" fmla="val 6721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5" name="Text 48"/>
          <p:cNvSpPr txBox="1"/>
          <p:nvPr/>
        </p:nvSpPr>
        <p:spPr>
          <a:xfrm>
            <a:off x="3666744" y="4943751"/>
            <a:ext cx="1152144" cy="81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کتبی مالک/ مدیر/ متصدی مبنی بر رفع نواقص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اعلام کتبی متصدی مبنی بر رفع نواقص بهداشتی و درخواست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۵</a:t>
            </a:r>
            <a:endParaRPr lang="fa-IR" sz="1150" dirty="0"/>
          </a:p>
        </p:txBody>
      </p:sp>
      <p:sp>
        <p:nvSpPr>
          <p:cNvPr id="56" name="Shape 49"/>
          <p:cNvSpPr/>
          <p:nvPr/>
        </p:nvSpPr>
        <p:spPr>
          <a:xfrm flipH="1">
            <a:off x="3355848" y="5351896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57" name="Shape 50"/>
          <p:cNvSpPr/>
          <p:nvPr/>
        </p:nvSpPr>
        <p:spPr>
          <a:xfrm>
            <a:off x="2057400" y="4943751"/>
            <a:ext cx="1298448" cy="816288"/>
          </a:xfrm>
          <a:prstGeom prst="roundRect">
            <a:avLst>
              <a:gd name="adj" fmla="val 6721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8" name="Text 51"/>
          <p:cNvSpPr txBox="1"/>
          <p:nvPr/>
        </p:nvSpPr>
        <p:spPr>
          <a:xfrm>
            <a:off x="2130552" y="4943751"/>
            <a:ext cx="1152144" cy="81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انجام بازرسی و تایید مسئول بهداشت محل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0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۶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1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۷</a:t>
            </a:r>
            <a:endParaRPr lang="fa-IR" sz="1150" dirty="0"/>
          </a:p>
        </p:txBody>
      </p:sp>
      <p:sp>
        <p:nvSpPr>
          <p:cNvPr id="59" name="Shape 52"/>
          <p:cNvSpPr/>
          <p:nvPr/>
        </p:nvSpPr>
        <p:spPr>
          <a:xfrm flipH="1">
            <a:off x="1819656" y="5351896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60" name="Shape 53"/>
          <p:cNvSpPr/>
          <p:nvPr/>
        </p:nvSpPr>
        <p:spPr>
          <a:xfrm>
            <a:off x="521208" y="4943751"/>
            <a:ext cx="1298448" cy="816288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61" name="Text 54"/>
          <p:cNvSpPr txBox="1"/>
          <p:nvPr/>
        </p:nvSpPr>
        <p:spPr>
          <a:xfrm>
            <a:off x="594360" y="4943751"/>
            <a:ext cx="1152144" cy="816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صدور اجازه بهره برداری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2" invalidUrl="" action="" tgtFrame="" tooltip="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۸</a:t>
            </a:r>
            <a:endParaRPr lang="fa-IR" sz="1150" dirty="0"/>
          </a:p>
        </p:txBody>
      </p:sp>
      <p:sp>
        <p:nvSpPr>
          <p:cNvPr id="62" name="Shape 55"/>
          <p:cNvSpPr/>
          <p:nvPr/>
        </p:nvSpPr>
        <p:spPr>
          <a:xfrm>
            <a:off x="7612380" y="5760040"/>
            <a:ext cx="914" cy="201168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63" name="Shape 56"/>
          <p:cNvSpPr/>
          <p:nvPr/>
        </p:nvSpPr>
        <p:spPr>
          <a:xfrm>
            <a:off x="7420356" y="5979496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7420356" y="5979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الف</a:t>
            </a:r>
            <a:endParaRPr lang="fa-IR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۲۶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 نواقص بحرانی (۲ از 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Critical Deficiencies Workflow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7420356" y="1435608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420356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الف</a:t>
            </a:r>
            <a:endParaRPr lang="fa-IR" sz="1200" dirty="0"/>
          </a:p>
        </p:txBody>
      </p:sp>
      <p:sp>
        <p:nvSpPr>
          <p:cNvPr id="27" name="Shape 20"/>
          <p:cNvSpPr/>
          <p:nvPr/>
        </p:nvSpPr>
        <p:spPr>
          <a:xfrm>
            <a:off x="7612380" y="1819656"/>
            <a:ext cx="914" cy="182880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257800" y="2029968"/>
            <a:ext cx="4709160" cy="725321"/>
          </a:xfrm>
          <a:prstGeom prst="roundRect">
            <a:avLst>
              <a:gd name="adj" fmla="val 7564"/>
            </a:avLst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5330952" y="2029968"/>
            <a:ext cx="4562856" cy="725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پلمب قسمت مربوطه با تایید و دستور مسئول بهداشت محل با تنظیم صورت مجلس، حداکثر به مدت یک هفته و ارجاع پرونده به دادگاه *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۹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ارجاع پرونده متخلف بهداشتی به دادگاه (نواقص بحرانی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۱۰</a:t>
            </a:r>
            <a:endParaRPr lang="fa-IR" sz="1300" dirty="0"/>
          </a:p>
        </p:txBody>
      </p:sp>
      <p:sp>
        <p:nvSpPr>
          <p:cNvPr id="30" name="Shape 23"/>
          <p:cNvSpPr/>
          <p:nvPr/>
        </p:nvSpPr>
        <p:spPr>
          <a:xfrm>
            <a:off x="7612380" y="2755289"/>
            <a:ext cx="914" cy="322365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5257800" y="3077653"/>
            <a:ext cx="4709160" cy="644729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5330952" y="3077653"/>
            <a:ext cx="4562856" cy="644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کتبی متصدی از مسئول بهداشت محل جهت بازگشایی به منظور رفع نواقص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درخواست کتبی مالک/ مدیر/ متصدی مبنی بر بازگشایی واحد/ مکان/ قسمت به منظور رفع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۱۷</a:t>
            </a:r>
            <a:endParaRPr lang="fa-IR" sz="1300" dirty="0"/>
          </a:p>
        </p:txBody>
      </p:sp>
      <p:sp>
        <p:nvSpPr>
          <p:cNvPr id="33" name="Shape 26"/>
          <p:cNvSpPr/>
          <p:nvPr/>
        </p:nvSpPr>
        <p:spPr>
          <a:xfrm>
            <a:off x="7612380" y="3722383"/>
            <a:ext cx="914" cy="322365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5257800" y="4044748"/>
            <a:ext cx="4709160" cy="725321"/>
          </a:xfrm>
          <a:prstGeom prst="roundRect">
            <a:avLst>
              <a:gd name="adj" fmla="val 7564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5" name="Text 28"/>
          <p:cNvSpPr txBox="1"/>
          <p:nvPr/>
        </p:nvSpPr>
        <p:spPr>
          <a:xfrm>
            <a:off x="5330952" y="4044748"/>
            <a:ext cx="4562856" cy="725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 مورد واحد صنفی: اخذ تعهد محضری یا تایید مسئول بهداشت محل/ در مورد مکان یا قسمت: صرفاً با تأیید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تعهد محض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۱۸</a:t>
            </a:r>
            <a:endParaRPr lang="fa-IR" sz="1300" dirty="0"/>
          </a:p>
        </p:txBody>
      </p:sp>
      <p:sp>
        <p:nvSpPr>
          <p:cNvPr id="36" name="Shape 29"/>
          <p:cNvSpPr/>
          <p:nvPr/>
        </p:nvSpPr>
        <p:spPr>
          <a:xfrm>
            <a:off x="7612380" y="4770068"/>
            <a:ext cx="914" cy="322365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5257800" y="5092433"/>
            <a:ext cx="4709160" cy="644729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8" name="Text 31"/>
          <p:cNvSpPr txBox="1"/>
          <p:nvPr/>
        </p:nvSpPr>
        <p:spPr>
          <a:xfrm>
            <a:off x="5330952" y="5092433"/>
            <a:ext cx="4562856" cy="644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فک پلمب قسمت مربوطه با دستور مسئول بهداشت محل به منظور رفع نقص با تنظیم صورت مجلس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0" invalidUrl="" action="" tgtFrame="" tooltip="صورت مجلس فک پلمب به منظور رفع نواقص بهداشت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۱۹</a:t>
            </a:r>
            <a:endParaRPr lang="fa-IR" sz="1300" dirty="0"/>
          </a:p>
        </p:txBody>
      </p:sp>
      <p:sp>
        <p:nvSpPr>
          <p:cNvPr id="39" name="Shape 32"/>
          <p:cNvSpPr/>
          <p:nvPr/>
        </p:nvSpPr>
        <p:spPr>
          <a:xfrm>
            <a:off x="7612380" y="5737163"/>
            <a:ext cx="914" cy="201168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7420356" y="5956619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7420356" y="595661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</a:t>
            </a:r>
            <a:endParaRPr lang="fa-IR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5" name="Shape 10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۲۷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 نواقص بحرانی (۳ از ۳)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Critical Deficiencies Workflow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7420356" y="1435608"/>
            <a:ext cx="384048" cy="384048"/>
          </a:xfrm>
          <a:prstGeom prst="ellipse">
            <a:avLst/>
          </a:prstGeom>
          <a:solidFill>
            <a:srgbClr val="FFC10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420356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</a:t>
            </a:r>
            <a:endParaRPr lang="fa-IR" sz="1200" dirty="0"/>
          </a:p>
        </p:txBody>
      </p:sp>
      <p:sp>
        <p:nvSpPr>
          <p:cNvPr id="27" name="Shape 20"/>
          <p:cNvSpPr/>
          <p:nvPr/>
        </p:nvSpPr>
        <p:spPr>
          <a:xfrm>
            <a:off x="7612380" y="1819656"/>
            <a:ext cx="914" cy="182880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257800" y="2121408"/>
            <a:ext cx="4709160" cy="777240"/>
          </a:xfrm>
          <a:prstGeom prst="flowChartDecision">
            <a:avLst/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964174" y="2121408"/>
            <a:ext cx="32964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آیا رفع نقص انجام شده است؟</a:t>
            </a:r>
            <a:endParaRPr lang="fa-IR" sz="1300" dirty="0"/>
          </a:p>
        </p:txBody>
      </p:sp>
      <p:sp>
        <p:nvSpPr>
          <p:cNvPr id="30" name="Shape 23"/>
          <p:cNvSpPr/>
          <p:nvPr/>
        </p:nvSpPr>
        <p:spPr>
          <a:xfrm flipH="1">
            <a:off x="4892040" y="2510028"/>
            <a:ext cx="365760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4873752" y="22265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C62828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خیر</a:t>
            </a:r>
            <a:endParaRPr lang="fa-IR" sz="1200" dirty="0"/>
          </a:p>
        </p:txBody>
      </p:sp>
      <p:sp>
        <p:nvSpPr>
          <p:cNvPr id="32" name="Shape 25"/>
          <p:cNvSpPr/>
          <p:nvPr/>
        </p:nvSpPr>
        <p:spPr>
          <a:xfrm>
            <a:off x="2926080" y="2029968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2999232" y="2029968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عدم رفع نقص یا فعالیت قبل از دریافت اجازه بهره برداری</a:t>
            </a:r>
            <a:endParaRPr lang="fa-IR" sz="1150" dirty="0"/>
          </a:p>
        </p:txBody>
      </p:sp>
      <p:sp>
        <p:nvSpPr>
          <p:cNvPr id="34" name="Shape 27"/>
          <p:cNvSpPr/>
          <p:nvPr/>
        </p:nvSpPr>
        <p:spPr>
          <a:xfrm flipH="1">
            <a:off x="2688336" y="2510028"/>
            <a:ext cx="237744" cy="91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5" name="Shape 28"/>
          <p:cNvSpPr/>
          <p:nvPr/>
        </p:nvSpPr>
        <p:spPr>
          <a:xfrm>
            <a:off x="722376" y="2029968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795528" y="2029968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1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تعطیل مجدد، دو برابر مدت تعطیلی قبل و معرفی به دادگاه</a:t>
            </a:r>
            <a:endParaRPr lang="fa-IR" sz="115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6" invalidUrl="" action="" tgtFrame="" tooltip="صورت مجلس پلم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۹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0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7" invalidUrl="" action="" tgtFrame="" tooltip="اعلام تخلف بهره برداری غیر مجا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۲۰</a:t>
            </a:r>
            <a:endParaRPr lang="fa-IR" sz="1150" dirty="0"/>
          </a:p>
        </p:txBody>
      </p:sp>
      <p:sp>
        <p:nvSpPr>
          <p:cNvPr id="37" name="Shape 30"/>
          <p:cNvSpPr/>
          <p:nvPr/>
        </p:nvSpPr>
        <p:spPr>
          <a:xfrm>
            <a:off x="7612380" y="2898648"/>
            <a:ext cx="914" cy="42062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38" name="Text 31"/>
          <p:cNvSpPr txBox="1"/>
          <p:nvPr/>
        </p:nvSpPr>
        <p:spPr>
          <a:xfrm>
            <a:off x="7648956" y="28803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200" b="1" dirty="0">
                <a:solidFill>
                  <a:srgbClr val="43A04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بلی</a:t>
            </a:r>
            <a:endParaRPr lang="fa-IR" sz="1200" dirty="0"/>
          </a:p>
        </p:txBody>
      </p:sp>
      <p:sp>
        <p:nvSpPr>
          <p:cNvPr id="39" name="Shape 32"/>
          <p:cNvSpPr/>
          <p:nvPr/>
        </p:nvSpPr>
        <p:spPr>
          <a:xfrm>
            <a:off x="5257800" y="3319272"/>
            <a:ext cx="47091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5330952" y="3319272"/>
            <a:ext cx="4562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کتبی مالک/ مدیر/ متصدی مبنی بر رفع نواقص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8" invalidUrl="" action="" tgtFrame="" tooltip="اعلام کتبی متصدی مبنی بر رفع نواقص بهداشتی و درخواست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۵</a:t>
            </a:r>
            <a:endParaRPr lang="fa-IR" sz="1300" dirty="0"/>
          </a:p>
        </p:txBody>
      </p:sp>
      <p:sp>
        <p:nvSpPr>
          <p:cNvPr id="41" name="Shape 34"/>
          <p:cNvSpPr/>
          <p:nvPr/>
        </p:nvSpPr>
        <p:spPr>
          <a:xfrm>
            <a:off x="7612380" y="3959352"/>
            <a:ext cx="914" cy="32918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2" name="Shape 35"/>
          <p:cNvSpPr/>
          <p:nvPr/>
        </p:nvSpPr>
        <p:spPr>
          <a:xfrm>
            <a:off x="5257800" y="4288536"/>
            <a:ext cx="47091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0D3B8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5330952" y="4288536"/>
            <a:ext cx="4562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انجام بازرسی و تایید مسئول بهداشت محل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19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۶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  ،  </a:t>
            </a:r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0" invalidUrl="" action="" tgtFrame="" tooltip="درخواست صدور 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۷</a:t>
            </a:r>
            <a:endParaRPr lang="fa-IR" sz="1300" dirty="0"/>
          </a:p>
        </p:txBody>
      </p:sp>
      <p:sp>
        <p:nvSpPr>
          <p:cNvPr id="44" name="Shape 37"/>
          <p:cNvSpPr/>
          <p:nvPr/>
        </p:nvSpPr>
        <p:spPr>
          <a:xfrm>
            <a:off x="7612380" y="4928616"/>
            <a:ext cx="914" cy="329184"/>
          </a:xfrm>
          <a:prstGeom prst="line">
            <a:avLst/>
          </a:prstGeom>
          <a:noFill/>
          <a:ln w="15875">
            <a:solidFill>
              <a:srgbClr val="607D8B"/>
            </a:solidFill>
            <a:prstDash val="solid"/>
            <a:tailEnd type="triangle"/>
          </a:ln>
        </p:spPr>
      </p:sp>
      <p:sp>
        <p:nvSpPr>
          <p:cNvPr id="45" name="Shape 38"/>
          <p:cNvSpPr/>
          <p:nvPr/>
        </p:nvSpPr>
        <p:spPr>
          <a:xfrm>
            <a:off x="5257800" y="5257800"/>
            <a:ext cx="4709160" cy="640080"/>
          </a:xfrm>
          <a:prstGeom prst="flowChartTerminator">
            <a:avLst/>
          </a:prstGeom>
          <a:solidFill>
            <a:srgbClr val="E8F5E9"/>
          </a:solidFill>
          <a:ln w="15875">
            <a:solidFill>
              <a:srgbClr val="43A047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6" name="Text 39"/>
          <p:cNvSpPr txBox="1"/>
          <p:nvPr/>
        </p:nvSpPr>
        <p:spPr>
          <a:xfrm>
            <a:off x="5330952" y="5257800"/>
            <a:ext cx="4562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300" b="1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صدور اجازه بهره برداری</a:t>
            </a:r>
            <a:endParaRPr lang="fa-IR" sz="1300" dirty="0"/>
          </a:p>
          <a:p>
            <a:pPr rtl="1" algn="ctr" indent="0" marL="0">
              <a:lnSpc>
                <a:spcPct val="100000"/>
              </a:lnSpc>
              <a:buNone/>
            </a:pPr>
            <a:r>
              <a:rPr lang="fa-IR" altLang="en-US" sz="120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1" invalidUrl="" action="" tgtFrame="" tooltip="اجازه بهره بردار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۸</a:t>
            </a:r>
            <a:endParaRPr lang="fa-IR" sz="1300" dirty="0"/>
          </a:p>
        </p:txBody>
      </p:sp>
      <p:sp>
        <p:nvSpPr>
          <p:cNvPr id="47" name="Shape 40"/>
          <p:cNvSpPr/>
          <p:nvPr/>
        </p:nvSpPr>
        <p:spPr>
          <a:xfrm>
            <a:off x="548640" y="4480560"/>
            <a:ext cx="4343400" cy="1325880"/>
          </a:xfrm>
          <a:prstGeom prst="roundRect">
            <a:avLst>
              <a:gd name="adj" fmla="val 8276"/>
            </a:avLst>
          </a:prstGeom>
          <a:solidFill>
            <a:srgbClr val="FFF3C4"/>
          </a:solidFill>
          <a:ln w="15875">
            <a:solidFill>
              <a:srgbClr val="FFC107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4123944" y="4663440"/>
            <a:ext cx="603504" cy="603504"/>
          </a:xfrm>
          <a:prstGeom prst="ellipse">
            <a:avLst/>
          </a:prstGeom>
          <a:solidFill>
            <a:srgbClr val="FFC107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49" name="Image 5" descr="/tmp/claude-0/-home-user-Waste/dcb1a03d-345b-5441-8898-3e9a4c6379b1/scratchpad/build/assets/ic-43-priorityhigh-plain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42816" y="4782312"/>
            <a:ext cx="365760" cy="365760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777240" y="457200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* در صورت فک پلمب غیر قانونی مکان، متصدی مربوطه جهت فک پلمب غیر قانونی به دادگاه صالحه معرفی، تعطیل و پلمب مجدد و بازگشایی مکان طبق نظر آن دادگاه خواهد بود.  </a:t>
            </a:r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fa-IR" altLang="en-US" sz="1350" b="1" u="sng" dirty="0">
                <a:solidFill>
                  <a:srgbClr val="1565C0"/>
                </a:solidFill>
                <a:uFill>
                  <a:solidFill>
                    <a:srgbClr val="1565C0"/>
                  </a:solidFill>
                </a:uFill>
                <a:latin typeface="B Nazanin" pitchFamily="34" charset="0"/>
                <a:ea typeface="B Nazanin" pitchFamily="34" charset="-122"/>
                <a:cs typeface="B Nazanin" pitchFamily="34" charset="-120"/>
                <a:hlinkClick r:id="rId23" invalidUrl="" action="" tgtFrame="" tooltip="فرم ۱۶: اعلام تخلف فک پلمب بصورت غیرقانونی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فرم شماره ۱۶-۱۸۰۳۹۲۰۶</a:t>
            </a:r>
            <a:endParaRPr lang="fa-IR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6576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3" name="Image 0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475488"/>
            <a:ext cx="512064" cy="51206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9704" y="822960"/>
            <a:ext cx="3200400" cy="2743200"/>
          </a:xfrm>
          <a:prstGeom prst="triangle">
            <a:avLst/>
          </a:prstGeom>
          <a:solidFill>
            <a:srgbClr val="FFC107"/>
          </a:solidFill>
          <a:ln w="12700">
            <a:solidFill>
              <a:srgbClr val="FFD54F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pic>
        <p:nvPicPr>
          <p:cNvPr id="5" name="Image 1" descr="/tmp/claude-0/-home-user-Waste/dcb1a03d-345b-5441-8898-3e9a4c6379b1/scratchpad/build/assets/ic-49-description-pl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920240"/>
            <a:ext cx="1316736" cy="1316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384048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6000" b="1" dirty="0">
                <a:solidFill>
                  <a:srgbClr val="FFC107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فرم‌های اجرایی</a:t>
            </a:r>
            <a:endParaRPr lang="fa-IR" sz="60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۲۴ فرم دستورالعمل — روی هر فرم کلیک کنید تا در Word باز شود</a:t>
            </a:r>
            <a:endParaRPr lang="fa-IR" sz="2200" dirty="0"/>
          </a:p>
        </p:txBody>
      </p:sp>
      <p:pic>
        <p:nvPicPr>
          <p:cNvPr id="8" name="Image 2" descr="/tmp/claude-0/-home-user-Waste/dcb1a03d-345b-5441-8898-3e9a4c6379b1/scratchpad/build/assets/home.png">
            <a:hlinkClick r:id="rId5" tooltip="فهرست مطالب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61264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aste/dcb1a03d-345b-5441-8898-3e9a4c6379b1/scratchpad/build/assets/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0"/>
            <a:ext cx="18105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899648" y="274320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C107"/>
            </a:solidFill>
            <a:prstDash val="solid"/>
          </a:ln>
        </p:spPr>
      </p:sp>
      <p:pic>
        <p:nvPicPr>
          <p:cNvPr id="4" name="Image 1" descr="/tmp/claude-0/-home-user-Waste/dcb1a03d-345b-5441-8898-3e9a4c6379b1/scratchpad/build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9376" y="384048"/>
            <a:ext cx="548640" cy="548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0469880" y="107899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معاونت بهداشت</a:t>
            </a:r>
            <a:endParaRPr lang="fa-IR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fa-IR" altLang="en-US" sz="100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استان همدان</a:t>
            </a:r>
            <a:endParaRPr lang="fa-IR" sz="1000" dirty="0"/>
          </a:p>
        </p:txBody>
      </p:sp>
      <p:pic>
        <p:nvPicPr>
          <p:cNvPr id="6" name="Image 2" descr="/tmp/claude-0/-home-user-Waste/dcb1a03d-345b-5441-8898-3e9a4c6379b1/scratchpad/build/assets/home.png">
            <a:hlinkClick r:id="rId4" tooltip="فهرست مطالب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536192"/>
            <a:ext cx="475488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تعاریف</a:t>
            </a:r>
            <a:endParaRPr lang="fa-IR" sz="1250" dirty="0"/>
          </a:p>
        </p:txBody>
      </p:sp>
      <p:sp>
        <p:nvSpPr>
          <p:cNvPr id="8" name="Shape 3">
            <a:hlinkClick r:id="rId5" tooltip="تعاریف" action="ppaction://hlinksldjump"/>
          </p:cNvPr>
          <p:cNvSpPr/>
          <p:nvPr/>
        </p:nvSpPr>
        <p:spPr>
          <a:xfrm>
            <a:off x="10543032" y="2377440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رسیدگی به نواقص</a:t>
            </a:r>
            <a:endParaRPr lang="fa-IR" sz="1250" dirty="0"/>
          </a:p>
        </p:txBody>
      </p:sp>
      <p:sp>
        <p:nvSpPr>
          <p:cNvPr id="10" name="Shape 5">
            <a:hlinkClick r:id="rId6" tooltip="رسیدگی به نواقص" action="ppaction://hlinksldjump"/>
          </p:cNvPr>
          <p:cNvSpPr/>
          <p:nvPr/>
        </p:nvSpPr>
        <p:spPr>
          <a:xfrm>
            <a:off x="10543032" y="2980944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ماده ۳۱ آیین‌نامه</a:t>
            </a:r>
            <a:endParaRPr lang="fa-IR" sz="1250" dirty="0"/>
          </a:p>
        </p:txBody>
      </p:sp>
      <p:sp>
        <p:nvSpPr>
          <p:cNvPr id="12" name="Shape 7">
            <a:hlinkClick r:id="rId7" tooltip="ماده ۳۱ آیین‌نامه" action="ppaction://hlinksldjump"/>
          </p:cNvPr>
          <p:cNvSpPr/>
          <p:nvPr/>
        </p:nvSpPr>
        <p:spPr>
          <a:xfrm>
            <a:off x="10543032" y="3584448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گردش کار</a:t>
            </a:r>
            <a:endParaRPr lang="fa-IR" sz="1250" dirty="0"/>
          </a:p>
        </p:txBody>
      </p:sp>
      <p:sp>
        <p:nvSpPr>
          <p:cNvPr id="14" name="Shape 9">
            <a:hlinkClick r:id="rId8" tooltip="گردش کار" action="ppaction://hlinksldjump"/>
          </p:cNvPr>
          <p:cNvSpPr/>
          <p:nvPr/>
        </p:nvSpPr>
        <p:spPr>
          <a:xfrm>
            <a:off x="10543032" y="4187952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noFill/>
          <a:ln w="12700">
            <a:solidFill>
              <a:srgbClr val="FFC107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فرم‌ها</a:t>
            </a:r>
            <a:endParaRPr lang="fa-IR" sz="1250" dirty="0"/>
          </a:p>
        </p:txBody>
      </p:sp>
      <p:sp>
        <p:nvSpPr>
          <p:cNvPr id="17" name="Shape 12">
            <a:hlinkClick r:id="rId9" tooltip="فرم‌ها" action="ppaction://hlinksldjump"/>
          </p:cNvPr>
          <p:cNvSpPr/>
          <p:nvPr/>
        </p:nvSpPr>
        <p:spPr>
          <a:xfrm>
            <a:off x="10543032" y="4791456"/>
            <a:ext cx="1481328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>
            <a:hlinkClick r:id="rId10" tooltip="اسلاید بعد" action="ppaction://hlinksldjump"/>
          </p:cNvPr>
          <p:cNvSpPr/>
          <p:nvPr/>
        </p:nvSpPr>
        <p:spPr>
          <a:xfrm>
            <a:off x="457200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9" name="Image 3" descr="/tmp/claude-0/-home-user-Waste/dcb1a03d-345b-5441-8898-3e9a4c6379b1/scratchpad/build/assets/next.png">
            <a:hlinkClick r:id="rId12" tooltip="اسلاید بعد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4632" y="638251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" y="63550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200" dirty="0">
                <a:solidFill>
                  <a:srgbClr val="37474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۲۹</a:t>
            </a:r>
            <a:endParaRPr lang="fa-IR" sz="1200" dirty="0"/>
          </a:p>
        </p:txBody>
      </p:sp>
      <p:sp>
        <p:nvSpPr>
          <p:cNvPr id="21" name="Shape 15">
            <a:hlinkClick r:id="rId13" tooltip="اسلاید قبل" action="ppaction://hlinksldjump"/>
          </p:cNvPr>
          <p:cNvSpPr/>
          <p:nvPr/>
        </p:nvSpPr>
        <p:spPr>
          <a:xfrm>
            <a:off x="1216152" y="6355080"/>
            <a:ext cx="310896" cy="31089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2" name="Image 4" descr="/tmp/claude-0/-home-user-Waste/dcb1a03d-345b-5441-8898-3e9a4c6379b1/scratchpad/build/assets/prev.png">
            <a:hlinkClick r:id="rId15" tooltip="اسلاید قبل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3584" y="638251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7200" y="3200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3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فهرست ۲۴ فرم دستورالعمل</a:t>
            </a:r>
            <a:endParaRPr lang="fa-IR" sz="33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10515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550" dirty="0">
                <a:solidFill>
                  <a:srgbClr val="546E7A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Forms (Word file)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7726680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9418320" y="1664208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9418320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</a:t>
            </a:r>
            <a:endParaRPr lang="fa-IR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7799832" y="155448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گزارش نواقص بهداشتی</a:t>
            </a:r>
            <a:endParaRPr lang="fa-IR" sz="1250" dirty="0"/>
          </a:p>
        </p:txBody>
      </p:sp>
      <p:sp>
        <p:nvSpPr>
          <p:cNvPr id="29" name="Shape 22">
            <a:hlinkClick r:id="rId16" tooltip="فرم ۱: گزارش نواقص بهداشتی"/>
          </p:cNvPr>
          <p:cNvSpPr/>
          <p:nvPr/>
        </p:nvSpPr>
        <p:spPr>
          <a:xfrm>
            <a:off x="7726680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330952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7022592" y="1664208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022592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</a:t>
            </a:r>
            <a:endParaRPr lang="fa-IR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5404104" y="155448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گزارش نواقص بهداشتی</a:t>
            </a:r>
            <a:endParaRPr lang="fa-IR" sz="1250" dirty="0"/>
          </a:p>
        </p:txBody>
      </p:sp>
      <p:sp>
        <p:nvSpPr>
          <p:cNvPr id="34" name="Shape 27">
            <a:hlinkClick r:id="rId17" tooltip="فرم ۲: گزارش نواقص بهداشتی"/>
          </p:cNvPr>
          <p:cNvSpPr/>
          <p:nvPr/>
        </p:nvSpPr>
        <p:spPr>
          <a:xfrm>
            <a:off x="5330952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2935224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4626864" y="1664208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4626864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۳</a:t>
            </a:r>
            <a:endParaRPr lang="fa-IR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3008376" y="155448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اخطار تعطیل موقت (نواقص بحرانی)</a:t>
            </a:r>
            <a:endParaRPr lang="fa-IR" sz="1250" dirty="0"/>
          </a:p>
        </p:txBody>
      </p:sp>
      <p:sp>
        <p:nvSpPr>
          <p:cNvPr id="39" name="Shape 32">
            <a:hlinkClick r:id="rId18" tooltip="فرم ۳: اخطار تعطیل موقت واحد/ مکان/ قسمت دارای نواقص بحرانی"/>
          </p:cNvPr>
          <p:cNvSpPr/>
          <p:nvPr/>
        </p:nvSpPr>
        <p:spPr>
          <a:xfrm>
            <a:off x="2935224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539496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2231136" y="1664208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2231136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۴</a:t>
            </a:r>
            <a:endParaRPr lang="fa-IR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612648" y="155448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اخطار برای رفع نواقص غیر بحرانی</a:t>
            </a:r>
            <a:endParaRPr lang="fa-IR" sz="1250" dirty="0"/>
          </a:p>
        </p:txBody>
      </p:sp>
      <p:sp>
        <p:nvSpPr>
          <p:cNvPr id="44" name="Shape 37">
            <a:hlinkClick r:id="rId19" tooltip="فرم ۴: اخطار برای رفع نواقص غیر بحرانی"/>
          </p:cNvPr>
          <p:cNvSpPr/>
          <p:nvPr/>
        </p:nvSpPr>
        <p:spPr>
          <a:xfrm>
            <a:off x="539496" y="155448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7726680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418320" y="2432304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9418320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۵</a:t>
            </a:r>
            <a:endParaRPr lang="fa-IR" sz="1400" dirty="0"/>
          </a:p>
        </p:txBody>
      </p:sp>
      <p:sp>
        <p:nvSpPr>
          <p:cNvPr id="48" name="Text 41"/>
          <p:cNvSpPr txBox="1"/>
          <p:nvPr/>
        </p:nvSpPr>
        <p:spPr>
          <a:xfrm>
            <a:off x="7799832" y="232257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کتبی رفع نواقص و درخواست بهره برداری</a:t>
            </a:r>
            <a:endParaRPr lang="fa-IR" sz="1250" dirty="0"/>
          </a:p>
        </p:txBody>
      </p:sp>
      <p:sp>
        <p:nvSpPr>
          <p:cNvPr id="49" name="Shape 42">
            <a:hlinkClick r:id="rId20" tooltip="فرم ۵: اعلام کتبی متصدی مبنی بر رفع نواقص بهداشتی و درخواست اجازه بهره برداری"/>
          </p:cNvPr>
          <p:cNvSpPr/>
          <p:nvPr/>
        </p:nvSpPr>
        <p:spPr>
          <a:xfrm>
            <a:off x="7726680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5330952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1" name="Shape 44"/>
          <p:cNvSpPr/>
          <p:nvPr/>
        </p:nvSpPr>
        <p:spPr>
          <a:xfrm>
            <a:off x="7022592" y="2432304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7022592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۶</a:t>
            </a:r>
            <a:endParaRPr lang="fa-IR" sz="1400" dirty="0"/>
          </a:p>
        </p:txBody>
      </p:sp>
      <p:sp>
        <p:nvSpPr>
          <p:cNvPr id="53" name="Text 46"/>
          <p:cNvSpPr txBox="1"/>
          <p:nvPr/>
        </p:nvSpPr>
        <p:spPr>
          <a:xfrm>
            <a:off x="5404104" y="232257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صدور اجازه بهره برداری</a:t>
            </a:r>
            <a:endParaRPr lang="fa-IR" sz="1250" dirty="0"/>
          </a:p>
        </p:txBody>
      </p:sp>
      <p:sp>
        <p:nvSpPr>
          <p:cNvPr id="54" name="Shape 47">
            <a:hlinkClick r:id="rId21" tooltip="فرم ۶: درخواست صدور اجازه بهره برداری"/>
          </p:cNvPr>
          <p:cNvSpPr/>
          <p:nvPr/>
        </p:nvSpPr>
        <p:spPr>
          <a:xfrm>
            <a:off x="5330952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48"/>
          <p:cNvSpPr/>
          <p:nvPr/>
        </p:nvSpPr>
        <p:spPr>
          <a:xfrm>
            <a:off x="2935224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56" name="Shape 49"/>
          <p:cNvSpPr/>
          <p:nvPr/>
        </p:nvSpPr>
        <p:spPr>
          <a:xfrm>
            <a:off x="4626864" y="2432304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4626864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۷</a:t>
            </a:r>
            <a:endParaRPr lang="fa-IR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3008376" y="232257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صدور اجازه بهره برداری</a:t>
            </a:r>
            <a:endParaRPr lang="fa-IR" sz="1250" dirty="0"/>
          </a:p>
        </p:txBody>
      </p:sp>
      <p:sp>
        <p:nvSpPr>
          <p:cNvPr id="59" name="Shape 52">
            <a:hlinkClick r:id="rId22" tooltip="فرم ۷: درخواست صدور اجازه بهره برداری"/>
          </p:cNvPr>
          <p:cNvSpPr/>
          <p:nvPr/>
        </p:nvSpPr>
        <p:spPr>
          <a:xfrm>
            <a:off x="2935224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3"/>
          <p:cNvSpPr/>
          <p:nvPr/>
        </p:nvSpPr>
        <p:spPr>
          <a:xfrm>
            <a:off x="539496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61" name="Shape 54"/>
          <p:cNvSpPr/>
          <p:nvPr/>
        </p:nvSpPr>
        <p:spPr>
          <a:xfrm>
            <a:off x="2231136" y="2432304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2231136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۸</a:t>
            </a:r>
            <a:endParaRPr lang="fa-IR" sz="1400" dirty="0"/>
          </a:p>
        </p:txBody>
      </p:sp>
      <p:sp>
        <p:nvSpPr>
          <p:cNvPr id="63" name="Text 56"/>
          <p:cNvSpPr txBox="1"/>
          <p:nvPr/>
        </p:nvSpPr>
        <p:spPr>
          <a:xfrm>
            <a:off x="612648" y="232257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اجازه بهره برداری</a:t>
            </a:r>
            <a:endParaRPr lang="fa-IR" sz="1250" dirty="0"/>
          </a:p>
        </p:txBody>
      </p:sp>
      <p:sp>
        <p:nvSpPr>
          <p:cNvPr id="64" name="Shape 57">
            <a:hlinkClick r:id="rId23" tooltip="فرم ۸: اجازه بهره برداری"/>
          </p:cNvPr>
          <p:cNvSpPr/>
          <p:nvPr/>
        </p:nvSpPr>
        <p:spPr>
          <a:xfrm>
            <a:off x="539496" y="2322576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7726680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66" name="Shape 59"/>
          <p:cNvSpPr/>
          <p:nvPr/>
        </p:nvSpPr>
        <p:spPr>
          <a:xfrm>
            <a:off x="9418320" y="3200400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94183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۹</a:t>
            </a:r>
            <a:endParaRPr lang="fa-IR" sz="1400" dirty="0"/>
          </a:p>
        </p:txBody>
      </p:sp>
      <p:sp>
        <p:nvSpPr>
          <p:cNvPr id="68" name="Text 61"/>
          <p:cNvSpPr txBox="1"/>
          <p:nvPr/>
        </p:nvSpPr>
        <p:spPr>
          <a:xfrm>
            <a:off x="7799832" y="3090672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صورت مجلس پلمب</a:t>
            </a:r>
            <a:endParaRPr lang="fa-IR" sz="1250" dirty="0"/>
          </a:p>
        </p:txBody>
      </p:sp>
      <p:sp>
        <p:nvSpPr>
          <p:cNvPr id="69" name="Shape 62">
            <a:hlinkClick r:id="rId24" tooltip="فرم ۹: صورت مجلس پلمب"/>
          </p:cNvPr>
          <p:cNvSpPr/>
          <p:nvPr/>
        </p:nvSpPr>
        <p:spPr>
          <a:xfrm>
            <a:off x="7726680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3"/>
          <p:cNvSpPr/>
          <p:nvPr/>
        </p:nvSpPr>
        <p:spPr>
          <a:xfrm>
            <a:off x="5330952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71" name="Shape 64"/>
          <p:cNvSpPr/>
          <p:nvPr/>
        </p:nvSpPr>
        <p:spPr>
          <a:xfrm>
            <a:off x="7022592" y="3200400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5"/>
          <p:cNvSpPr txBox="1"/>
          <p:nvPr/>
        </p:nvSpPr>
        <p:spPr>
          <a:xfrm>
            <a:off x="7022592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۱۰</a:t>
            </a:r>
            <a:endParaRPr lang="fa-IR" sz="1400" dirty="0"/>
          </a:p>
        </p:txBody>
      </p:sp>
      <p:sp>
        <p:nvSpPr>
          <p:cNvPr id="73" name="Text 66"/>
          <p:cNvSpPr txBox="1"/>
          <p:nvPr/>
        </p:nvSpPr>
        <p:spPr>
          <a:xfrm>
            <a:off x="5404104" y="3090672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ارجاع به دادگاه (نواقص بحرانی)</a:t>
            </a:r>
            <a:endParaRPr lang="fa-IR" sz="1250" dirty="0"/>
          </a:p>
        </p:txBody>
      </p:sp>
      <p:sp>
        <p:nvSpPr>
          <p:cNvPr id="74" name="Shape 67">
            <a:hlinkClick r:id="rId25" tooltip="فرم ۱۰: ارجاع پرونده متخلف بهداشتی به دادگاه (نواقص بحرانی)"/>
          </p:cNvPr>
          <p:cNvSpPr/>
          <p:nvPr/>
        </p:nvSpPr>
        <p:spPr>
          <a:xfrm>
            <a:off x="5330952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68"/>
          <p:cNvSpPr/>
          <p:nvPr/>
        </p:nvSpPr>
        <p:spPr>
          <a:xfrm>
            <a:off x="2935224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76" name="Shape 69"/>
          <p:cNvSpPr/>
          <p:nvPr/>
        </p:nvSpPr>
        <p:spPr>
          <a:xfrm>
            <a:off x="4626864" y="3200400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Text 70"/>
          <p:cNvSpPr txBox="1"/>
          <p:nvPr/>
        </p:nvSpPr>
        <p:spPr>
          <a:xfrm>
            <a:off x="4626864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۱۱</a:t>
            </a:r>
            <a:endParaRPr lang="fa-IR" sz="1400" dirty="0"/>
          </a:p>
        </p:txBody>
      </p:sp>
      <p:sp>
        <p:nvSpPr>
          <p:cNvPr id="78" name="Text 71"/>
          <p:cNvSpPr txBox="1"/>
          <p:nvPr/>
        </p:nvSpPr>
        <p:spPr>
          <a:xfrm>
            <a:off x="3008376" y="3090672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ارجاع به دادگاه (نواقص غیربحرانی)</a:t>
            </a:r>
            <a:endParaRPr lang="fa-IR" sz="1250" dirty="0"/>
          </a:p>
        </p:txBody>
      </p:sp>
      <p:sp>
        <p:nvSpPr>
          <p:cNvPr id="79" name="Shape 72">
            <a:hlinkClick r:id="rId26" tooltip="فرم ۱۱: ارجاع پرونده متخلف بهداشتی به دادگاه (نواقص غیربحرانی)"/>
          </p:cNvPr>
          <p:cNvSpPr/>
          <p:nvPr/>
        </p:nvSpPr>
        <p:spPr>
          <a:xfrm>
            <a:off x="2935224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3"/>
          <p:cNvSpPr/>
          <p:nvPr/>
        </p:nvSpPr>
        <p:spPr>
          <a:xfrm>
            <a:off x="539496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81" name="Shape 74"/>
          <p:cNvSpPr/>
          <p:nvPr/>
        </p:nvSpPr>
        <p:spPr>
          <a:xfrm>
            <a:off x="2231136" y="3200400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2" name="Text 75"/>
          <p:cNvSpPr txBox="1"/>
          <p:nvPr/>
        </p:nvSpPr>
        <p:spPr>
          <a:xfrm>
            <a:off x="223113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۱۲</a:t>
            </a:r>
            <a:endParaRPr lang="fa-IR" sz="1400" dirty="0"/>
          </a:p>
        </p:txBody>
      </p:sp>
      <p:sp>
        <p:nvSpPr>
          <p:cNvPr id="83" name="Text 76"/>
          <p:cNvSpPr txBox="1"/>
          <p:nvPr/>
        </p:nvSpPr>
        <p:spPr>
          <a:xfrm>
            <a:off x="612648" y="3090672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گزارش عدم رفع نواقص غیربحرانی</a:t>
            </a:r>
            <a:endParaRPr lang="fa-IR" sz="1250" dirty="0"/>
          </a:p>
        </p:txBody>
      </p:sp>
      <p:sp>
        <p:nvSpPr>
          <p:cNvPr id="84" name="Shape 77">
            <a:hlinkClick r:id="rId27" tooltip="فرم ۱۲: گزارش کتبی عدم رفع نواقص غیربحرانی در مهلت مقرر"/>
          </p:cNvPr>
          <p:cNvSpPr/>
          <p:nvPr/>
        </p:nvSpPr>
        <p:spPr>
          <a:xfrm>
            <a:off x="539496" y="3090672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78"/>
          <p:cNvSpPr/>
          <p:nvPr/>
        </p:nvSpPr>
        <p:spPr>
          <a:xfrm>
            <a:off x="7726680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86" name="Shape 79"/>
          <p:cNvSpPr/>
          <p:nvPr/>
        </p:nvSpPr>
        <p:spPr>
          <a:xfrm>
            <a:off x="9418320" y="3968496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7" name="Text 80"/>
          <p:cNvSpPr txBox="1"/>
          <p:nvPr/>
        </p:nvSpPr>
        <p:spPr>
          <a:xfrm>
            <a:off x="941832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۱۳</a:t>
            </a:r>
            <a:endParaRPr lang="fa-IR" sz="1400" dirty="0"/>
          </a:p>
        </p:txBody>
      </p:sp>
      <p:sp>
        <p:nvSpPr>
          <p:cNvPr id="88" name="Text 81"/>
          <p:cNvSpPr txBox="1"/>
          <p:nvPr/>
        </p:nvSpPr>
        <p:spPr>
          <a:xfrm>
            <a:off x="7799832" y="385876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گزارش عدم رفع نواقص غیربحرانی</a:t>
            </a:r>
            <a:endParaRPr lang="fa-IR" sz="1250" dirty="0"/>
          </a:p>
        </p:txBody>
      </p:sp>
      <p:sp>
        <p:nvSpPr>
          <p:cNvPr id="89" name="Shape 82">
            <a:hlinkClick r:id="rId28" tooltip="فرم ۱۳: گزارش کتبی عدم رفع نواقص غیربحرانی در مهلت مقرر"/>
          </p:cNvPr>
          <p:cNvSpPr/>
          <p:nvPr/>
        </p:nvSpPr>
        <p:spPr>
          <a:xfrm>
            <a:off x="7726680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Shape 83"/>
          <p:cNvSpPr/>
          <p:nvPr/>
        </p:nvSpPr>
        <p:spPr>
          <a:xfrm>
            <a:off x="5330952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91" name="Shape 84"/>
          <p:cNvSpPr/>
          <p:nvPr/>
        </p:nvSpPr>
        <p:spPr>
          <a:xfrm>
            <a:off x="7022592" y="3968496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2" name="Text 85"/>
          <p:cNvSpPr txBox="1"/>
          <p:nvPr/>
        </p:nvSpPr>
        <p:spPr>
          <a:xfrm>
            <a:off x="7022592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۱۴</a:t>
            </a:r>
            <a:endParaRPr lang="fa-IR" sz="1400" dirty="0"/>
          </a:p>
        </p:txBody>
      </p:sp>
      <p:sp>
        <p:nvSpPr>
          <p:cNvPr id="93" name="Text 86"/>
          <p:cNvSpPr txBox="1"/>
          <p:nvPr/>
        </p:nvSpPr>
        <p:spPr>
          <a:xfrm>
            <a:off x="5404104" y="385876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اخطار ۴۸ ساعته جهت پلمب</a:t>
            </a:r>
            <a:endParaRPr lang="fa-IR" sz="1250" dirty="0"/>
          </a:p>
        </p:txBody>
      </p:sp>
      <p:sp>
        <p:nvSpPr>
          <p:cNvPr id="94" name="Shape 87">
            <a:hlinkClick r:id="rId29" tooltip="فرم ۱۴: اخطار ۴۸ ساعته جهت پلمب"/>
          </p:cNvPr>
          <p:cNvSpPr/>
          <p:nvPr/>
        </p:nvSpPr>
        <p:spPr>
          <a:xfrm>
            <a:off x="5330952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88"/>
          <p:cNvSpPr/>
          <p:nvPr/>
        </p:nvSpPr>
        <p:spPr>
          <a:xfrm>
            <a:off x="2935224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96" name="Shape 89"/>
          <p:cNvSpPr/>
          <p:nvPr/>
        </p:nvSpPr>
        <p:spPr>
          <a:xfrm>
            <a:off x="4626864" y="3968496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4626864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۱۵</a:t>
            </a:r>
            <a:endParaRPr lang="fa-IR" sz="1400" dirty="0"/>
          </a:p>
        </p:txBody>
      </p:sp>
      <p:sp>
        <p:nvSpPr>
          <p:cNvPr id="98" name="Text 91"/>
          <p:cNvSpPr txBox="1"/>
          <p:nvPr/>
        </p:nvSpPr>
        <p:spPr>
          <a:xfrm>
            <a:off x="3008376" y="385876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صورت مجلس انصراف از پلمب</a:t>
            </a:r>
            <a:endParaRPr lang="fa-IR" sz="1250" dirty="0"/>
          </a:p>
        </p:txBody>
      </p:sp>
      <p:sp>
        <p:nvSpPr>
          <p:cNvPr id="99" name="Shape 92">
            <a:hlinkClick r:id="rId30" tooltip="فرم ۱۵: صورت مجلس انصراف از پلمب"/>
          </p:cNvPr>
          <p:cNvSpPr/>
          <p:nvPr/>
        </p:nvSpPr>
        <p:spPr>
          <a:xfrm>
            <a:off x="2935224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539496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01" name="Shape 94"/>
          <p:cNvSpPr/>
          <p:nvPr/>
        </p:nvSpPr>
        <p:spPr>
          <a:xfrm>
            <a:off x="2231136" y="3968496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2" name="Text 95"/>
          <p:cNvSpPr txBox="1"/>
          <p:nvPr/>
        </p:nvSpPr>
        <p:spPr>
          <a:xfrm>
            <a:off x="2231136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۱۶</a:t>
            </a:r>
            <a:endParaRPr lang="fa-IR" sz="1400" dirty="0"/>
          </a:p>
        </p:txBody>
      </p:sp>
      <p:sp>
        <p:nvSpPr>
          <p:cNvPr id="103" name="Text 96"/>
          <p:cNvSpPr txBox="1"/>
          <p:nvPr/>
        </p:nvSpPr>
        <p:spPr>
          <a:xfrm>
            <a:off x="612648" y="385876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تخلف فک پلمب غیرقانونی</a:t>
            </a:r>
            <a:endParaRPr lang="fa-IR" sz="1250" dirty="0"/>
          </a:p>
        </p:txBody>
      </p:sp>
      <p:sp>
        <p:nvSpPr>
          <p:cNvPr id="104" name="Shape 97">
            <a:hlinkClick r:id="rId31" tooltip="فرم ۱۶: اعلام تخلف فک پلمب بصورت غیرقانونی"/>
          </p:cNvPr>
          <p:cNvSpPr/>
          <p:nvPr/>
        </p:nvSpPr>
        <p:spPr>
          <a:xfrm>
            <a:off x="539496" y="3858768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98"/>
          <p:cNvSpPr/>
          <p:nvPr/>
        </p:nvSpPr>
        <p:spPr>
          <a:xfrm>
            <a:off x="7726680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06" name="Shape 99"/>
          <p:cNvSpPr/>
          <p:nvPr/>
        </p:nvSpPr>
        <p:spPr>
          <a:xfrm>
            <a:off x="9418320" y="4736592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7" name="Text 100"/>
          <p:cNvSpPr txBox="1"/>
          <p:nvPr/>
        </p:nvSpPr>
        <p:spPr>
          <a:xfrm>
            <a:off x="9418320" y="4736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۱۷</a:t>
            </a:r>
            <a:endParaRPr lang="fa-IR" sz="1400" dirty="0"/>
          </a:p>
        </p:txBody>
      </p:sp>
      <p:sp>
        <p:nvSpPr>
          <p:cNvPr id="108" name="Text 101"/>
          <p:cNvSpPr txBox="1"/>
          <p:nvPr/>
        </p:nvSpPr>
        <p:spPr>
          <a:xfrm>
            <a:off x="7799832" y="4626864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بازگشایی برای رفع نواقص</a:t>
            </a:r>
            <a:endParaRPr lang="fa-IR" sz="1250" dirty="0"/>
          </a:p>
        </p:txBody>
      </p:sp>
      <p:sp>
        <p:nvSpPr>
          <p:cNvPr id="109" name="Shape 102">
            <a:hlinkClick r:id="rId32" tooltip="فرم ۱۷: درخواست کتبی مالک/ مدیر/ متصدی مبنی بر بازگشایی واحد/ مکان/ قسمت به منظور رفع نواقص بهداشتی"/>
          </p:cNvPr>
          <p:cNvSpPr/>
          <p:nvPr/>
        </p:nvSpPr>
        <p:spPr>
          <a:xfrm>
            <a:off x="7726680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Shape 103"/>
          <p:cNvSpPr/>
          <p:nvPr/>
        </p:nvSpPr>
        <p:spPr>
          <a:xfrm>
            <a:off x="5330952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11" name="Shape 104"/>
          <p:cNvSpPr/>
          <p:nvPr/>
        </p:nvSpPr>
        <p:spPr>
          <a:xfrm>
            <a:off x="7022592" y="4736592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Text 105"/>
          <p:cNvSpPr txBox="1"/>
          <p:nvPr/>
        </p:nvSpPr>
        <p:spPr>
          <a:xfrm>
            <a:off x="7022592" y="4736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۱۸</a:t>
            </a:r>
            <a:endParaRPr lang="fa-IR" sz="1400" dirty="0"/>
          </a:p>
        </p:txBody>
      </p:sp>
      <p:sp>
        <p:nvSpPr>
          <p:cNvPr id="113" name="Text 106"/>
          <p:cNvSpPr txBox="1"/>
          <p:nvPr/>
        </p:nvSpPr>
        <p:spPr>
          <a:xfrm>
            <a:off x="5404104" y="4626864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تعهد محضری</a:t>
            </a:r>
            <a:endParaRPr lang="fa-IR" sz="1250" dirty="0"/>
          </a:p>
        </p:txBody>
      </p:sp>
      <p:sp>
        <p:nvSpPr>
          <p:cNvPr id="114" name="Shape 107">
            <a:hlinkClick r:id="rId33" tooltip="فرم ۱۸: تعهد محضری"/>
          </p:cNvPr>
          <p:cNvSpPr/>
          <p:nvPr/>
        </p:nvSpPr>
        <p:spPr>
          <a:xfrm>
            <a:off x="5330952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5" name="Shape 108"/>
          <p:cNvSpPr/>
          <p:nvPr/>
        </p:nvSpPr>
        <p:spPr>
          <a:xfrm>
            <a:off x="2935224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16" name="Shape 109"/>
          <p:cNvSpPr/>
          <p:nvPr/>
        </p:nvSpPr>
        <p:spPr>
          <a:xfrm>
            <a:off x="4626864" y="4736592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7" name="Text 110"/>
          <p:cNvSpPr txBox="1"/>
          <p:nvPr/>
        </p:nvSpPr>
        <p:spPr>
          <a:xfrm>
            <a:off x="4626864" y="4736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۱۹</a:t>
            </a:r>
            <a:endParaRPr lang="fa-IR" sz="1400" dirty="0"/>
          </a:p>
        </p:txBody>
      </p:sp>
      <p:sp>
        <p:nvSpPr>
          <p:cNvPr id="118" name="Text 111"/>
          <p:cNvSpPr txBox="1"/>
          <p:nvPr/>
        </p:nvSpPr>
        <p:spPr>
          <a:xfrm>
            <a:off x="3008376" y="4626864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صورت مجلس فک پلمب برای رفع نواقص</a:t>
            </a:r>
            <a:endParaRPr lang="fa-IR" sz="1250" dirty="0"/>
          </a:p>
        </p:txBody>
      </p:sp>
      <p:sp>
        <p:nvSpPr>
          <p:cNvPr id="119" name="Shape 112">
            <a:hlinkClick r:id="rId34" tooltip="فرم ۱۹: صورت مجلس فک پلمب به منظور رفع نواقص بهداشتی"/>
          </p:cNvPr>
          <p:cNvSpPr/>
          <p:nvPr/>
        </p:nvSpPr>
        <p:spPr>
          <a:xfrm>
            <a:off x="2935224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0" name="Shape 113"/>
          <p:cNvSpPr/>
          <p:nvPr/>
        </p:nvSpPr>
        <p:spPr>
          <a:xfrm>
            <a:off x="539496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21" name="Shape 114"/>
          <p:cNvSpPr/>
          <p:nvPr/>
        </p:nvSpPr>
        <p:spPr>
          <a:xfrm>
            <a:off x="2231136" y="4736592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2" name="Text 115"/>
          <p:cNvSpPr txBox="1"/>
          <p:nvPr/>
        </p:nvSpPr>
        <p:spPr>
          <a:xfrm>
            <a:off x="2231136" y="4736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۲۰</a:t>
            </a:r>
            <a:endParaRPr lang="fa-IR" sz="1400" dirty="0"/>
          </a:p>
        </p:txBody>
      </p:sp>
      <p:sp>
        <p:nvSpPr>
          <p:cNvPr id="123" name="Text 116"/>
          <p:cNvSpPr txBox="1"/>
          <p:nvPr/>
        </p:nvSpPr>
        <p:spPr>
          <a:xfrm>
            <a:off x="612648" y="4626864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اعلام تخلف بهره برداری غیر مجاز</a:t>
            </a:r>
            <a:endParaRPr lang="fa-IR" sz="1250" dirty="0"/>
          </a:p>
        </p:txBody>
      </p:sp>
      <p:sp>
        <p:nvSpPr>
          <p:cNvPr id="124" name="Shape 117">
            <a:hlinkClick r:id="rId35" tooltip="فرم ۲۰: اعلام تخلف بهره برداری غیر مجاز"/>
          </p:cNvPr>
          <p:cNvSpPr/>
          <p:nvPr/>
        </p:nvSpPr>
        <p:spPr>
          <a:xfrm>
            <a:off x="539496" y="4626864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18"/>
          <p:cNvSpPr/>
          <p:nvPr/>
        </p:nvSpPr>
        <p:spPr>
          <a:xfrm>
            <a:off x="7726680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26" name="Shape 119"/>
          <p:cNvSpPr/>
          <p:nvPr/>
        </p:nvSpPr>
        <p:spPr>
          <a:xfrm>
            <a:off x="9418320" y="5504688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7" name="Text 120"/>
          <p:cNvSpPr txBox="1"/>
          <p:nvPr/>
        </p:nvSpPr>
        <p:spPr>
          <a:xfrm>
            <a:off x="9418320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۲۱</a:t>
            </a:r>
            <a:endParaRPr lang="fa-IR" sz="1400" dirty="0"/>
          </a:p>
        </p:txBody>
      </p:sp>
      <p:sp>
        <p:nvSpPr>
          <p:cNvPr id="128" name="Text 121"/>
          <p:cNvSpPr txBox="1"/>
          <p:nvPr/>
        </p:nvSpPr>
        <p:spPr>
          <a:xfrm>
            <a:off x="7799832" y="539496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صورت مجلس جمع آوری/ توقیف مواد غذایی</a:t>
            </a:r>
            <a:endParaRPr lang="fa-IR" sz="1250" dirty="0"/>
          </a:p>
        </p:txBody>
      </p:sp>
      <p:sp>
        <p:nvSpPr>
          <p:cNvPr id="129" name="Shape 122">
            <a:hlinkClick r:id="rId36" tooltip="فرم ۲۱: صورت مجلس جمع آوری/ توقیف مواد غذایی فاسد/ تاریخ مصرف گذشته/ فاقد مجوزهای بهداشتی (مشمول مجوز)"/>
          </p:cNvPr>
          <p:cNvSpPr/>
          <p:nvPr/>
        </p:nvSpPr>
        <p:spPr>
          <a:xfrm>
            <a:off x="7726680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Shape 123"/>
          <p:cNvSpPr/>
          <p:nvPr/>
        </p:nvSpPr>
        <p:spPr>
          <a:xfrm>
            <a:off x="5330952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31" name="Shape 124"/>
          <p:cNvSpPr/>
          <p:nvPr/>
        </p:nvSpPr>
        <p:spPr>
          <a:xfrm>
            <a:off x="7022592" y="5504688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2" name="Text 125"/>
          <p:cNvSpPr txBox="1"/>
          <p:nvPr/>
        </p:nvSpPr>
        <p:spPr>
          <a:xfrm>
            <a:off x="7022592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۲۲</a:t>
            </a:r>
            <a:endParaRPr lang="fa-IR" sz="1400" dirty="0"/>
          </a:p>
        </p:txBody>
      </p:sp>
      <p:sp>
        <p:nvSpPr>
          <p:cNvPr id="133" name="Text 126"/>
          <p:cNvSpPr txBox="1"/>
          <p:nvPr/>
        </p:nvSpPr>
        <p:spPr>
          <a:xfrm>
            <a:off x="5404104" y="539496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صورت مجلس معدوم سازی/ ارجاع مواد غذایی</a:t>
            </a:r>
            <a:endParaRPr lang="fa-IR" sz="1250" dirty="0"/>
          </a:p>
        </p:txBody>
      </p:sp>
      <p:sp>
        <p:nvSpPr>
          <p:cNvPr id="134" name="Shape 127">
            <a:hlinkClick r:id="rId37" tooltip="فرم ۲۲: صورت مجلس معدوم سازی/ ارجاع مواد غذایی"/>
          </p:cNvPr>
          <p:cNvSpPr/>
          <p:nvPr/>
        </p:nvSpPr>
        <p:spPr>
          <a:xfrm>
            <a:off x="5330952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5" name="Shape 128"/>
          <p:cNvSpPr/>
          <p:nvPr/>
        </p:nvSpPr>
        <p:spPr>
          <a:xfrm>
            <a:off x="2935224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36" name="Shape 129"/>
          <p:cNvSpPr/>
          <p:nvPr/>
        </p:nvSpPr>
        <p:spPr>
          <a:xfrm>
            <a:off x="4626864" y="5504688"/>
            <a:ext cx="457200" cy="457200"/>
          </a:xfrm>
          <a:prstGeom prst="ellipse">
            <a:avLst/>
          </a:prstGeom>
          <a:solidFill>
            <a:srgbClr val="0D3B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7" name="Text 130"/>
          <p:cNvSpPr txBox="1"/>
          <p:nvPr/>
        </p:nvSpPr>
        <p:spPr>
          <a:xfrm>
            <a:off x="4626864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۲۳</a:t>
            </a:r>
            <a:endParaRPr lang="fa-IR" sz="1400" dirty="0"/>
          </a:p>
        </p:txBody>
      </p:sp>
      <p:sp>
        <p:nvSpPr>
          <p:cNvPr id="138" name="Text 131"/>
          <p:cNvSpPr txBox="1"/>
          <p:nvPr/>
        </p:nvSpPr>
        <p:spPr>
          <a:xfrm>
            <a:off x="3008376" y="539496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ارجاع به دادگاه (مواد غذایی غیرمجاز)</a:t>
            </a:r>
            <a:endParaRPr lang="fa-IR" sz="1250" dirty="0"/>
          </a:p>
        </p:txBody>
      </p:sp>
      <p:sp>
        <p:nvSpPr>
          <p:cNvPr id="139" name="Shape 132">
            <a:hlinkClick r:id="rId38" tooltip="فرم ۲۳: ارجاع پرونده متخلف بهداشتی به دادگاه (به دلیل عرضه مواد غذایی فاسد، تاریخ مصرف گذشته و یا فاقد مجوزهای بهداشتی (مشمول مجوز))"/>
          </p:cNvPr>
          <p:cNvSpPr/>
          <p:nvPr/>
        </p:nvSpPr>
        <p:spPr>
          <a:xfrm>
            <a:off x="2935224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3"/>
          <p:cNvSpPr/>
          <p:nvPr/>
        </p:nvSpPr>
        <p:spPr>
          <a:xfrm>
            <a:off x="539496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4F7FB"/>
          </a:solidFill>
          <a:ln w="12700">
            <a:solidFill>
              <a:srgbClr val="DDE5F0"/>
            </a:solidFill>
            <a:prstDash val="solid"/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</p:sp>
      <p:sp>
        <p:nvSpPr>
          <p:cNvPr id="141" name="Shape 134"/>
          <p:cNvSpPr/>
          <p:nvPr/>
        </p:nvSpPr>
        <p:spPr>
          <a:xfrm>
            <a:off x="2231136" y="5504688"/>
            <a:ext cx="457200" cy="457200"/>
          </a:xfrm>
          <a:prstGeom prst="ellipse">
            <a:avLst/>
          </a:prstGeom>
          <a:solidFill>
            <a:srgbClr val="1E88E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2" name="Text 135"/>
          <p:cNvSpPr txBox="1"/>
          <p:nvPr/>
        </p:nvSpPr>
        <p:spPr>
          <a:xfrm>
            <a:off x="2231136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۲۴</a:t>
            </a:r>
            <a:endParaRPr lang="fa-IR" sz="1400" dirty="0"/>
          </a:p>
        </p:txBody>
      </p:sp>
      <p:sp>
        <p:nvSpPr>
          <p:cNvPr id="143" name="Text 136"/>
          <p:cNvSpPr txBox="1"/>
          <p:nvPr/>
        </p:nvSpPr>
        <p:spPr>
          <a:xfrm>
            <a:off x="612648" y="5394960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fa-IR" altLang="en-US" sz="125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درخواست اعلام نظر از سازمان های ذی ربط</a:t>
            </a:r>
            <a:endParaRPr lang="fa-IR" sz="1250" dirty="0"/>
          </a:p>
        </p:txBody>
      </p:sp>
      <p:sp>
        <p:nvSpPr>
          <p:cNvPr id="144" name="Shape 137">
            <a:hlinkClick r:id="rId39" tooltip="فرم ۲۴: درخواست اعلام نظر از سازمان های ذی ربط"/>
          </p:cNvPr>
          <p:cNvSpPr/>
          <p:nvPr/>
        </p:nvSpPr>
        <p:spPr>
          <a:xfrm>
            <a:off x="539496" y="5394960"/>
            <a:ext cx="2240280" cy="676656"/>
          </a:xfrm>
          <a:prstGeom prst="roundRect">
            <a:avLst>
              <a:gd name="adj" fmla="val 16216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5029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4400" b="1" dirty="0">
                <a:solidFill>
                  <a:srgbClr val="FFFFFF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سپاس از توجه شما</a:t>
            </a:r>
            <a:endParaRPr lang="fa-IR" sz="4400" dirty="0"/>
          </a:p>
        </p:txBody>
      </p:sp>
      <p:sp>
        <p:nvSpPr>
          <p:cNvPr id="3" name="Shape 1"/>
          <p:cNvSpPr/>
          <p:nvPr/>
        </p:nvSpPr>
        <p:spPr>
          <a:xfrm>
            <a:off x="1097280" y="4389120"/>
            <a:ext cx="1280160" cy="1280160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14630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66160" y="1965960"/>
            <a:ext cx="5029200" cy="3657600"/>
          </a:xfrm>
          <a:prstGeom prst="roundRect">
            <a:avLst>
              <a:gd name="adj" fmla="val 5000"/>
            </a:avLst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0" y="2057400"/>
            <a:ext cx="4846320" cy="347472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>
            <a:solidFill>
              <a:srgbClr val="FFFFFF"/>
            </a:solidFill>
          </a:ln>
          <a:effectLst>
            <a:outerShdw sx="100000" sy="100000" kx="0" ky="0" algn="bl" rotWithShape="0" blurRad="127000" dist="38100" dir="5400000">
              <a:srgbClr val="1B2A4A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fa-IR" altLang="en-US" sz="34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دستورالعمل اجرایی</a:t>
            </a:r>
            <a:endParaRPr lang="fa-IR" sz="5000" dirty="0"/>
          </a:p>
          <a:p>
            <a:pPr rtl="1" algn="ctr" indent="0" marL="0">
              <a:lnSpc>
                <a:spcPct val="120000"/>
              </a:lnSpc>
              <a:buNone/>
            </a:pPr>
            <a:r>
              <a:rPr lang="fa-IR" altLang="en-US" sz="5400" b="1" dirty="0">
                <a:solidFill>
                  <a:srgbClr val="0D3B8C"/>
                </a:solidFill>
                <a:latin typeface="B Nazanin" pitchFamily="34" charset="0"/>
                <a:ea typeface="B Nazanin" pitchFamily="34" charset="-122"/>
                <a:cs typeface="B Nazanin" pitchFamily="34" charset="-120"/>
              </a:rPr>
              <a:t>۱۸۰۳۹۲۰۶</a:t>
            </a:r>
            <a:endParaRPr lang="fa-IR" sz="5000" dirty="0"/>
          </a:p>
        </p:txBody>
      </p:sp>
      <p:pic>
        <p:nvPicPr>
          <p:cNvPr id="7" name="Image 0" descr="/tmp/claude-0/-home-user-Waste/dcb1a03d-345b-5441-8898-3e9a4c6379b1/scratchpad/build/assets/ic-8-verifieduser-pl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48056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 Nazani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 Nazani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گردش کار ماده ۱۳ — دستورالعمل اجرایی ۱۸۰۳۹۲۰۶</dc:title>
  <dc:subject>PptxGenJS Presentation</dc:subject>
  <dc:creator>PptxGenJS</dc:creator>
  <cp:lastModifiedBy>PptxGenJS</cp:lastModifiedBy>
  <cp:revision>1</cp:revision>
  <dcterms:created xsi:type="dcterms:W3CDTF">2026-10-09T17:55:57Z</dcterms:created>
  <dcterms:modified xsi:type="dcterms:W3CDTF">2026-10-09T17:55:57Z</dcterms:modified>
</cp:coreProperties>
</file>