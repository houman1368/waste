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jpe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 Target="slide4.xml"/><Relationship Id="rId5" Type="http://schemas.openxmlformats.org/officeDocument/2006/relationships/slide" Target="slide18.xml"/><Relationship Id="rId7" Type="http://schemas.openxmlformats.org/officeDocument/2006/relationships/slide" Target="slide24.xml"/><Relationship Id="rId9" Type="http://schemas.openxmlformats.org/officeDocument/2006/relationships/slide" Target="slide27.xml"/><Relationship Id="rId11" Type="http://schemas.openxmlformats.org/officeDocument/2006/relationships/slide" Target="slide37.xml"/><Relationship Id="rId1" Type="http://schemas.openxmlformats.org/officeDocument/2006/relationships/image" Target="../media/Slide-3-image-1.png"/><Relationship Id="rId2" Type="http://schemas.openxmlformats.org/officeDocument/2006/relationships/image" Target="../media/image-3-2.png"/><Relationship Id="rId4" Type="http://schemas.openxmlformats.org/officeDocument/2006/relationships/image" Target="../media/image-3-3.png"/><Relationship Id="rId6" Type="http://schemas.openxmlformats.org/officeDocument/2006/relationships/image" Target="../media/image-3-4.png"/><Relationship Id="rId8" Type="http://schemas.openxmlformats.org/officeDocument/2006/relationships/image" Target="../media/image-3-5.png"/><Relationship Id="rId10" Type="http://schemas.openxmlformats.org/officeDocument/2006/relationships/image" Target="../media/image-3-6.png"/><Relationship Id="rId12" Type="http://schemas.openxmlformats.org/officeDocument/2006/relationships/image" Target="../media/image-3-7.png"/><Relationship Id="rId13" Type="http://schemas.openxmlformats.org/officeDocument/2006/relationships/image" Target="../media/image-3-8.png"/><Relationship Id="rId14" Type="http://schemas.openxmlformats.org/officeDocument/2006/relationships/slideLayout" Target="../slideLayouts/slideLayout1.xml"/><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5" Type="http://schemas.openxmlformats.org/officeDocument/2006/relationships/slide" Target="slide3.xml"/><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6.xml"/><Relationship Id="rId12" Type="http://schemas.openxmlformats.org/officeDocument/2006/relationships/slide" Target="slide6.xml"/><Relationship Id="rId13" Type="http://schemas.openxmlformats.org/officeDocument/2006/relationships/slide" Target="slide4.xml"/><Relationship Id="rId15" Type="http://schemas.openxmlformats.org/officeDocument/2006/relationships/slide" Target="slide4.xm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11" Type="http://schemas.openxmlformats.org/officeDocument/2006/relationships/image" Target="../media/image-5-4.png"/><Relationship Id="rId14" Type="http://schemas.openxmlformats.org/officeDocument/2006/relationships/image" Target="../media/image-5-5.png"/><Relationship Id="rId16" Type="http://schemas.openxmlformats.org/officeDocument/2006/relationships/image" Target="../media/image-5-6.png"/><Relationship Id="rId17" Type="http://schemas.openxmlformats.org/officeDocument/2006/relationships/slideLayout" Target="../slideLayouts/slideLayout1.xml"/><Relationship Id="rId1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7.xml"/><Relationship Id="rId12" Type="http://schemas.openxmlformats.org/officeDocument/2006/relationships/slide" Target="slide7.xml"/><Relationship Id="rId13" Type="http://schemas.openxmlformats.org/officeDocument/2006/relationships/slide" Target="slide5.xml"/><Relationship Id="rId15" Type="http://schemas.openxmlformats.org/officeDocument/2006/relationships/slide" Target="slide5.xm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11" Type="http://schemas.openxmlformats.org/officeDocument/2006/relationships/image" Target="../media/image-6-4.png"/><Relationship Id="rId14" Type="http://schemas.openxmlformats.org/officeDocument/2006/relationships/image" Target="../media/image-6-5.png"/><Relationship Id="rId16" Type="http://schemas.openxmlformats.org/officeDocument/2006/relationships/slideLayout" Target="../slideLayouts/slideLayout1.xml"/><Relationship Id="rId1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8.xml"/><Relationship Id="rId12" Type="http://schemas.openxmlformats.org/officeDocument/2006/relationships/slide" Target="slide8.xml"/><Relationship Id="rId13" Type="http://schemas.openxmlformats.org/officeDocument/2006/relationships/slide" Target="slide6.xml"/><Relationship Id="rId15" Type="http://schemas.openxmlformats.org/officeDocument/2006/relationships/slide" Target="slide6.xm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11" Type="http://schemas.openxmlformats.org/officeDocument/2006/relationships/image" Target="../media/image-7-4.png"/><Relationship Id="rId14" Type="http://schemas.openxmlformats.org/officeDocument/2006/relationships/image" Target="../media/image-7-5.png"/><Relationship Id="rId16" Type="http://schemas.openxmlformats.org/officeDocument/2006/relationships/slideLayout" Target="../slideLayouts/slideLayout1.xml"/><Relationship Id="rId1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9.xml"/><Relationship Id="rId12" Type="http://schemas.openxmlformats.org/officeDocument/2006/relationships/slide" Target="slide9.xml"/><Relationship Id="rId13" Type="http://schemas.openxmlformats.org/officeDocument/2006/relationships/slide" Target="slide7.xml"/><Relationship Id="rId15" Type="http://schemas.openxmlformats.org/officeDocument/2006/relationships/slide" Target="slide7.xm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11" Type="http://schemas.openxmlformats.org/officeDocument/2006/relationships/image" Target="../media/image-8-4.png"/><Relationship Id="rId14" Type="http://schemas.openxmlformats.org/officeDocument/2006/relationships/image" Target="../media/image-8-5.png"/><Relationship Id="rId16" Type="http://schemas.openxmlformats.org/officeDocument/2006/relationships/slideLayout" Target="../slideLayouts/slideLayout1.xml"/><Relationship Id="rId1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10.xml"/><Relationship Id="rId12" Type="http://schemas.openxmlformats.org/officeDocument/2006/relationships/slide" Target="slide10.xml"/><Relationship Id="rId13" Type="http://schemas.openxmlformats.org/officeDocument/2006/relationships/slide" Target="slide8.xml"/><Relationship Id="rId15" Type="http://schemas.openxmlformats.org/officeDocument/2006/relationships/slide" Target="slide8.xml"/><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11" Type="http://schemas.openxmlformats.org/officeDocument/2006/relationships/image" Target="../media/image-9-4.png"/><Relationship Id="rId14" Type="http://schemas.openxmlformats.org/officeDocument/2006/relationships/image" Target="../media/image-9-5.png"/><Relationship Id="rId16" Type="http://schemas.openxmlformats.org/officeDocument/2006/relationships/slideLayout" Target="../slideLayouts/slideLayout1.xml"/><Relationship Id="rId1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11.xml"/><Relationship Id="rId12" Type="http://schemas.openxmlformats.org/officeDocument/2006/relationships/slide" Target="slide11.xml"/><Relationship Id="rId13" Type="http://schemas.openxmlformats.org/officeDocument/2006/relationships/slide" Target="slide9.xml"/><Relationship Id="rId15" Type="http://schemas.openxmlformats.org/officeDocument/2006/relationships/slide" Target="slide9.xml"/><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11" Type="http://schemas.openxmlformats.org/officeDocument/2006/relationships/image" Target="../media/image-10-4.png"/><Relationship Id="rId14" Type="http://schemas.openxmlformats.org/officeDocument/2006/relationships/image" Target="../media/image-10-5.png"/><Relationship Id="rId16" Type="http://schemas.openxmlformats.org/officeDocument/2006/relationships/slideLayout" Target="../slideLayouts/slideLayout1.xml"/><Relationship Id="rId1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12.xml"/><Relationship Id="rId12" Type="http://schemas.openxmlformats.org/officeDocument/2006/relationships/slide" Target="slide12.xml"/><Relationship Id="rId13" Type="http://schemas.openxmlformats.org/officeDocument/2006/relationships/slide" Target="slide10.xml"/><Relationship Id="rId15" Type="http://schemas.openxmlformats.org/officeDocument/2006/relationships/slide" Target="slide10.xml"/><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11" Type="http://schemas.openxmlformats.org/officeDocument/2006/relationships/image" Target="../media/image-11-4.png"/><Relationship Id="rId14" Type="http://schemas.openxmlformats.org/officeDocument/2006/relationships/image" Target="../media/image-11-5.png"/><Relationship Id="rId16" Type="http://schemas.openxmlformats.org/officeDocument/2006/relationships/slideLayout" Target="../slideLayouts/slideLayout1.xml"/><Relationship Id="rId1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13.xml"/><Relationship Id="rId12" Type="http://schemas.openxmlformats.org/officeDocument/2006/relationships/slide" Target="slide13.xml"/><Relationship Id="rId13" Type="http://schemas.openxmlformats.org/officeDocument/2006/relationships/slide" Target="slide11.xml"/><Relationship Id="rId15" Type="http://schemas.openxmlformats.org/officeDocument/2006/relationships/slide" Target="slide11.xm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11" Type="http://schemas.openxmlformats.org/officeDocument/2006/relationships/image" Target="../media/image-12-4.png"/><Relationship Id="rId14" Type="http://schemas.openxmlformats.org/officeDocument/2006/relationships/image" Target="../media/image-12-5.png"/><Relationship Id="rId16" Type="http://schemas.openxmlformats.org/officeDocument/2006/relationships/slideLayout" Target="../slideLayouts/slideLayout1.xml"/><Relationship Id="rId1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14.xml"/><Relationship Id="rId12" Type="http://schemas.openxmlformats.org/officeDocument/2006/relationships/slide" Target="slide14.xml"/><Relationship Id="rId13" Type="http://schemas.openxmlformats.org/officeDocument/2006/relationships/slide" Target="slide12.xml"/><Relationship Id="rId15" Type="http://schemas.openxmlformats.org/officeDocument/2006/relationships/slide" Target="slide12.xml"/><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11" Type="http://schemas.openxmlformats.org/officeDocument/2006/relationships/image" Target="../media/image-13-4.png"/><Relationship Id="rId14" Type="http://schemas.openxmlformats.org/officeDocument/2006/relationships/image" Target="../media/image-13-5.png"/><Relationship Id="rId16" Type="http://schemas.openxmlformats.org/officeDocument/2006/relationships/image" Target="../media/image-13-6.png"/><Relationship Id="rId17" Type="http://schemas.openxmlformats.org/officeDocument/2006/relationships/image" Target="../media/image-13-7.png"/><Relationship Id="rId18" Type="http://schemas.openxmlformats.org/officeDocument/2006/relationships/image" Target="../media/image-13-8.png"/><Relationship Id="rId19" Type="http://schemas.openxmlformats.org/officeDocument/2006/relationships/slideLayout" Target="../slideLayouts/slideLayout1.xml"/><Relationship Id="rId2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15.xml"/><Relationship Id="rId12" Type="http://schemas.openxmlformats.org/officeDocument/2006/relationships/slide" Target="slide15.xml"/><Relationship Id="rId13" Type="http://schemas.openxmlformats.org/officeDocument/2006/relationships/slide" Target="slide13.xml"/><Relationship Id="rId15" Type="http://schemas.openxmlformats.org/officeDocument/2006/relationships/slide" Target="slide13.xml"/><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11" Type="http://schemas.openxmlformats.org/officeDocument/2006/relationships/image" Target="../media/image-14-4.png"/><Relationship Id="rId14" Type="http://schemas.openxmlformats.org/officeDocument/2006/relationships/image" Target="../media/image-14-5.png"/><Relationship Id="rId16" Type="http://schemas.openxmlformats.org/officeDocument/2006/relationships/slideLayout" Target="../slideLayouts/slideLayout1.xml"/><Relationship Id="rId1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16.xml"/><Relationship Id="rId12" Type="http://schemas.openxmlformats.org/officeDocument/2006/relationships/slide" Target="slide16.xml"/><Relationship Id="rId13" Type="http://schemas.openxmlformats.org/officeDocument/2006/relationships/slide" Target="slide14.xml"/><Relationship Id="rId15" Type="http://schemas.openxmlformats.org/officeDocument/2006/relationships/slide" Target="slide14.xml"/><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11" Type="http://schemas.openxmlformats.org/officeDocument/2006/relationships/image" Target="../media/image-15-4.png"/><Relationship Id="rId14" Type="http://schemas.openxmlformats.org/officeDocument/2006/relationships/image" Target="../media/image-15-5.png"/><Relationship Id="rId16" Type="http://schemas.openxmlformats.org/officeDocument/2006/relationships/slideLayout" Target="../slideLayouts/slideLayout1.xml"/><Relationship Id="rId1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17.xml"/><Relationship Id="rId12" Type="http://schemas.openxmlformats.org/officeDocument/2006/relationships/slide" Target="slide17.xml"/><Relationship Id="rId13" Type="http://schemas.openxmlformats.org/officeDocument/2006/relationships/slide" Target="slide15.xml"/><Relationship Id="rId15" Type="http://schemas.openxmlformats.org/officeDocument/2006/relationships/slide" Target="slide15.xml"/><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11" Type="http://schemas.openxmlformats.org/officeDocument/2006/relationships/image" Target="../media/image-16-4.png"/><Relationship Id="rId14" Type="http://schemas.openxmlformats.org/officeDocument/2006/relationships/image" Target="../media/image-16-5.png"/><Relationship Id="rId16" Type="http://schemas.openxmlformats.org/officeDocument/2006/relationships/slideLayout" Target="../slideLayouts/slideLayout1.xml"/><Relationship Id="rId1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18.xml"/><Relationship Id="rId12" Type="http://schemas.openxmlformats.org/officeDocument/2006/relationships/slide" Target="slide18.xml"/><Relationship Id="rId13" Type="http://schemas.openxmlformats.org/officeDocument/2006/relationships/slide" Target="slide16.xml"/><Relationship Id="rId15" Type="http://schemas.openxmlformats.org/officeDocument/2006/relationships/slide" Target="slide16.xml"/><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11" Type="http://schemas.openxmlformats.org/officeDocument/2006/relationships/image" Target="../media/image-17-4.png"/><Relationship Id="rId14" Type="http://schemas.openxmlformats.org/officeDocument/2006/relationships/image" Target="../media/image-17-5.png"/><Relationship Id="rId16" Type="http://schemas.openxmlformats.org/officeDocument/2006/relationships/image" Target="../media/image-17-6.png"/><Relationship Id="rId17" Type="http://schemas.openxmlformats.org/officeDocument/2006/relationships/slideLayout" Target="../slideLayouts/slideLayout1.xml"/><Relationship Id="rId1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5" Type="http://schemas.openxmlformats.org/officeDocument/2006/relationships/slide" Target="slide3.xml"/><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20.xml"/><Relationship Id="rId12" Type="http://schemas.openxmlformats.org/officeDocument/2006/relationships/slide" Target="slide20.xml"/><Relationship Id="rId13" Type="http://schemas.openxmlformats.org/officeDocument/2006/relationships/slide" Target="slide18.xml"/><Relationship Id="rId15" Type="http://schemas.openxmlformats.org/officeDocument/2006/relationships/slide" Target="slide18.xml"/><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11" Type="http://schemas.openxmlformats.org/officeDocument/2006/relationships/image" Target="../media/image-19-4.png"/><Relationship Id="rId14" Type="http://schemas.openxmlformats.org/officeDocument/2006/relationships/image" Target="../media/image-19-5.png"/><Relationship Id="rId16" Type="http://schemas.openxmlformats.org/officeDocument/2006/relationships/slideLayout" Target="../slideLayouts/slideLayout1.xml"/><Relationship Id="rId1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21.xml"/><Relationship Id="rId12" Type="http://schemas.openxmlformats.org/officeDocument/2006/relationships/slide" Target="slide21.xml"/><Relationship Id="rId13" Type="http://schemas.openxmlformats.org/officeDocument/2006/relationships/slide" Target="slide19.xml"/><Relationship Id="rId15" Type="http://schemas.openxmlformats.org/officeDocument/2006/relationships/slide" Target="slide19.xml"/><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11" Type="http://schemas.openxmlformats.org/officeDocument/2006/relationships/image" Target="../media/image-20-4.png"/><Relationship Id="rId14" Type="http://schemas.openxmlformats.org/officeDocument/2006/relationships/image" Target="../media/image-20-5.png"/><Relationship Id="rId16" Type="http://schemas.openxmlformats.org/officeDocument/2006/relationships/slideLayout" Target="../slideLayouts/slideLayout1.xml"/><Relationship Id="rId1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22.xml"/><Relationship Id="rId12" Type="http://schemas.openxmlformats.org/officeDocument/2006/relationships/slide" Target="slide22.xml"/><Relationship Id="rId13" Type="http://schemas.openxmlformats.org/officeDocument/2006/relationships/slide" Target="slide20.xml"/><Relationship Id="rId15" Type="http://schemas.openxmlformats.org/officeDocument/2006/relationships/slide" Target="slide20.xml"/><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11" Type="http://schemas.openxmlformats.org/officeDocument/2006/relationships/image" Target="../media/image-21-4.png"/><Relationship Id="rId14" Type="http://schemas.openxmlformats.org/officeDocument/2006/relationships/image" Target="../media/image-21-5.png"/><Relationship Id="rId16" Type="http://schemas.openxmlformats.org/officeDocument/2006/relationships/slideLayout" Target="../slideLayouts/slideLayout1.xml"/><Relationship Id="rId1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23.xml"/><Relationship Id="rId12" Type="http://schemas.openxmlformats.org/officeDocument/2006/relationships/slide" Target="slide23.xml"/><Relationship Id="rId13" Type="http://schemas.openxmlformats.org/officeDocument/2006/relationships/slide" Target="slide21.xml"/><Relationship Id="rId15" Type="http://schemas.openxmlformats.org/officeDocument/2006/relationships/slide" Target="slide21.xml"/><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11" Type="http://schemas.openxmlformats.org/officeDocument/2006/relationships/image" Target="../media/image-22-4.png"/><Relationship Id="rId14" Type="http://schemas.openxmlformats.org/officeDocument/2006/relationships/image" Target="../media/image-22-5.png"/><Relationship Id="rId16" Type="http://schemas.openxmlformats.org/officeDocument/2006/relationships/image" Target="../media/image-22-6.png"/><Relationship Id="rId17" Type="http://schemas.openxmlformats.org/officeDocument/2006/relationships/slideLayout" Target="../slideLayouts/slideLayout1.xml"/><Relationship Id="rId1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24.xml"/><Relationship Id="rId12" Type="http://schemas.openxmlformats.org/officeDocument/2006/relationships/slide" Target="slide24.xml"/><Relationship Id="rId13" Type="http://schemas.openxmlformats.org/officeDocument/2006/relationships/slide" Target="slide22.xml"/><Relationship Id="rId15" Type="http://schemas.openxmlformats.org/officeDocument/2006/relationships/slide" Target="slide22.xml"/><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11" Type="http://schemas.openxmlformats.org/officeDocument/2006/relationships/image" Target="../media/image-23-4.png"/><Relationship Id="rId14" Type="http://schemas.openxmlformats.org/officeDocument/2006/relationships/image" Target="../media/image-23-5.png"/><Relationship Id="rId16" Type="http://schemas.openxmlformats.org/officeDocument/2006/relationships/slideLayout" Target="../slideLayouts/slideLayout1.xml"/><Relationship Id="rId1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5" Type="http://schemas.openxmlformats.org/officeDocument/2006/relationships/slide" Target="slide3.xml"/><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26.xml"/><Relationship Id="rId12" Type="http://schemas.openxmlformats.org/officeDocument/2006/relationships/slide" Target="slide26.xml"/><Relationship Id="rId13" Type="http://schemas.openxmlformats.org/officeDocument/2006/relationships/slide" Target="slide24.xml"/><Relationship Id="rId15" Type="http://schemas.openxmlformats.org/officeDocument/2006/relationships/slide" Target="slide24.xml"/><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11" Type="http://schemas.openxmlformats.org/officeDocument/2006/relationships/image" Target="../media/image-25-4.png"/><Relationship Id="rId14" Type="http://schemas.openxmlformats.org/officeDocument/2006/relationships/image" Target="../media/image-25-5.png"/><Relationship Id="rId16" Type="http://schemas.openxmlformats.org/officeDocument/2006/relationships/slideLayout" Target="../slideLayouts/slideLayout1.xml"/><Relationship Id="rId1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27.xml"/><Relationship Id="rId12" Type="http://schemas.openxmlformats.org/officeDocument/2006/relationships/slide" Target="slide27.xml"/><Relationship Id="rId13" Type="http://schemas.openxmlformats.org/officeDocument/2006/relationships/slide" Target="slide25.xml"/><Relationship Id="rId15" Type="http://schemas.openxmlformats.org/officeDocument/2006/relationships/slide" Target="slide25.xml"/><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11" Type="http://schemas.openxmlformats.org/officeDocument/2006/relationships/image" Target="../media/image-26-4.png"/><Relationship Id="rId14" Type="http://schemas.openxmlformats.org/officeDocument/2006/relationships/image" Target="../media/image-26-5.png"/><Relationship Id="rId16" Type="http://schemas.openxmlformats.org/officeDocument/2006/relationships/slideLayout" Target="../slideLayouts/slideLayout1.xml"/><Relationship Id="rId1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5" Type="http://schemas.openxmlformats.org/officeDocument/2006/relationships/slide" Target="slide3.xml"/><Relationship Id="rId1" Type="http://schemas.openxmlformats.org/officeDocument/2006/relationships/image" Target="../media/Slide-27-image-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29.xml"/><Relationship Id="rId12" Type="http://schemas.openxmlformats.org/officeDocument/2006/relationships/slide" Target="slide29.xml"/><Relationship Id="rId13" Type="http://schemas.openxmlformats.org/officeDocument/2006/relationships/slide" Target="slide27.xml"/><Relationship Id="rId15" Type="http://schemas.openxmlformats.org/officeDocument/2006/relationships/slide" Target="slide27.xml"/><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11" Type="http://schemas.openxmlformats.org/officeDocument/2006/relationships/image" Target="../media/image-28-4.png"/><Relationship Id="rId14" Type="http://schemas.openxmlformats.org/officeDocument/2006/relationships/image" Target="../media/image-28-5.png"/><Relationship Id="rId16" Type="http://schemas.openxmlformats.org/officeDocument/2006/relationships/slideLayout" Target="../slideLayouts/slideLayout1.xml"/><Relationship Id="rId1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30.xml"/><Relationship Id="rId12" Type="http://schemas.openxmlformats.org/officeDocument/2006/relationships/slide" Target="slide30.xml"/><Relationship Id="rId13" Type="http://schemas.openxmlformats.org/officeDocument/2006/relationships/slide" Target="slide28.xml"/><Relationship Id="rId15" Type="http://schemas.openxmlformats.org/officeDocument/2006/relationships/slide" Target="slide28.xml"/><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11" Type="http://schemas.openxmlformats.org/officeDocument/2006/relationships/image" Target="../media/image-29-4.png"/><Relationship Id="rId14" Type="http://schemas.openxmlformats.org/officeDocument/2006/relationships/image" Target="../media/image-29-5.png"/><Relationship Id="rId16" Type="http://schemas.openxmlformats.org/officeDocument/2006/relationships/slideLayout" Target="../slideLayouts/slideLayout1.xml"/><Relationship Id="rId1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31.xml"/><Relationship Id="rId12" Type="http://schemas.openxmlformats.org/officeDocument/2006/relationships/slide" Target="slide31.xml"/><Relationship Id="rId13" Type="http://schemas.openxmlformats.org/officeDocument/2006/relationships/slide" Target="slide29.xml"/><Relationship Id="rId15" Type="http://schemas.openxmlformats.org/officeDocument/2006/relationships/slide" Target="slide29.xml"/><Relationship Id="rId16" Type="http://schemas.openxmlformats.org/officeDocument/2006/relationships/hyperlink" Target="Madde13-Forms.docx#form_3" TargetMode="External"/><Relationship Id="rId17" Type="http://schemas.openxmlformats.org/officeDocument/2006/relationships/hyperlink" Target="Madde13-Forms.docx#form_9" TargetMode="External"/><Relationship Id="rId18" Type="http://schemas.openxmlformats.org/officeDocument/2006/relationships/hyperlink" Target="Madde13-Forms.docx#form_10" TargetMode="External"/><Relationship Id="rId19" Type="http://schemas.openxmlformats.org/officeDocument/2006/relationships/hyperlink" Target="Madde13-Forms.docx#form_18" TargetMode="External"/><Relationship Id="rId20" Type="http://schemas.openxmlformats.org/officeDocument/2006/relationships/hyperlink" Target="Madde13-Forms.docx#form_19" TargetMode="External"/><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11" Type="http://schemas.openxmlformats.org/officeDocument/2006/relationships/image" Target="../media/image-30-4.png"/><Relationship Id="rId14" Type="http://schemas.openxmlformats.org/officeDocument/2006/relationships/image" Target="../media/image-30-5.png"/><Relationship Id="rId21" Type="http://schemas.openxmlformats.org/officeDocument/2006/relationships/slideLayout" Target="../slideLayouts/slideLayout1.xml"/><Relationship Id="rId2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32.xml"/><Relationship Id="rId12" Type="http://schemas.openxmlformats.org/officeDocument/2006/relationships/slide" Target="slide32.xml"/><Relationship Id="rId13" Type="http://schemas.openxmlformats.org/officeDocument/2006/relationships/slide" Target="slide30.xml"/><Relationship Id="rId15" Type="http://schemas.openxmlformats.org/officeDocument/2006/relationships/slide" Target="slide30.xml"/><Relationship Id="rId16" Type="http://schemas.openxmlformats.org/officeDocument/2006/relationships/hyperlink" Target="Madde13-Forms.docx#form_4" TargetMode="External"/><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11" Type="http://schemas.openxmlformats.org/officeDocument/2006/relationships/image" Target="../media/image-31-4.png"/><Relationship Id="rId14" Type="http://schemas.openxmlformats.org/officeDocument/2006/relationships/image" Target="../media/image-31-5.png"/><Relationship Id="rId17" Type="http://schemas.openxmlformats.org/officeDocument/2006/relationships/slideLayout" Target="../slideLayouts/slideLayout1.xml"/><Relationship Id="rId1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33.xml"/><Relationship Id="rId12" Type="http://schemas.openxmlformats.org/officeDocument/2006/relationships/slide" Target="slide33.xml"/><Relationship Id="rId13" Type="http://schemas.openxmlformats.org/officeDocument/2006/relationships/slide" Target="slide31.xml"/><Relationship Id="rId15" Type="http://schemas.openxmlformats.org/officeDocument/2006/relationships/slide" Target="slide31.xml"/><Relationship Id="rId16" Type="http://schemas.openxmlformats.org/officeDocument/2006/relationships/hyperlink" Target="Madde13-Forms.docx#form_4" TargetMode="External"/><Relationship Id="rId17" Type="http://schemas.openxmlformats.org/officeDocument/2006/relationships/hyperlink" Target="Madde13-Forms.docx#form_12" TargetMode="External"/><Relationship Id="rId18" Type="http://schemas.openxmlformats.org/officeDocument/2006/relationships/hyperlink" Target="Madde13-Forms.docx#form_13" TargetMode="External"/><Relationship Id="rId19" Type="http://schemas.openxmlformats.org/officeDocument/2006/relationships/hyperlink" Target="Madde13-Forms.docx#form_14" TargetMode="External"/><Relationship Id="rId20" Type="http://schemas.openxmlformats.org/officeDocument/2006/relationships/hyperlink" Target="Madde13-Forms.docx#form_9" TargetMode="External"/><Relationship Id="rId21" Type="http://schemas.openxmlformats.org/officeDocument/2006/relationships/hyperlink" Target="Madde13-Forms.docx#form_11" TargetMode="External"/><Relationship Id="rId22" Type="http://schemas.openxmlformats.org/officeDocument/2006/relationships/hyperlink" Target="Madde13-Forms.docx#form_18" TargetMode="External"/><Relationship Id="rId23" Type="http://schemas.openxmlformats.org/officeDocument/2006/relationships/hyperlink" Target="Madde13-Forms.docx#form_19" TargetMode="External"/><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11" Type="http://schemas.openxmlformats.org/officeDocument/2006/relationships/image" Target="../media/image-32-4.png"/><Relationship Id="rId14" Type="http://schemas.openxmlformats.org/officeDocument/2006/relationships/image" Target="../media/image-32-5.png"/><Relationship Id="rId24" Type="http://schemas.openxmlformats.org/officeDocument/2006/relationships/slideLayout" Target="../slideLayouts/slideLayout1.xml"/><Relationship Id="rId2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34.xml"/><Relationship Id="rId12" Type="http://schemas.openxmlformats.org/officeDocument/2006/relationships/slide" Target="slide34.xml"/><Relationship Id="rId13" Type="http://schemas.openxmlformats.org/officeDocument/2006/relationships/slide" Target="slide32.xml"/><Relationship Id="rId15" Type="http://schemas.openxmlformats.org/officeDocument/2006/relationships/slide" Target="slide32.xml"/><Relationship Id="rId16" Type="http://schemas.openxmlformats.org/officeDocument/2006/relationships/hyperlink" Target="Madde13-Forms.docx#form_21" TargetMode="External"/><Relationship Id="rId17" Type="http://schemas.openxmlformats.org/officeDocument/2006/relationships/hyperlink" Target="Madde13-Forms.docx#form_22" TargetMode="External"/><Relationship Id="rId18" Type="http://schemas.openxmlformats.org/officeDocument/2006/relationships/hyperlink" Target="Madde13-Forms.docx#form_23" TargetMode="External"/><Relationship Id="rId19" Type="http://schemas.openxmlformats.org/officeDocument/2006/relationships/hyperlink" Target="Madde13-Forms.docx#form_24" TargetMode="External"/><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11" Type="http://schemas.openxmlformats.org/officeDocument/2006/relationships/image" Target="../media/image-33-4.png"/><Relationship Id="rId14" Type="http://schemas.openxmlformats.org/officeDocument/2006/relationships/image" Target="../media/image-33-5.png"/><Relationship Id="rId20" Type="http://schemas.openxmlformats.org/officeDocument/2006/relationships/slideLayout" Target="../slideLayouts/slideLayout1.xml"/><Relationship Id="rId21"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35.xml"/><Relationship Id="rId12" Type="http://schemas.openxmlformats.org/officeDocument/2006/relationships/slide" Target="slide35.xml"/><Relationship Id="rId13" Type="http://schemas.openxmlformats.org/officeDocument/2006/relationships/slide" Target="slide33.xml"/><Relationship Id="rId15" Type="http://schemas.openxmlformats.org/officeDocument/2006/relationships/slide" Target="slide33.xml"/><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11" Type="http://schemas.openxmlformats.org/officeDocument/2006/relationships/image" Target="../media/image-34-4.png"/><Relationship Id="rId14" Type="http://schemas.openxmlformats.org/officeDocument/2006/relationships/image" Target="../media/image-34-5.png"/><Relationship Id="rId16" Type="http://schemas.openxmlformats.org/officeDocument/2006/relationships/slideLayout" Target="../slideLayouts/slideLayout1.xml"/><Relationship Id="rId1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36.xml"/><Relationship Id="rId12" Type="http://schemas.openxmlformats.org/officeDocument/2006/relationships/slide" Target="slide36.xml"/><Relationship Id="rId13" Type="http://schemas.openxmlformats.org/officeDocument/2006/relationships/slide" Target="slide34.xml"/><Relationship Id="rId15" Type="http://schemas.openxmlformats.org/officeDocument/2006/relationships/slide" Target="slide34.xml"/><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11" Type="http://schemas.openxmlformats.org/officeDocument/2006/relationships/image" Target="../media/image-35-4.png"/><Relationship Id="rId14" Type="http://schemas.openxmlformats.org/officeDocument/2006/relationships/image" Target="../media/image-35-5.png"/><Relationship Id="rId16" Type="http://schemas.openxmlformats.org/officeDocument/2006/relationships/slideLayout" Target="../slideLayouts/slideLayout1.xml"/><Relationship Id="rId1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37.xml"/><Relationship Id="rId12" Type="http://schemas.openxmlformats.org/officeDocument/2006/relationships/slide" Target="slide37.xml"/><Relationship Id="rId13" Type="http://schemas.openxmlformats.org/officeDocument/2006/relationships/slide" Target="slide35.xml"/><Relationship Id="rId15" Type="http://schemas.openxmlformats.org/officeDocument/2006/relationships/slide" Target="slide35.xml"/><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11" Type="http://schemas.openxmlformats.org/officeDocument/2006/relationships/image" Target="../media/image-36-4.png"/><Relationship Id="rId14" Type="http://schemas.openxmlformats.org/officeDocument/2006/relationships/image" Target="../media/image-36-5.png"/><Relationship Id="rId16" Type="http://schemas.openxmlformats.org/officeDocument/2006/relationships/image" Target="../media/image-36-6.png"/><Relationship Id="rId17" Type="http://schemas.openxmlformats.org/officeDocument/2006/relationships/slideLayout" Target="../slideLayouts/slideLayout1.xml"/><Relationship Id="rId1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5" Type="http://schemas.openxmlformats.org/officeDocument/2006/relationships/slide" Target="slide3.xml"/><Relationship Id="rId1" Type="http://schemas.openxmlformats.org/officeDocument/2006/relationships/image" Target="../media/Slide-37-image-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6" Type="http://schemas.openxmlformats.org/officeDocument/2006/relationships/slideLayout" Target="../slideLayouts/slideLayout1.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39.xml"/><Relationship Id="rId12" Type="http://schemas.openxmlformats.org/officeDocument/2006/relationships/slide" Target="slide39.xml"/><Relationship Id="rId13" Type="http://schemas.openxmlformats.org/officeDocument/2006/relationships/slide" Target="slide37.xml"/><Relationship Id="rId15" Type="http://schemas.openxmlformats.org/officeDocument/2006/relationships/slide" Target="slide37.xml"/><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11" Type="http://schemas.openxmlformats.org/officeDocument/2006/relationships/image" Target="../media/image-38-4.png"/><Relationship Id="rId14" Type="http://schemas.openxmlformats.org/officeDocument/2006/relationships/image" Target="../media/image-38-5.png"/><Relationship Id="rId16" Type="http://schemas.openxmlformats.org/officeDocument/2006/relationships/image" Target="../media/image-38-6.png"/><Relationship Id="rId17" Type="http://schemas.openxmlformats.org/officeDocument/2006/relationships/image" Target="../media/image-38-6.png"/><Relationship Id="rId18" Type="http://schemas.openxmlformats.org/officeDocument/2006/relationships/slideLayout" Target="../slideLayouts/slideLayout1.xml"/><Relationship Id="rId19"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40.xml"/><Relationship Id="rId12" Type="http://schemas.openxmlformats.org/officeDocument/2006/relationships/slide" Target="slide40.xml"/><Relationship Id="rId13" Type="http://schemas.openxmlformats.org/officeDocument/2006/relationships/slide" Target="slide38.xml"/><Relationship Id="rId15" Type="http://schemas.openxmlformats.org/officeDocument/2006/relationships/slide" Target="slide38.xml"/><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11" Type="http://schemas.openxmlformats.org/officeDocument/2006/relationships/image" Target="../media/image-39-4.png"/><Relationship Id="rId14" Type="http://schemas.openxmlformats.org/officeDocument/2006/relationships/image" Target="../media/image-39-5.png"/><Relationship Id="rId16" Type="http://schemas.openxmlformats.org/officeDocument/2006/relationships/image" Target="../media/image-39-6.png"/><Relationship Id="rId17" Type="http://schemas.openxmlformats.org/officeDocument/2006/relationships/slideLayout" Target="../slideLayouts/slideLayout1.xml"/><Relationship Id="rId18"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41.xml"/><Relationship Id="rId12" Type="http://schemas.openxmlformats.org/officeDocument/2006/relationships/slide" Target="slide41.xml"/><Relationship Id="rId13" Type="http://schemas.openxmlformats.org/officeDocument/2006/relationships/slide" Target="slide39.xml"/><Relationship Id="rId15" Type="http://schemas.openxmlformats.org/officeDocument/2006/relationships/slide" Target="slide39.xml"/><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11" Type="http://schemas.openxmlformats.org/officeDocument/2006/relationships/image" Target="../media/image-40-4.png"/><Relationship Id="rId14" Type="http://schemas.openxmlformats.org/officeDocument/2006/relationships/image" Target="../media/image-40-5.png"/><Relationship Id="rId16" Type="http://schemas.openxmlformats.org/officeDocument/2006/relationships/image" Target="../media/image-40-6.png"/><Relationship Id="rId17" Type="http://schemas.openxmlformats.org/officeDocument/2006/relationships/slideLayout" Target="../slideLayouts/slideLayout1.xml"/><Relationship Id="rId18"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8.xml"/><Relationship Id="rId7" Type="http://schemas.openxmlformats.org/officeDocument/2006/relationships/slide" Target="slide24.xml"/><Relationship Id="rId8" Type="http://schemas.openxmlformats.org/officeDocument/2006/relationships/slide" Target="slide27.xml"/><Relationship Id="rId9" Type="http://schemas.openxmlformats.org/officeDocument/2006/relationships/slide" Target="slide37.xml"/><Relationship Id="rId10" Type="http://schemas.openxmlformats.org/officeDocument/2006/relationships/slide" Target="slide42.xml"/><Relationship Id="rId12" Type="http://schemas.openxmlformats.org/officeDocument/2006/relationships/slide" Target="slide42.xml"/><Relationship Id="rId13" Type="http://schemas.openxmlformats.org/officeDocument/2006/relationships/slide" Target="slide40.xml"/><Relationship Id="rId15" Type="http://schemas.openxmlformats.org/officeDocument/2006/relationships/slide" Target="slide40.xml"/><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11" Type="http://schemas.openxmlformats.org/officeDocument/2006/relationships/image" Target="../media/image-41-4.png"/><Relationship Id="rId14"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image" Target="../media/image-41-7.png"/><Relationship Id="rId18" Type="http://schemas.openxmlformats.org/officeDocument/2006/relationships/image" Target="../media/image-41-8.png"/><Relationship Id="rId19" Type="http://schemas.openxmlformats.org/officeDocument/2006/relationships/slideLayout" Target="../slideLayouts/slideLayout1.xml"/><Relationship Id="rId20"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2478024" y="914400"/>
            <a:ext cx="7223760" cy="4983480"/>
          </a:xfrm>
          <a:prstGeom prst="roundRect">
            <a:avLst>
              <a:gd name="adj" fmla="val 3670"/>
            </a:avLst>
          </a:prstGeom>
          <a:solidFill>
            <a:srgbClr val="FFC107"/>
          </a:solidFill>
          <a:ln w="12700">
            <a:solidFill>
              <a:srgbClr val="FFC107"/>
            </a:solidFill>
            <a:prstDash val="solid"/>
          </a:ln>
        </p:spPr>
      </p:sp>
      <p:sp>
        <p:nvSpPr>
          <p:cNvPr id="3" name="Shape 1"/>
          <p:cNvSpPr/>
          <p:nvPr/>
        </p:nvSpPr>
        <p:spPr>
          <a:xfrm>
            <a:off x="2569464" y="1005840"/>
            <a:ext cx="7040880" cy="4800600"/>
          </a:xfrm>
          <a:prstGeom prst="roundRect">
            <a:avLst>
              <a:gd name="adj" fmla="val 3429"/>
            </a:avLst>
          </a:prstGeom>
          <a:solidFill>
            <a:srgbClr val="FFFFFF"/>
          </a:solidFill>
          <a:ln w="12700">
            <a:solidFill>
              <a:srgbClr val="FFFFFF"/>
            </a:solidFill>
            <a:prstDash val="solid"/>
          </a:ln>
          <a:effectLst>
            <a:outerShdw sx="100000" sy="100000" kx="0" ky="0" algn="bl" rotWithShape="0" blurRad="127000" dist="38100" dir="5400000">
              <a:srgbClr val="1B2A4A">
                <a:alpha val="18000"/>
              </a:srgbClr>
            </a:outerShdw>
          </a:effectLst>
        </p:spPr>
      </p:sp>
      <p:pic>
        <p:nvPicPr>
          <p:cNvPr id="4" name="Image 0" descr="/tmp/claude-0/-home-user-Waste/dcb1a03d-345b-5441-8898-3e9a4c6379b1/scratchpad/build/assets/bismillah.jpeg">    </p:cNvPr>
          <p:cNvPicPr>
            <a:picLocks noChangeAspect="1"/>
          </p:cNvPicPr>
          <p:nvPr/>
        </p:nvPicPr>
        <p:blipFill>
          <a:blip r:embed="rId2"/>
          <a:stretch>
            <a:fillRect/>
          </a:stretch>
        </p:blipFill>
        <p:spPr>
          <a:xfrm>
            <a:off x="2752344" y="1161288"/>
            <a:ext cx="6675120" cy="4453128"/>
          </a:xfrm>
          <a:prstGeom prst="rect">
            <a:avLst/>
          </a:prstGeom>
        </p:spPr>
      </p:pic>
      <p:sp>
        <p:nvSpPr>
          <p:cNvPr id="5" name="Shape 2"/>
          <p:cNvSpPr/>
          <p:nvPr/>
        </p:nvSpPr>
        <p:spPr>
          <a:xfrm>
            <a:off x="1005840" y="4754880"/>
            <a:ext cx="1280160" cy="1280160"/>
          </a:xfrm>
          <a:prstGeom prst="ellipse">
            <a:avLst/>
          </a:prstGeom>
          <a:solidFill>
            <a:srgbClr val="FFC107"/>
          </a:solidFill>
          <a:ln w="12700">
            <a:solidFill>
              <a:srgbClr val="FFC107"/>
            </a:solidFill>
            <a:prstDash val="solid"/>
          </a:ln>
        </p:spPr>
      </p:sp>
      <p:sp>
        <p:nvSpPr>
          <p:cNvPr id="6" name="Shape 3"/>
          <p:cNvSpPr/>
          <p:nvPr/>
        </p:nvSpPr>
        <p:spPr>
          <a:xfrm>
            <a:off x="10149840" y="1097280"/>
            <a:ext cx="640080" cy="640080"/>
          </a:xfrm>
          <a:prstGeom prst="ellipse">
            <a:avLst/>
          </a:prstGeom>
          <a:solidFill>
            <a:srgbClr val="FFFFFF"/>
          </a:solidFill>
          <a:ln w="12700">
            <a:solidFill>
              <a:srgbClr val="FFFFF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2920" y="914400"/>
            <a:ext cx="5212080" cy="5212080"/>
          </a:xfrm>
          <a:prstGeom prst="ellipse">
            <a:avLst/>
          </a:prstGeom>
          <a:solidFill>
            <a:srgbClr val="FFFFFF"/>
          </a:solidFill>
          <a:ln w="38100">
            <a:solidFill>
              <a:srgbClr val="FFC107"/>
            </a:solidFill>
            <a:prstDash val="solid"/>
          </a:ln>
          <a:effectLst>
            <a:outerShdw sx="100000" sy="100000" kx="0" ky="0" algn="bl" rotWithShape="0" blurRad="127000" dist="38100" dir="5400000">
              <a:srgbClr val="1B2A4A">
                <a:alpha val="18000"/>
              </a:srgbClr>
            </a:outerShdw>
          </a:effectLst>
        </p:spPr>
      </p:sp>
      <p:pic>
        <p:nvPicPr>
          <p:cNvPr id="3" name="Image 0" descr="/tmp/claude-0/-home-user-Waste/dcb1a03d-345b-5441-8898-3e9a4c6379b1/scratchpad/build/assets/ic-1-contentpastesearch-feature.png">    </p:cNvPr>
          <p:cNvPicPr>
            <a:picLocks noChangeAspect="1"/>
          </p:cNvPicPr>
          <p:nvPr/>
        </p:nvPicPr>
        <p:blipFill>
          <a:blip r:embed="rId2"/>
          <a:stretch>
            <a:fillRect/>
          </a:stretch>
        </p:blipFill>
        <p:spPr>
          <a:xfrm>
            <a:off x="777240" y="1188720"/>
            <a:ext cx="4663440" cy="4663440"/>
          </a:xfrm>
          <a:prstGeom prst="ellipse">
            <a:avLst/>
          </a:prstGeom>
        </p:spPr>
      </p:pic>
      <p:sp>
        <p:nvSpPr>
          <p:cNvPr id="4" name="Shape 1"/>
          <p:cNvSpPr/>
          <p:nvPr/>
        </p:nvSpPr>
        <p:spPr>
          <a:xfrm>
            <a:off x="5074920" y="1143000"/>
            <a:ext cx="320040" cy="320040"/>
          </a:xfrm>
          <a:prstGeom prst="ellipse">
            <a:avLst/>
          </a:prstGeom>
          <a:solidFill>
            <a:srgbClr val="FFC107"/>
          </a:solidFill>
          <a:ln w="12700">
            <a:solidFill>
              <a:srgbClr val="FFC107"/>
            </a:solidFill>
            <a:prstDash val="solid"/>
          </a:ln>
        </p:spPr>
      </p:sp>
      <p:sp>
        <p:nvSpPr>
          <p:cNvPr id="5" name="Shape 2"/>
          <p:cNvSpPr/>
          <p:nvPr/>
        </p:nvSpPr>
        <p:spPr>
          <a:xfrm>
            <a:off x="502920" y="5394960"/>
            <a:ext cx="201168" cy="201168"/>
          </a:xfrm>
          <a:prstGeom prst="ellipse">
            <a:avLst/>
          </a:prstGeom>
          <a:solidFill>
            <a:srgbClr val="FFFFFF"/>
          </a:solidFill>
          <a:ln w="12700">
            <a:solidFill>
              <a:srgbClr val="FFFFFF"/>
            </a:solidFill>
            <a:prstDash val="solid"/>
          </a:ln>
        </p:spPr>
      </p:sp>
      <p:sp>
        <p:nvSpPr>
          <p:cNvPr id="6" name="Shape 3"/>
          <p:cNvSpPr/>
          <p:nvPr/>
        </p:nvSpPr>
        <p:spPr>
          <a:xfrm>
            <a:off x="10149840" y="411480"/>
            <a:ext cx="1005840" cy="1005840"/>
          </a:xfrm>
          <a:prstGeom prst="ellipse">
            <a:avLst/>
          </a:prstGeom>
          <a:solidFill>
            <a:srgbClr val="FFFFFF"/>
          </a:solidFill>
          <a:ln w="31750">
            <a:solidFill>
              <a:srgbClr val="FFC107"/>
            </a:solidFill>
            <a:prstDash val="solid"/>
          </a:ln>
        </p:spPr>
      </p:sp>
      <p:pic>
        <p:nvPicPr>
          <p:cNvPr id="7" name="Image 1" descr="/tmp/claude-0/-home-user-Waste/dcb1a03d-345b-5441-8898-3e9a4c6379b1/scratchpad/build/assets/logo.png">    </p:cNvPr>
          <p:cNvPicPr>
            <a:picLocks noChangeAspect="1"/>
          </p:cNvPicPr>
          <p:nvPr/>
        </p:nvPicPr>
        <p:blipFill>
          <a:blip r:embed="rId3"/>
          <a:stretch>
            <a:fillRect/>
          </a:stretch>
        </p:blipFill>
        <p:spPr>
          <a:xfrm>
            <a:off x="10314432" y="576072"/>
            <a:ext cx="676656" cy="676656"/>
          </a:xfrm>
          <a:prstGeom prst="rect">
            <a:avLst/>
          </a:prstGeom>
        </p:spPr>
      </p:pic>
      <p:sp>
        <p:nvSpPr>
          <p:cNvPr id="8" name="Text 4"/>
          <p:cNvSpPr txBox="1"/>
          <p:nvPr/>
        </p:nvSpPr>
        <p:spPr>
          <a:xfrm>
            <a:off x="5852160" y="1508760"/>
            <a:ext cx="5852160" cy="548640"/>
          </a:xfrm>
          <a:prstGeom prst="rect">
            <a:avLst/>
          </a:prstGeom>
          <a:noFill/>
          <a:ln/>
        </p:spPr>
        <p:txBody>
          <a:bodyPr wrap="square" lIns="0" tIns="0" rIns="0" bIns="0" rtlCol="0" anchor="ctr"/>
          <a:lstStyle/>
          <a:p>
            <a:pPr rtl="1" algn="r" indent="0" marL="0">
              <a:buNone/>
            </a:pPr>
            <a:r>
              <a:rPr lang="fa-IR" altLang="en-US" sz="3000" b="1" dirty="0">
                <a:solidFill>
                  <a:srgbClr val="FFC107"/>
                </a:solidFill>
                <a:latin typeface="B Nazanin" pitchFamily="34" charset="0"/>
                <a:ea typeface="B Nazanin" pitchFamily="34" charset="-122"/>
                <a:cs typeface="B Nazanin" pitchFamily="34" charset="-120"/>
              </a:rPr>
              <a:t>آیین نامه اجرایی</a:t>
            </a:r>
            <a:endParaRPr lang="fa-IR" sz="3000" dirty="0"/>
          </a:p>
        </p:txBody>
      </p:sp>
      <p:sp>
        <p:nvSpPr>
          <p:cNvPr id="9" name="Text 5"/>
          <p:cNvSpPr txBox="1"/>
          <p:nvPr/>
        </p:nvSpPr>
        <p:spPr>
          <a:xfrm>
            <a:off x="5852160" y="2057400"/>
            <a:ext cx="5852160" cy="1554480"/>
          </a:xfrm>
          <a:prstGeom prst="rect">
            <a:avLst/>
          </a:prstGeom>
          <a:noFill/>
          <a:ln/>
        </p:spPr>
        <p:txBody>
          <a:bodyPr wrap="square" lIns="0" tIns="0" rIns="0" bIns="0" rtlCol="0" anchor="ctr"/>
          <a:lstStyle/>
          <a:p>
            <a:pPr rtl="1" algn="r" indent="0" marL="0">
              <a:lnSpc>
                <a:spcPct val="95000"/>
              </a:lnSpc>
              <a:buNone/>
            </a:pPr>
            <a:r>
              <a:rPr lang="fa-IR" altLang="en-US" sz="5000" b="1" dirty="0">
                <a:solidFill>
                  <a:srgbClr val="FFFFFF"/>
                </a:solidFill>
                <a:latin typeface="B Nazanin" pitchFamily="34" charset="0"/>
                <a:ea typeface="B Nazanin" pitchFamily="34" charset="-122"/>
                <a:cs typeface="B Nazanin" pitchFamily="34" charset="-120"/>
              </a:rPr>
              <a:t>قانون اصلاح</a:t>
            </a:r>
            <a:endParaRPr lang="fa-IR" sz="5000" dirty="0"/>
          </a:p>
          <a:p>
            <a:pPr rtl="1" algn="r" indent="0" marL="0">
              <a:lnSpc>
                <a:spcPct val="95000"/>
              </a:lnSpc>
              <a:buNone/>
            </a:pPr>
            <a:r>
              <a:rPr lang="fa-IR" altLang="en-US" sz="5000" b="1" dirty="0">
                <a:solidFill>
                  <a:srgbClr val="FFFFFF"/>
                </a:solidFill>
                <a:latin typeface="B Nazanin" pitchFamily="34" charset="0"/>
                <a:ea typeface="B Nazanin" pitchFamily="34" charset="-122"/>
                <a:cs typeface="B Nazanin" pitchFamily="34" charset="-120"/>
              </a:rPr>
              <a:t>ماده ۱۳</a:t>
            </a:r>
            <a:endParaRPr lang="fa-IR" sz="5000" dirty="0"/>
          </a:p>
        </p:txBody>
      </p:sp>
      <p:sp>
        <p:nvSpPr>
          <p:cNvPr id="10" name="Text 6"/>
          <p:cNvSpPr txBox="1"/>
          <p:nvPr/>
        </p:nvSpPr>
        <p:spPr>
          <a:xfrm>
            <a:off x="5852160" y="3639312"/>
            <a:ext cx="5852160" cy="548640"/>
          </a:xfrm>
          <a:prstGeom prst="rect">
            <a:avLst/>
          </a:prstGeom>
          <a:noFill/>
          <a:ln/>
        </p:spPr>
        <p:txBody>
          <a:bodyPr wrap="square" lIns="0" tIns="0" rIns="0" bIns="0" rtlCol="0" anchor="ctr"/>
          <a:lstStyle/>
          <a:p>
            <a:pPr rtl="1" algn="r" indent="0" marL="0">
              <a:buNone/>
            </a:pPr>
            <a:r>
              <a:rPr lang="fa-IR" altLang="en-US" sz="1900" dirty="0">
                <a:solidFill>
                  <a:srgbClr val="FFFFFF"/>
                </a:solidFill>
                <a:latin typeface="B Nazanin" pitchFamily="34" charset="0"/>
                <a:ea typeface="B Nazanin" pitchFamily="34" charset="-122"/>
                <a:cs typeface="B Nazanin" pitchFamily="34" charset="-120"/>
              </a:rPr>
              <a:t>قانون مواد خوردنی، آشامیدنی، آرایشی و بهداشتی</a:t>
            </a:r>
            <a:endParaRPr lang="fa-IR" sz="1900" dirty="0"/>
          </a:p>
        </p:txBody>
      </p:sp>
      <p:sp>
        <p:nvSpPr>
          <p:cNvPr id="11" name="Text 7"/>
          <p:cNvSpPr txBox="1"/>
          <p:nvPr/>
        </p:nvSpPr>
        <p:spPr>
          <a:xfrm>
            <a:off x="6035040" y="4434840"/>
            <a:ext cx="4937760" cy="457200"/>
          </a:xfrm>
          <a:prstGeom prst="roundRect">
            <a:avLst>
              <a:gd name="adj" fmla="val 20000"/>
            </a:avLst>
          </a:prstGeom>
          <a:noFill/>
          <a:ln w="19050">
            <a:solidFill>
              <a:srgbClr val="FFC107"/>
            </a:solidFill>
          </a:ln>
        </p:spPr>
        <p:txBody>
          <a:bodyPr wrap="square" lIns="0" tIns="0" rIns="0" bIns="0" rtlCol="0" anchor="ctr"/>
          <a:lstStyle/>
          <a:p>
            <a:pPr rtl="1" algn="ctr" indent="0" marL="0">
              <a:buNone/>
            </a:pPr>
            <a:r>
              <a:rPr lang="fa-IR" altLang="en-US" sz="1450" dirty="0">
                <a:solidFill>
                  <a:srgbClr val="FFFFFF"/>
                </a:solidFill>
                <a:latin typeface="B Nazanin" pitchFamily="34" charset="0"/>
                <a:ea typeface="B Nazanin" pitchFamily="34" charset="-122"/>
                <a:cs typeface="B Nazanin" pitchFamily="34" charset="-120"/>
              </a:rPr>
              <a:t>مصوب ۱۳۹۲/۳/۱۸  |  ۴ فصل، ۴۵ ماده، ۷ تبصره</a:t>
            </a:r>
            <a:endParaRPr lang="fa-IR" sz="1450" dirty="0"/>
          </a:p>
        </p:txBody>
      </p:sp>
      <p:sp>
        <p:nvSpPr>
          <p:cNvPr id="12" name="Text 8"/>
          <p:cNvSpPr txBox="1"/>
          <p:nvPr/>
        </p:nvSpPr>
        <p:spPr>
          <a:xfrm>
            <a:off x="6035040" y="5029200"/>
            <a:ext cx="4937760" cy="457200"/>
          </a:xfrm>
          <a:prstGeom prst="roundRect">
            <a:avLst>
              <a:gd name="adj" fmla="val 20000"/>
            </a:avLst>
          </a:prstGeom>
          <a:noFill/>
          <a:ln w="19050">
            <a:solidFill>
              <a:srgbClr val="FFC107"/>
            </a:solidFill>
          </a:ln>
        </p:spPr>
        <p:txBody>
          <a:bodyPr wrap="square" lIns="0" tIns="0" rIns="0" bIns="0" rtlCol="0" anchor="ctr"/>
          <a:lstStyle/>
          <a:p>
            <a:pPr rtl="1" algn="ctr" indent="0" marL="0">
              <a:buNone/>
            </a:pPr>
            <a:r>
              <a:rPr lang="fa-IR" altLang="en-US" sz="1450" dirty="0">
                <a:solidFill>
                  <a:srgbClr val="FFFFFF"/>
                </a:solidFill>
                <a:latin typeface="B Nazanin" pitchFamily="34" charset="0"/>
                <a:ea typeface="B Nazanin" pitchFamily="34" charset="-122"/>
                <a:cs typeface="B Nazanin" pitchFamily="34" charset="-120"/>
              </a:rPr>
              <a:t>گروه مهندسی سلامت محیط  |  معاونت بهداشت استان همدان</a:t>
            </a:r>
            <a:endParaRPr lang="fa-IR"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652760" y="0"/>
            <a:ext cx="0" cy="6858000"/>
          </a:xfrm>
          <a:prstGeom prst="line">
            <a:avLst/>
          </a:prstGeom>
          <a:noFill/>
          <a:ln w="25400">
            <a:solidFill>
              <a:srgbClr val="FFC107"/>
            </a:solidFill>
            <a:prstDash val="solid"/>
          </a:ln>
        </p:spPr>
      </p:sp>
      <p:sp>
        <p:nvSpPr>
          <p:cNvPr id="3" name="Text 1"/>
          <p:cNvSpPr txBox="1"/>
          <p:nvPr/>
        </p:nvSpPr>
        <p:spPr>
          <a:xfrm rot="16200000">
            <a:off x="9144000" y="2971800"/>
            <a:ext cx="4206240" cy="914400"/>
          </a:xfrm>
          <a:prstGeom prst="rect">
            <a:avLst/>
          </a:prstGeom>
          <a:noFill/>
          <a:ln/>
        </p:spPr>
        <p:txBody>
          <a:bodyPr wrap="square" lIns="0" tIns="0" rIns="0" bIns="0" rtlCol="0" anchor="ctr"/>
          <a:lstStyle/>
          <a:p>
            <a:pPr rtl="1" algn="ctr" indent="0" marL="0">
              <a:buNone/>
            </a:pPr>
            <a:r>
              <a:rPr lang="fa-IR" altLang="en-US" sz="4850" b="1" dirty="0">
                <a:solidFill>
                  <a:srgbClr val="FFFFFF"/>
                </a:solidFill>
                <a:latin typeface="B Nazanin" pitchFamily="34" charset="0"/>
                <a:ea typeface="B Nazanin" pitchFamily="34" charset="-122"/>
                <a:cs typeface="B Nazanin" pitchFamily="34" charset="-120"/>
              </a:rPr>
              <a:t>فهرست مطالب</a:t>
            </a:r>
            <a:endParaRPr lang="fa-IR" sz="4850" dirty="0"/>
          </a:p>
        </p:txBody>
      </p:sp>
      <p:sp>
        <p:nvSpPr>
          <p:cNvPr id="4" name="Shape 2"/>
          <p:cNvSpPr/>
          <p:nvPr/>
        </p:nvSpPr>
        <p:spPr>
          <a:xfrm>
            <a:off x="9326880" y="868680"/>
            <a:ext cx="658368" cy="566928"/>
          </a:xfrm>
          <a:prstGeom prst="triangle">
            <a:avLst/>
          </a:prstGeom>
          <a:solidFill>
            <a:srgbClr val="FFC107"/>
          </a:solidFill>
          <a:ln w="12700">
            <a:solidFill>
              <a:srgbClr val="FFC107"/>
            </a:solidFill>
            <a:prstDash val="solid"/>
          </a:ln>
        </p:spPr>
      </p:sp>
      <p:pic>
        <p:nvPicPr>
          <p:cNvPr id="5" name="Image 0" descr="/tmp/claude-0/-home-user-Waste/dcb1a03d-345b-5441-8898-3e9a4c6379b1/scratchpad/build/assets/ic-2-menubook-plain.png">    </p:cNvPr>
          <p:cNvPicPr>
            <a:picLocks noChangeAspect="1"/>
          </p:cNvPicPr>
          <p:nvPr/>
        </p:nvPicPr>
        <p:blipFill>
          <a:blip r:embed="rId2"/>
          <a:stretch>
            <a:fillRect/>
          </a:stretch>
        </p:blipFill>
        <p:spPr>
          <a:xfrm>
            <a:off x="9509760" y="1097280"/>
            <a:ext cx="292608" cy="292608"/>
          </a:xfrm>
          <a:prstGeom prst="rect">
            <a:avLst/>
          </a:prstGeom>
        </p:spPr>
      </p:pic>
      <p:sp>
        <p:nvSpPr>
          <p:cNvPr id="6" name="Text 3"/>
          <p:cNvSpPr txBox="1"/>
          <p:nvPr/>
        </p:nvSpPr>
        <p:spPr>
          <a:xfrm>
            <a:off x="4572000" y="914400"/>
            <a:ext cx="4572000" cy="548640"/>
          </a:xfrm>
          <a:prstGeom prst="rect">
            <a:avLst/>
          </a:prstGeom>
          <a:noFill/>
          <a:ln/>
        </p:spPr>
        <p:txBody>
          <a:bodyPr wrap="square" lIns="0" tIns="0" rIns="0" bIns="0" rtlCol="0" anchor="ctr"/>
          <a:lstStyle/>
          <a:p>
            <a:pPr rtl="1" algn="r" indent="0" marL="0">
              <a:buNone/>
            </a:pPr>
            <a:r>
              <a:rPr lang="fa-IR" altLang="en-US" sz="2400" b="1" dirty="0">
                <a:solidFill>
                  <a:srgbClr val="FFFFFF"/>
                </a:solidFill>
                <a:latin typeface="B Nazanin" pitchFamily="34" charset="0"/>
                <a:ea typeface="B Nazanin" pitchFamily="34" charset="-122"/>
                <a:cs typeface="B Nazanin" pitchFamily="34" charset="-120"/>
              </a:rPr>
              <a:t>فصل اول (الف): تعاریف</a:t>
            </a:r>
            <a:endParaRPr lang="fa-IR" sz="2400" dirty="0"/>
          </a:p>
        </p:txBody>
      </p:sp>
      <p:sp>
        <p:nvSpPr>
          <p:cNvPr id="7" name="Shape 4">
            <a:hlinkClick r:id="rId3" tooltip="فصل اول (الف): تعاریف" action="ppaction://hlinksldjump"/>
          </p:cNvPr>
          <p:cNvSpPr/>
          <p:nvPr/>
        </p:nvSpPr>
        <p:spPr>
          <a:xfrm>
            <a:off x="4572000" y="914400"/>
            <a:ext cx="5440680" cy="548640"/>
          </a:xfrm>
          <a:prstGeom prst="rect">
            <a:avLst/>
          </a:prstGeom>
          <a:solidFill>
            <a:srgbClr val="FFFFFF">
              <a:alpha val="0"/>
            </a:srgbClr>
          </a:solidFill>
          <a:ln w="12700">
            <a:solidFill>
              <a:srgbClr val="FFFFFF">
                <a:alpha val="0"/>
              </a:srgbClr>
            </a:solidFill>
            <a:prstDash val="solid"/>
          </a:ln>
        </p:spPr>
      </p:sp>
      <p:sp>
        <p:nvSpPr>
          <p:cNvPr id="8" name="Shape 5"/>
          <p:cNvSpPr/>
          <p:nvPr/>
        </p:nvSpPr>
        <p:spPr>
          <a:xfrm>
            <a:off x="9326880" y="1947672"/>
            <a:ext cx="658368" cy="566928"/>
          </a:xfrm>
          <a:prstGeom prst="triangle">
            <a:avLst/>
          </a:prstGeom>
          <a:solidFill>
            <a:srgbClr val="FFC107"/>
          </a:solidFill>
          <a:ln w="12700">
            <a:solidFill>
              <a:srgbClr val="FFC107"/>
            </a:solidFill>
            <a:prstDash val="solid"/>
          </a:ln>
        </p:spPr>
      </p:sp>
      <p:pic>
        <p:nvPicPr>
          <p:cNvPr id="9" name="Image 1" descr="/tmp/claude-0/-home-user-Waste/dcb1a03d-345b-5441-8898-3e9a4c6379b1/scratchpad/build/assets/ic-3-factcheck-plain.png">    </p:cNvPr>
          <p:cNvPicPr>
            <a:picLocks noChangeAspect="1"/>
          </p:cNvPicPr>
          <p:nvPr/>
        </p:nvPicPr>
        <p:blipFill>
          <a:blip r:embed="rId4"/>
          <a:stretch>
            <a:fillRect/>
          </a:stretch>
        </p:blipFill>
        <p:spPr>
          <a:xfrm>
            <a:off x="9509760" y="2176272"/>
            <a:ext cx="292608" cy="292608"/>
          </a:xfrm>
          <a:prstGeom prst="rect">
            <a:avLst/>
          </a:prstGeom>
        </p:spPr>
      </p:pic>
      <p:sp>
        <p:nvSpPr>
          <p:cNvPr id="10" name="Text 6"/>
          <p:cNvSpPr txBox="1"/>
          <p:nvPr/>
        </p:nvSpPr>
        <p:spPr>
          <a:xfrm>
            <a:off x="4572000" y="1993392"/>
            <a:ext cx="4572000" cy="548640"/>
          </a:xfrm>
          <a:prstGeom prst="rect">
            <a:avLst/>
          </a:prstGeom>
          <a:noFill/>
          <a:ln/>
        </p:spPr>
        <p:txBody>
          <a:bodyPr wrap="square" lIns="0" tIns="0" rIns="0" bIns="0" rtlCol="0" anchor="ctr"/>
          <a:lstStyle/>
          <a:p>
            <a:pPr rtl="1" algn="r" indent="0" marL="0">
              <a:buNone/>
            </a:pPr>
            <a:r>
              <a:rPr lang="fa-IR" altLang="en-US" sz="2400" b="1" dirty="0">
                <a:solidFill>
                  <a:srgbClr val="FFFFFF"/>
                </a:solidFill>
                <a:latin typeface="B Nazanin" pitchFamily="34" charset="0"/>
                <a:ea typeface="B Nazanin" pitchFamily="34" charset="-122"/>
                <a:cs typeface="B Nazanin" pitchFamily="34" charset="-120"/>
              </a:rPr>
              <a:t>فصل اول (ب): کلیات</a:t>
            </a:r>
            <a:endParaRPr lang="fa-IR" sz="2400" dirty="0"/>
          </a:p>
        </p:txBody>
      </p:sp>
      <p:sp>
        <p:nvSpPr>
          <p:cNvPr id="11" name="Shape 7">
            <a:hlinkClick r:id="rId5" tooltip="فصل اول (ب): کلیات" action="ppaction://hlinksldjump"/>
          </p:cNvPr>
          <p:cNvSpPr/>
          <p:nvPr/>
        </p:nvSpPr>
        <p:spPr>
          <a:xfrm>
            <a:off x="4572000" y="1993392"/>
            <a:ext cx="5440680" cy="548640"/>
          </a:xfrm>
          <a:prstGeom prst="rect">
            <a:avLst/>
          </a:prstGeom>
          <a:solidFill>
            <a:srgbClr val="FFFFFF">
              <a:alpha val="0"/>
            </a:srgbClr>
          </a:solidFill>
          <a:ln w="12700">
            <a:solidFill>
              <a:srgbClr val="FFFFFF">
                <a:alpha val="0"/>
              </a:srgbClr>
            </a:solidFill>
            <a:prstDash val="solid"/>
          </a:ln>
        </p:spPr>
      </p:sp>
      <p:sp>
        <p:nvSpPr>
          <p:cNvPr id="12" name="Shape 8"/>
          <p:cNvSpPr/>
          <p:nvPr/>
        </p:nvSpPr>
        <p:spPr>
          <a:xfrm>
            <a:off x="9326880" y="3026664"/>
            <a:ext cx="658368" cy="566928"/>
          </a:xfrm>
          <a:prstGeom prst="triangle">
            <a:avLst/>
          </a:prstGeom>
          <a:solidFill>
            <a:srgbClr val="FFC107"/>
          </a:solidFill>
          <a:ln w="12700">
            <a:solidFill>
              <a:srgbClr val="FFC107"/>
            </a:solidFill>
            <a:prstDash val="solid"/>
          </a:ln>
        </p:spPr>
      </p:sp>
      <p:pic>
        <p:nvPicPr>
          <p:cNvPr id="13" name="Image 2" descr="/tmp/claude-0/-home-user-Waste/dcb1a03d-345b-5441-8898-3e9a4c6379b1/scratchpad/build/assets/ic-50-findinpage-plain.png">    </p:cNvPr>
          <p:cNvPicPr>
            <a:picLocks noChangeAspect="1"/>
          </p:cNvPicPr>
          <p:nvPr/>
        </p:nvPicPr>
        <p:blipFill>
          <a:blip r:embed="rId6"/>
          <a:stretch>
            <a:fillRect/>
          </a:stretch>
        </p:blipFill>
        <p:spPr>
          <a:xfrm>
            <a:off x="9509760" y="3255264"/>
            <a:ext cx="292608" cy="292608"/>
          </a:xfrm>
          <a:prstGeom prst="rect">
            <a:avLst/>
          </a:prstGeom>
        </p:spPr>
      </p:pic>
      <p:sp>
        <p:nvSpPr>
          <p:cNvPr id="14" name="Text 9"/>
          <p:cNvSpPr txBox="1"/>
          <p:nvPr/>
        </p:nvSpPr>
        <p:spPr>
          <a:xfrm>
            <a:off x="4572000" y="3072384"/>
            <a:ext cx="4572000" cy="548640"/>
          </a:xfrm>
          <a:prstGeom prst="rect">
            <a:avLst/>
          </a:prstGeom>
          <a:noFill/>
          <a:ln/>
        </p:spPr>
        <p:txBody>
          <a:bodyPr wrap="square" lIns="0" tIns="0" rIns="0" bIns="0" rtlCol="0" anchor="ctr"/>
          <a:lstStyle/>
          <a:p>
            <a:pPr rtl="1" algn="r" indent="0" marL="0">
              <a:buNone/>
            </a:pPr>
            <a:r>
              <a:rPr lang="fa-IR" altLang="en-US" sz="2400" b="1" dirty="0">
                <a:solidFill>
                  <a:srgbClr val="FFFFFF"/>
                </a:solidFill>
                <a:latin typeface="B Nazanin" pitchFamily="34" charset="0"/>
                <a:ea typeface="B Nazanin" pitchFamily="34" charset="-122"/>
                <a:cs typeface="B Nazanin" pitchFamily="34" charset="-120"/>
              </a:rPr>
              <a:t>فصل دوم: شمول آیین نامه</a:t>
            </a:r>
            <a:endParaRPr lang="fa-IR" sz="2400" dirty="0"/>
          </a:p>
        </p:txBody>
      </p:sp>
      <p:sp>
        <p:nvSpPr>
          <p:cNvPr id="15" name="Shape 10">
            <a:hlinkClick r:id="rId7" tooltip="فصل دوم: شمول آیین نامه" action="ppaction://hlinksldjump"/>
          </p:cNvPr>
          <p:cNvSpPr/>
          <p:nvPr/>
        </p:nvSpPr>
        <p:spPr>
          <a:xfrm>
            <a:off x="4572000" y="3072384"/>
            <a:ext cx="5440680" cy="548640"/>
          </a:xfrm>
          <a:prstGeom prst="rect">
            <a:avLst/>
          </a:prstGeom>
          <a:solidFill>
            <a:srgbClr val="FFFFFF">
              <a:alpha val="0"/>
            </a:srgbClr>
          </a:solidFill>
          <a:ln w="12700">
            <a:solidFill>
              <a:srgbClr val="FFFFFF">
                <a:alpha val="0"/>
              </a:srgbClr>
            </a:solidFill>
            <a:prstDash val="solid"/>
          </a:ln>
        </p:spPr>
      </p:sp>
      <p:sp>
        <p:nvSpPr>
          <p:cNvPr id="16" name="Shape 11"/>
          <p:cNvSpPr/>
          <p:nvPr/>
        </p:nvSpPr>
        <p:spPr>
          <a:xfrm>
            <a:off x="9326880" y="4105656"/>
            <a:ext cx="658368" cy="566928"/>
          </a:xfrm>
          <a:prstGeom prst="triangle">
            <a:avLst/>
          </a:prstGeom>
          <a:solidFill>
            <a:srgbClr val="FFC107"/>
          </a:solidFill>
          <a:ln w="12700">
            <a:solidFill>
              <a:srgbClr val="FFC107"/>
            </a:solidFill>
            <a:prstDash val="solid"/>
          </a:ln>
        </p:spPr>
      </p:sp>
      <p:pic>
        <p:nvPicPr>
          <p:cNvPr id="17" name="Image 3" descr="/tmp/claude-0/-home-user-Waste/dcb1a03d-345b-5441-8898-3e9a4c6379b1/scratchpad/build/assets/ic-4-balance-plain.png">    </p:cNvPr>
          <p:cNvPicPr>
            <a:picLocks noChangeAspect="1"/>
          </p:cNvPicPr>
          <p:nvPr/>
        </p:nvPicPr>
        <p:blipFill>
          <a:blip r:embed="rId8"/>
          <a:stretch>
            <a:fillRect/>
          </a:stretch>
        </p:blipFill>
        <p:spPr>
          <a:xfrm>
            <a:off x="9509760" y="4334256"/>
            <a:ext cx="292608" cy="292608"/>
          </a:xfrm>
          <a:prstGeom prst="rect">
            <a:avLst/>
          </a:prstGeom>
        </p:spPr>
      </p:pic>
      <p:sp>
        <p:nvSpPr>
          <p:cNvPr id="18" name="Text 12"/>
          <p:cNvSpPr txBox="1"/>
          <p:nvPr/>
        </p:nvSpPr>
        <p:spPr>
          <a:xfrm>
            <a:off x="4572000" y="4151376"/>
            <a:ext cx="4572000" cy="548640"/>
          </a:xfrm>
          <a:prstGeom prst="rect">
            <a:avLst/>
          </a:prstGeom>
          <a:noFill/>
          <a:ln/>
        </p:spPr>
        <p:txBody>
          <a:bodyPr wrap="square" lIns="0" tIns="0" rIns="0" bIns="0" rtlCol="0" anchor="ctr"/>
          <a:lstStyle/>
          <a:p>
            <a:pPr rtl="1" algn="r" indent="0" marL="0">
              <a:buNone/>
            </a:pPr>
            <a:r>
              <a:rPr lang="fa-IR" altLang="en-US" sz="2400" b="1" dirty="0">
                <a:solidFill>
                  <a:srgbClr val="FFFFFF"/>
                </a:solidFill>
                <a:latin typeface="B Nazanin" pitchFamily="34" charset="0"/>
                <a:ea typeface="B Nazanin" pitchFamily="34" charset="-122"/>
                <a:cs typeface="B Nazanin" pitchFamily="34" charset="-120"/>
              </a:rPr>
              <a:t>فصل سوم: وظایف</a:t>
            </a:r>
            <a:endParaRPr lang="fa-IR" sz="2400" dirty="0"/>
          </a:p>
        </p:txBody>
      </p:sp>
      <p:sp>
        <p:nvSpPr>
          <p:cNvPr id="19" name="Shape 13">
            <a:hlinkClick r:id="rId9" tooltip="فصل سوم: وظایف" action="ppaction://hlinksldjump"/>
          </p:cNvPr>
          <p:cNvSpPr/>
          <p:nvPr/>
        </p:nvSpPr>
        <p:spPr>
          <a:xfrm>
            <a:off x="4572000" y="4151376"/>
            <a:ext cx="5440680" cy="548640"/>
          </a:xfrm>
          <a:prstGeom prst="rect">
            <a:avLst/>
          </a:prstGeom>
          <a:solidFill>
            <a:srgbClr val="FFFFFF">
              <a:alpha val="0"/>
            </a:srgbClr>
          </a:solidFill>
          <a:ln w="12700">
            <a:solidFill>
              <a:srgbClr val="FFFFFF">
                <a:alpha val="0"/>
              </a:srgbClr>
            </a:solidFill>
            <a:prstDash val="solid"/>
          </a:ln>
        </p:spPr>
      </p:sp>
      <p:sp>
        <p:nvSpPr>
          <p:cNvPr id="20" name="Shape 14"/>
          <p:cNvSpPr/>
          <p:nvPr/>
        </p:nvSpPr>
        <p:spPr>
          <a:xfrm>
            <a:off x="9326880" y="5184648"/>
            <a:ext cx="658368" cy="566928"/>
          </a:xfrm>
          <a:prstGeom prst="triangle">
            <a:avLst/>
          </a:prstGeom>
          <a:solidFill>
            <a:srgbClr val="FFC107"/>
          </a:solidFill>
          <a:ln w="12700">
            <a:solidFill>
              <a:srgbClr val="FFC107"/>
            </a:solidFill>
            <a:prstDash val="solid"/>
          </a:ln>
        </p:spPr>
      </p:sp>
      <p:pic>
        <p:nvPicPr>
          <p:cNvPr id="21" name="Image 4" descr="/tmp/claude-0/-home-user-Waste/dcb1a03d-345b-5441-8898-3e9a4c6379b1/scratchpad/build/assets/ic-49-description-plain.png">    </p:cNvPr>
          <p:cNvPicPr>
            <a:picLocks noChangeAspect="1"/>
          </p:cNvPicPr>
          <p:nvPr/>
        </p:nvPicPr>
        <p:blipFill>
          <a:blip r:embed="rId10"/>
          <a:stretch>
            <a:fillRect/>
          </a:stretch>
        </p:blipFill>
        <p:spPr>
          <a:xfrm>
            <a:off x="9509760" y="5413248"/>
            <a:ext cx="292608" cy="292608"/>
          </a:xfrm>
          <a:prstGeom prst="rect">
            <a:avLst/>
          </a:prstGeom>
        </p:spPr>
      </p:pic>
      <p:sp>
        <p:nvSpPr>
          <p:cNvPr id="22" name="Text 15"/>
          <p:cNvSpPr txBox="1"/>
          <p:nvPr/>
        </p:nvSpPr>
        <p:spPr>
          <a:xfrm>
            <a:off x="4572000" y="5230368"/>
            <a:ext cx="4572000" cy="548640"/>
          </a:xfrm>
          <a:prstGeom prst="rect">
            <a:avLst/>
          </a:prstGeom>
          <a:noFill/>
          <a:ln/>
        </p:spPr>
        <p:txBody>
          <a:bodyPr wrap="square" lIns="0" tIns="0" rIns="0" bIns="0" rtlCol="0" anchor="ctr"/>
          <a:lstStyle/>
          <a:p>
            <a:pPr rtl="1" algn="r" indent="0" marL="0">
              <a:buNone/>
            </a:pPr>
            <a:r>
              <a:rPr lang="fa-IR" altLang="en-US" sz="2400" b="1" dirty="0">
                <a:solidFill>
                  <a:srgbClr val="FFFFFF"/>
                </a:solidFill>
                <a:latin typeface="B Nazanin" pitchFamily="34" charset="0"/>
                <a:ea typeface="B Nazanin" pitchFamily="34" charset="-122"/>
                <a:cs typeface="B Nazanin" pitchFamily="34" charset="-120"/>
              </a:rPr>
              <a:t>فصل چهارم: پروانه و صلاحیت بهداشتی</a:t>
            </a:r>
            <a:endParaRPr lang="fa-IR" sz="2400" dirty="0"/>
          </a:p>
        </p:txBody>
      </p:sp>
      <p:sp>
        <p:nvSpPr>
          <p:cNvPr id="23" name="Shape 16">
            <a:hlinkClick r:id="rId11" tooltip="فصل چهارم: پروانه و صلاحیت بهداشتی" action="ppaction://hlinksldjump"/>
          </p:cNvPr>
          <p:cNvSpPr/>
          <p:nvPr/>
        </p:nvSpPr>
        <p:spPr>
          <a:xfrm>
            <a:off x="4572000" y="5230368"/>
            <a:ext cx="5440680" cy="548640"/>
          </a:xfrm>
          <a:prstGeom prst="rect">
            <a:avLst/>
          </a:prstGeom>
          <a:solidFill>
            <a:srgbClr val="FFFFFF">
              <a:alpha val="0"/>
            </a:srgbClr>
          </a:solidFill>
          <a:ln w="12700">
            <a:solidFill>
              <a:srgbClr val="FFFFFF">
                <a:alpha val="0"/>
              </a:srgbClr>
            </a:solidFill>
            <a:prstDash val="solid"/>
          </a:ln>
        </p:spPr>
      </p:sp>
      <p:pic>
        <p:nvPicPr>
          <p:cNvPr id="24" name="Image 5" descr="/tmp/claude-0/-home-user-Waste/dcb1a03d-345b-5441-8898-3e9a4c6379b1/scratchpad/build/assets/ic-7-policy-plain.png">    </p:cNvPr>
          <p:cNvPicPr>
            <a:picLocks noChangeAspect="1"/>
          </p:cNvPicPr>
          <p:nvPr/>
        </p:nvPicPr>
        <p:blipFill>
          <a:blip r:embed="rId12"/>
          <a:stretch>
            <a:fillRect/>
          </a:stretch>
        </p:blipFill>
        <p:spPr>
          <a:xfrm>
            <a:off x="822960" y="1005840"/>
            <a:ext cx="4206240" cy="4206240"/>
          </a:xfrm>
          <a:prstGeom prst="rect">
            <a:avLst/>
          </a:prstGeom>
        </p:spPr>
      </p:pic>
      <p:sp>
        <p:nvSpPr>
          <p:cNvPr id="25" name="Shape 17"/>
          <p:cNvSpPr/>
          <p:nvPr/>
        </p:nvSpPr>
        <p:spPr>
          <a:xfrm>
            <a:off x="685800" y="3749040"/>
            <a:ext cx="1828800" cy="1828800"/>
          </a:xfrm>
          <a:prstGeom prst="ellipse">
            <a:avLst/>
          </a:prstGeom>
          <a:solidFill>
            <a:srgbClr val="0B3A8C"/>
          </a:solidFill>
          <a:ln w="12700">
            <a:solidFill>
              <a:srgbClr val="0B3A8C"/>
            </a:solidFill>
            <a:prstDash val="solid"/>
          </a:ln>
        </p:spPr>
      </p:sp>
      <p:pic>
        <p:nvPicPr>
          <p:cNvPr id="26" name="Image 6" descr="/tmp/claude-0/-home-user-Waste/dcb1a03d-345b-5441-8898-3e9a4c6379b1/scratchpad/build/assets/ic-8-verifieduser-plain.png">    </p:cNvPr>
          <p:cNvPicPr>
            <a:picLocks noChangeAspect="1"/>
          </p:cNvPicPr>
          <p:nvPr/>
        </p:nvPicPr>
        <p:blipFill>
          <a:blip r:embed="rId13"/>
          <a:stretch>
            <a:fillRect/>
          </a:stretch>
        </p:blipFill>
        <p:spPr>
          <a:xfrm>
            <a:off x="1005840" y="4069080"/>
            <a:ext cx="1188720" cy="11887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65760"/>
            <a:ext cx="731520" cy="731520"/>
          </a:xfrm>
          <a:prstGeom prst="ellipse">
            <a:avLst/>
          </a:prstGeom>
          <a:solidFill>
            <a:srgbClr val="FFFFFF"/>
          </a:solidFill>
          <a:ln w="25400">
            <a:solidFill>
              <a:srgbClr val="FFC107"/>
            </a:solidFill>
            <a:prstDash val="solid"/>
          </a:ln>
        </p:spPr>
      </p:sp>
      <p:pic>
        <p:nvPicPr>
          <p:cNvPr id="3" name="Image 0" descr="/tmp/claude-0/-home-user-Waste/dcb1a03d-345b-5441-8898-3e9a4c6379b1/scratchpad/build/assets/logo.png">    </p:cNvPr>
          <p:cNvPicPr>
            <a:picLocks noChangeAspect="1"/>
          </p:cNvPicPr>
          <p:nvPr/>
        </p:nvPicPr>
        <p:blipFill>
          <a:blip r:embed="rId2"/>
          <a:stretch>
            <a:fillRect/>
          </a:stretch>
        </p:blipFill>
        <p:spPr>
          <a:xfrm>
            <a:off x="521208" y="475488"/>
            <a:ext cx="512064" cy="512064"/>
          </a:xfrm>
          <a:prstGeom prst="rect">
            <a:avLst/>
          </a:prstGeom>
        </p:spPr>
      </p:pic>
      <p:sp>
        <p:nvSpPr>
          <p:cNvPr id="4" name="Shape 1"/>
          <p:cNvSpPr/>
          <p:nvPr/>
        </p:nvSpPr>
        <p:spPr>
          <a:xfrm>
            <a:off x="4489704" y="822960"/>
            <a:ext cx="3200400" cy="2743200"/>
          </a:xfrm>
          <a:prstGeom prst="triangle">
            <a:avLst/>
          </a:prstGeom>
          <a:solidFill>
            <a:srgbClr val="FFC107"/>
          </a:solidFill>
          <a:ln w="12700">
            <a:solidFill>
              <a:srgbClr val="FFD54F"/>
            </a:solidFill>
            <a:prstDash val="solid"/>
          </a:ln>
          <a:effectLst>
            <a:outerShdw sx="100000" sy="100000" kx="0" ky="0" algn="bl" rotWithShape="0" blurRad="127000" dist="38100" dir="5400000">
              <a:srgbClr val="1B2A4A">
                <a:alpha val="18000"/>
              </a:srgbClr>
            </a:outerShdw>
          </a:effectLst>
        </p:spPr>
      </p:sp>
      <p:pic>
        <p:nvPicPr>
          <p:cNvPr id="5" name="Image 1" descr="/tmp/claude-0/-home-user-Waste/dcb1a03d-345b-5441-8898-3e9a4c6379b1/scratchpad/build/assets/ic-2-menubook-plain.png">    </p:cNvPr>
          <p:cNvPicPr>
            <a:picLocks noChangeAspect="1"/>
          </p:cNvPicPr>
          <p:nvPr/>
        </p:nvPicPr>
        <p:blipFill>
          <a:blip r:embed="rId3"/>
          <a:stretch>
            <a:fillRect/>
          </a:stretch>
        </p:blipFill>
        <p:spPr>
          <a:xfrm>
            <a:off x="5431536" y="1920240"/>
            <a:ext cx="1316736" cy="1316736"/>
          </a:xfrm>
          <a:prstGeom prst="rect">
            <a:avLst/>
          </a:prstGeom>
        </p:spPr>
      </p:pic>
      <p:sp>
        <p:nvSpPr>
          <p:cNvPr id="6" name="Text 2"/>
          <p:cNvSpPr txBox="1"/>
          <p:nvPr/>
        </p:nvSpPr>
        <p:spPr>
          <a:xfrm>
            <a:off x="914400" y="3840480"/>
            <a:ext cx="10360152" cy="1371600"/>
          </a:xfrm>
          <a:prstGeom prst="rect">
            <a:avLst/>
          </a:prstGeom>
          <a:noFill/>
          <a:ln/>
        </p:spPr>
        <p:txBody>
          <a:bodyPr wrap="square" lIns="0" tIns="0" rIns="0" bIns="0" rtlCol="0" anchor="ctr"/>
          <a:lstStyle/>
          <a:p>
            <a:pPr rtl="1" algn="ctr" indent="0" marL="0">
              <a:buNone/>
            </a:pPr>
            <a:r>
              <a:rPr lang="fa-IR" altLang="en-US" sz="6000" b="1" dirty="0">
                <a:solidFill>
                  <a:srgbClr val="FFC107"/>
                </a:solidFill>
                <a:latin typeface="B Nazanin" pitchFamily="34" charset="0"/>
                <a:ea typeface="B Nazanin" pitchFamily="34" charset="-122"/>
                <a:cs typeface="B Nazanin" pitchFamily="34" charset="-120"/>
              </a:rPr>
              <a:t>تعاریف</a:t>
            </a:r>
            <a:endParaRPr lang="fa-IR" sz="6000" dirty="0"/>
          </a:p>
        </p:txBody>
      </p:sp>
      <p:sp>
        <p:nvSpPr>
          <p:cNvPr id="7" name="Text 3"/>
          <p:cNvSpPr txBox="1"/>
          <p:nvPr/>
        </p:nvSpPr>
        <p:spPr>
          <a:xfrm>
            <a:off x="914400" y="5212080"/>
            <a:ext cx="10360152" cy="457200"/>
          </a:xfrm>
          <a:prstGeom prst="rect">
            <a:avLst/>
          </a:prstGeom>
          <a:noFill/>
          <a:ln/>
        </p:spPr>
        <p:txBody>
          <a:bodyPr wrap="square" lIns="0" tIns="0" rIns="0" bIns="0" rtlCol="0" anchor="ctr"/>
          <a:lstStyle/>
          <a:p>
            <a:pPr rtl="1" algn="ctr" indent="0" marL="0">
              <a:buNone/>
            </a:pPr>
            <a:r>
              <a:rPr lang="fa-IR" altLang="en-US" sz="2200" dirty="0">
                <a:solidFill>
                  <a:srgbClr val="FFFFFF"/>
                </a:solidFill>
                <a:latin typeface="B Nazanin" pitchFamily="34" charset="0"/>
                <a:ea typeface="B Nazanin" pitchFamily="34" charset="-122"/>
                <a:cs typeface="B Nazanin" pitchFamily="34" charset="-120"/>
              </a:rPr>
              <a:t>فصل اول (الف) — ماده ۱: واژه‌ها و اصطلاحات آیین نامه</a:t>
            </a:r>
            <a:endParaRPr lang="fa-IR" sz="2200" dirty="0"/>
          </a:p>
        </p:txBody>
      </p:sp>
      <p:pic>
        <p:nvPicPr>
          <p:cNvPr id="8" name="Image 2" descr="/tmp/claude-0/-home-user-Waste/dcb1a03d-345b-5441-8898-3e9a4c6379b1/scratchpad/build/assets/home.png">
            <a:hlinkClick r:id="rId5" tooltip="فهرست مطالب" action="ppaction://hlinksldjump"/>
          </p:cNvPr>
          <p:cNvPicPr>
            <a:picLocks noChangeAspect="1"/>
          </p:cNvPicPr>
          <p:nvPr/>
        </p:nvPicPr>
        <p:blipFill>
          <a:blip r:embed="rId4"/>
          <a:stretch>
            <a:fillRect/>
          </a:stretch>
        </p:blipFill>
        <p:spPr>
          <a:xfrm>
            <a:off x="11274552" y="6126480"/>
            <a:ext cx="457200" cy="457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Shape 2"/>
          <p:cNvSpPr/>
          <p:nvPr/>
        </p:nvSpPr>
        <p:spPr>
          <a:xfrm>
            <a:off x="10543032" y="2377440"/>
            <a:ext cx="1481328" cy="402336"/>
          </a:xfrm>
          <a:prstGeom prst="roundRect">
            <a:avLst>
              <a:gd name="adj" fmla="val 18182"/>
            </a:avLst>
          </a:prstGeom>
          <a:solidFill>
            <a:srgbClr val="FFC107"/>
          </a:solidFill>
          <a:ln w="12700">
            <a:solidFill>
              <a:srgbClr val="FFC107"/>
            </a:solidFill>
            <a:prstDash val="solid"/>
          </a:ln>
        </p:spPr>
      </p:sp>
      <p:sp>
        <p:nvSpPr>
          <p:cNvPr id="8" name="Text 3"/>
          <p:cNvSpPr txBox="1"/>
          <p:nvPr/>
        </p:nvSpPr>
        <p:spPr>
          <a:xfrm>
            <a:off x="10543032" y="2377440"/>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تعاریف</a:t>
            </a:r>
            <a:endParaRPr lang="fa-IR" sz="1250" dirty="0"/>
          </a:p>
        </p:txBody>
      </p:sp>
      <p:sp>
        <p:nvSpPr>
          <p:cNvPr id="9" name="Shape 4">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0" name="Text 5"/>
          <p:cNvSpPr txBox="1"/>
          <p:nvPr/>
        </p:nvSpPr>
        <p:spPr>
          <a:xfrm>
            <a:off x="10543032" y="2980944"/>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کلیات</a:t>
            </a:r>
            <a:endParaRPr lang="fa-IR" sz="1250" dirty="0"/>
          </a:p>
        </p:txBody>
      </p:sp>
      <p:sp>
        <p:nvSpPr>
          <p:cNvPr id="11" name="Shape 6">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2" name="Text 7"/>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3" name="Shape 8">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4" name="Text 9"/>
          <p:cNvSpPr txBox="1"/>
          <p:nvPr/>
        </p:nvSpPr>
        <p:spPr>
          <a:xfrm>
            <a:off x="10543032" y="4187952"/>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وظایف</a:t>
            </a:r>
            <a:endParaRPr lang="fa-IR" sz="1250" dirty="0"/>
          </a:p>
        </p:txBody>
      </p:sp>
      <p:sp>
        <p:nvSpPr>
          <p:cNvPr id="15" name="Shape 10">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۵</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مقدمه و مبنای قانونی</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Preamble</a:t>
            </a:r>
            <a:endParaRPr lang="en-US" sz="1550" dirty="0"/>
          </a:p>
        </p:txBody>
      </p:sp>
      <p:sp>
        <p:nvSpPr>
          <p:cNvPr id="25" name="Shape 18"/>
          <p:cNvSpPr/>
          <p:nvPr/>
        </p:nvSpPr>
        <p:spPr>
          <a:xfrm>
            <a:off x="713232" y="1170432"/>
            <a:ext cx="4242816" cy="4242816"/>
          </a:xfrm>
          <a:prstGeom prst="ellipse">
            <a:avLst/>
          </a:prstGeom>
          <a:solidFill>
            <a:srgbClr val="FFFFFF"/>
          </a:solidFill>
          <a:ln w="63500">
            <a:solidFill>
              <a:srgbClr val="DCE3EE"/>
            </a:solidFill>
            <a:prstDash val="solid"/>
          </a:ln>
          <a:effectLst>
            <a:outerShdw sx="100000" sy="100000" kx="0" ky="0" algn="bl" rotWithShape="0" blurRad="127000" dist="38100" dir="5400000">
              <a:srgbClr val="1B2A4A">
                <a:alpha val="18000"/>
              </a:srgbClr>
            </a:outerShdw>
          </a:effectLst>
        </p:spPr>
      </p:sp>
      <p:pic>
        <p:nvPicPr>
          <p:cNvPr id="26" name="Image 5" descr="/tmp/claude-0/-home-user-Waste/dcb1a03d-345b-5441-8898-3e9a4c6379b1/scratchpad/build/assets/ic-41-balance-feature.png">    </p:cNvPr>
          <p:cNvPicPr>
            <a:picLocks noChangeAspect="1"/>
          </p:cNvPicPr>
          <p:nvPr/>
        </p:nvPicPr>
        <p:blipFill>
          <a:blip r:embed="rId16"/>
          <a:stretch>
            <a:fillRect/>
          </a:stretch>
        </p:blipFill>
        <p:spPr>
          <a:xfrm>
            <a:off x="822960" y="1280160"/>
            <a:ext cx="4023360" cy="4023360"/>
          </a:xfrm>
          <a:prstGeom prst="ellipse">
            <a:avLst/>
          </a:prstGeom>
        </p:spPr>
      </p:pic>
      <p:sp>
        <p:nvSpPr>
          <p:cNvPr id="27" name="Text 19"/>
          <p:cNvSpPr txBox="1"/>
          <p:nvPr/>
        </p:nvSpPr>
        <p:spPr>
          <a:xfrm>
            <a:off x="5394960" y="1463040"/>
            <a:ext cx="4572000" cy="4480560"/>
          </a:xfrm>
          <a:prstGeom prst="rect">
            <a:avLst/>
          </a:prstGeom>
          <a:noFill/>
          <a:ln/>
        </p:spPr>
        <p:txBody>
          <a:bodyPr wrap="square" lIns="0" tIns="0" rIns="0" bIns="0" rtlCol="0" anchor="ctr"/>
          <a:lstStyle/>
          <a:p>
            <a:pPr rtl="1" algn="just" indent="0" marL="0">
              <a:lnSpc>
                <a:spcPct val="140000"/>
              </a:lnSpc>
              <a:buNone/>
            </a:pPr>
            <a:r>
              <a:rPr lang="fa-IR" altLang="en-US" sz="1650" dirty="0">
                <a:solidFill>
                  <a:srgbClr val="37474F"/>
                </a:solidFill>
                <a:latin typeface="B Nazanin" pitchFamily="34" charset="0"/>
                <a:ea typeface="B Nazanin" pitchFamily="34" charset="-122"/>
                <a:cs typeface="B Nazanin" pitchFamily="34" charset="-120"/>
              </a:rPr>
              <a:t>در اجرای تبصره سه قانون اصلاح ماده ۱۳ قانون مواد خوردنی، آشامیدنی، آرایشی و بهداشتی مصوب آذر ماه ۱۳۷۹ مجلس شورای اسلامی و به استناد نامه شماره ۴۷۴۳۹/۹۲۵۶ مورخ ۱۳۹۲/۱/۲۴ دبیر هیأت دولت و نامه شماره ۱۸۱۱۰/۲۵۰۲۴۰ مورخ ۹۱/۱۲/۱۵ معاونت حقوقی رییس جمهور در خصوص آیین نامه اجرایی قانون اصلاح ماده ۱۳ قانون مواد خوردنی، آشامیدنی، آرایشی و بهداشتی، موضوع تصمیم جلسه مورخ ۱۳۹۱/۷/۱۸ شورای عالی سلامت و امنیت غذایی و تأکید بر صلاحیت قانونی وزارت بهداشت، درمان و آموزش پزشکی در ابلاغ آن، بدین وسیله آیین نامه مذکور به شرح ذیل برای اجراء ابلاغ می گردد.</a:t>
            </a:r>
            <a:endParaRPr lang="fa-IR"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Shape 2"/>
          <p:cNvSpPr/>
          <p:nvPr/>
        </p:nvSpPr>
        <p:spPr>
          <a:xfrm>
            <a:off x="10543032" y="2377440"/>
            <a:ext cx="1481328" cy="402336"/>
          </a:xfrm>
          <a:prstGeom prst="roundRect">
            <a:avLst>
              <a:gd name="adj" fmla="val 18182"/>
            </a:avLst>
          </a:prstGeom>
          <a:solidFill>
            <a:srgbClr val="FFC107"/>
          </a:solidFill>
          <a:ln w="12700">
            <a:solidFill>
              <a:srgbClr val="FFC107"/>
            </a:solidFill>
            <a:prstDash val="solid"/>
          </a:ln>
        </p:spPr>
      </p:sp>
      <p:sp>
        <p:nvSpPr>
          <p:cNvPr id="8" name="Text 3"/>
          <p:cNvSpPr txBox="1"/>
          <p:nvPr/>
        </p:nvSpPr>
        <p:spPr>
          <a:xfrm>
            <a:off x="10543032" y="2377440"/>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تعاریف</a:t>
            </a:r>
            <a:endParaRPr lang="fa-IR" sz="1250" dirty="0"/>
          </a:p>
        </p:txBody>
      </p:sp>
      <p:sp>
        <p:nvSpPr>
          <p:cNvPr id="9" name="Shape 4">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0" name="Text 5"/>
          <p:cNvSpPr txBox="1"/>
          <p:nvPr/>
        </p:nvSpPr>
        <p:spPr>
          <a:xfrm>
            <a:off x="10543032" y="2980944"/>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کلیات</a:t>
            </a:r>
            <a:endParaRPr lang="fa-IR" sz="1250" dirty="0"/>
          </a:p>
        </p:txBody>
      </p:sp>
      <p:sp>
        <p:nvSpPr>
          <p:cNvPr id="11" name="Shape 6">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2" name="Text 7"/>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3" name="Shape 8">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4" name="Text 9"/>
          <p:cNvSpPr txBox="1"/>
          <p:nvPr/>
        </p:nvSpPr>
        <p:spPr>
          <a:xfrm>
            <a:off x="10543032" y="4187952"/>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وظایف</a:t>
            </a:r>
            <a:endParaRPr lang="fa-IR" sz="1250" dirty="0"/>
          </a:p>
        </p:txBody>
      </p:sp>
      <p:sp>
        <p:nvSpPr>
          <p:cNvPr id="15" name="Shape 10">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۶</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تعاریف (۱): وزارت، بهداشت محیط، بازرس</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Definitions — Article 1</a:t>
            </a:r>
            <a:endParaRPr lang="en-US" sz="1550" dirty="0"/>
          </a:p>
        </p:txBody>
      </p:sp>
      <p:sp>
        <p:nvSpPr>
          <p:cNvPr id="25" name="Shape 18"/>
          <p:cNvSpPr/>
          <p:nvPr/>
        </p:nvSpPr>
        <p:spPr>
          <a:xfrm>
            <a:off x="5349240" y="1572768"/>
            <a:ext cx="4617720" cy="2208276"/>
          </a:xfrm>
          <a:prstGeom prst="roundRect">
            <a:avLst>
              <a:gd name="adj" fmla="val 4969"/>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26" name="Shape 19"/>
          <p:cNvSpPr/>
          <p:nvPr/>
        </p:nvSpPr>
        <p:spPr>
          <a:xfrm>
            <a:off x="9098280" y="1755648"/>
            <a:ext cx="658368" cy="658368"/>
          </a:xfrm>
          <a:prstGeom prst="ellipse">
            <a:avLst/>
          </a:prstGeom>
          <a:solidFill>
            <a:srgbClr val="0D3B8C"/>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27" name="Text 20"/>
          <p:cNvSpPr txBox="1"/>
          <p:nvPr/>
        </p:nvSpPr>
        <p:spPr>
          <a:xfrm>
            <a:off x="90525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۱</a:t>
            </a:r>
            <a:endParaRPr lang="fa-IR" sz="1500" dirty="0"/>
          </a:p>
        </p:txBody>
      </p:sp>
      <p:sp>
        <p:nvSpPr>
          <p:cNvPr id="28" name="Text 21"/>
          <p:cNvSpPr txBox="1"/>
          <p:nvPr/>
        </p:nvSpPr>
        <p:spPr>
          <a:xfrm>
            <a:off x="5623560" y="1737360"/>
            <a:ext cx="3291840" cy="1933956"/>
          </a:xfrm>
          <a:prstGeom prst="rect">
            <a:avLst/>
          </a:prstGeom>
          <a:noFill/>
          <a:ln/>
        </p:spPr>
        <p:txBody>
          <a:bodyPr wrap="square" lIns="0" tIns="0" rIns="0" bIns="0" rtlCol="0" anchor="t"/>
          <a:lstStyle/>
          <a:p>
            <a:pPr rtl="1" algn="r" indent="0" marL="0">
              <a:lnSpc>
                <a:spcPct val="112000"/>
              </a:lnSpc>
              <a:spcAft>
                <a:spcPts val="300"/>
              </a:spcAft>
              <a:buNone/>
            </a:pPr>
            <a:r>
              <a:rPr lang="fa-IR" altLang="en-US" sz="1750" b="1" dirty="0">
                <a:solidFill>
                  <a:srgbClr val="0D3B8C"/>
                </a:solidFill>
                <a:latin typeface="B Nazanin" pitchFamily="34" charset="0"/>
                <a:ea typeface="B Nazanin" pitchFamily="34" charset="-122"/>
                <a:cs typeface="B Nazanin" pitchFamily="34" charset="-120"/>
              </a:rPr>
              <a:t>وزارت</a:t>
            </a:r>
            <a:endParaRPr lang="fa-IR" sz="1750" dirty="0"/>
          </a:p>
          <a:p>
            <a:pPr rtl="1" algn="r" indent="0" marL="0">
              <a:lnSpc>
                <a:spcPct val="112000"/>
              </a:lnSpc>
              <a:spcAft>
                <a:spcPts val="300"/>
              </a:spcAft>
              <a:buNone/>
            </a:pPr>
            <a:r>
              <a:rPr lang="fa-IR" altLang="en-US" sz="1500" dirty="0">
                <a:solidFill>
                  <a:srgbClr val="37474F"/>
                </a:solidFill>
                <a:latin typeface="B Nazanin" pitchFamily="34" charset="0"/>
                <a:ea typeface="B Nazanin" pitchFamily="34" charset="-122"/>
                <a:cs typeface="B Nazanin" pitchFamily="34" charset="-120"/>
              </a:rPr>
              <a:t>وزارت بهداشت، درمان و آموزش پزشکی، دانشگاه ها و دانشکده های علوم پزشکی تابعه.</a:t>
            </a:r>
            <a:endParaRPr lang="fa-IR" sz="1750" dirty="0"/>
          </a:p>
        </p:txBody>
      </p:sp>
      <p:sp>
        <p:nvSpPr>
          <p:cNvPr id="29" name="Shape 22"/>
          <p:cNvSpPr/>
          <p:nvPr/>
        </p:nvSpPr>
        <p:spPr>
          <a:xfrm>
            <a:off x="548640" y="1572768"/>
            <a:ext cx="4617720" cy="2208276"/>
          </a:xfrm>
          <a:prstGeom prst="roundRect">
            <a:avLst>
              <a:gd name="adj" fmla="val 4969"/>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0" name="Shape 23"/>
          <p:cNvSpPr/>
          <p:nvPr/>
        </p:nvSpPr>
        <p:spPr>
          <a:xfrm>
            <a:off x="4297680" y="1755648"/>
            <a:ext cx="658368" cy="658368"/>
          </a:xfrm>
          <a:prstGeom prst="ellipse">
            <a:avLst/>
          </a:prstGeom>
          <a:solidFill>
            <a:srgbClr val="1E88E5"/>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1" name="Text 24"/>
          <p:cNvSpPr txBox="1"/>
          <p:nvPr/>
        </p:nvSpPr>
        <p:spPr>
          <a:xfrm>
            <a:off x="42519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۲</a:t>
            </a:r>
            <a:endParaRPr lang="fa-IR" sz="1500" dirty="0"/>
          </a:p>
        </p:txBody>
      </p:sp>
      <p:sp>
        <p:nvSpPr>
          <p:cNvPr id="32" name="Text 25"/>
          <p:cNvSpPr txBox="1"/>
          <p:nvPr/>
        </p:nvSpPr>
        <p:spPr>
          <a:xfrm>
            <a:off x="822960" y="1737360"/>
            <a:ext cx="3291840" cy="1933956"/>
          </a:xfrm>
          <a:prstGeom prst="rect">
            <a:avLst/>
          </a:prstGeom>
          <a:noFill/>
          <a:ln/>
        </p:spPr>
        <p:txBody>
          <a:bodyPr wrap="square" lIns="0" tIns="0" rIns="0" bIns="0" rtlCol="0" anchor="t"/>
          <a:lstStyle/>
          <a:p>
            <a:pPr rtl="1" algn="r" indent="0" marL="0">
              <a:lnSpc>
                <a:spcPct val="112000"/>
              </a:lnSpc>
              <a:spcAft>
                <a:spcPts val="300"/>
              </a:spcAft>
              <a:buNone/>
            </a:pPr>
            <a:r>
              <a:rPr lang="fa-IR" altLang="en-US" sz="1750" b="1" dirty="0">
                <a:solidFill>
                  <a:srgbClr val="1E88E5"/>
                </a:solidFill>
                <a:latin typeface="B Nazanin" pitchFamily="34" charset="0"/>
                <a:ea typeface="B Nazanin" pitchFamily="34" charset="-122"/>
                <a:cs typeface="B Nazanin" pitchFamily="34" charset="-120"/>
              </a:rPr>
              <a:t>بهداشت محیط</a:t>
            </a:r>
            <a:endParaRPr lang="fa-IR" sz="1750" dirty="0"/>
          </a:p>
          <a:p>
            <a:pPr rtl="1" algn="r" indent="0" marL="0">
              <a:lnSpc>
                <a:spcPct val="112000"/>
              </a:lnSpc>
              <a:spcAft>
                <a:spcPts val="300"/>
              </a:spcAft>
              <a:buNone/>
            </a:pPr>
            <a:r>
              <a:rPr lang="fa-IR" altLang="en-US" sz="1500" dirty="0">
                <a:solidFill>
                  <a:srgbClr val="37474F"/>
                </a:solidFill>
                <a:latin typeface="B Nazanin" pitchFamily="34" charset="0"/>
                <a:ea typeface="B Nazanin" pitchFamily="34" charset="-122"/>
                <a:cs typeface="B Nazanin" pitchFamily="34" charset="-120"/>
              </a:rPr>
              <a:t>عبارت است از کنترل عوامل فیزیکی، شیمیایی، بیولوژیکی، رادیولوژیکی و غیر آن، از محیط زندگی که بر سلامت جسمی، روانی و اجتماعی انسان تأثیر می گذارند.</a:t>
            </a:r>
            <a:endParaRPr lang="fa-IR" sz="1750" dirty="0"/>
          </a:p>
        </p:txBody>
      </p:sp>
      <p:sp>
        <p:nvSpPr>
          <p:cNvPr id="33" name="Shape 26"/>
          <p:cNvSpPr/>
          <p:nvPr/>
        </p:nvSpPr>
        <p:spPr>
          <a:xfrm>
            <a:off x="5349240" y="3963924"/>
            <a:ext cx="4617720" cy="2208276"/>
          </a:xfrm>
          <a:prstGeom prst="roundRect">
            <a:avLst>
              <a:gd name="adj" fmla="val 4969"/>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4" name="Shape 27"/>
          <p:cNvSpPr/>
          <p:nvPr/>
        </p:nvSpPr>
        <p:spPr>
          <a:xfrm>
            <a:off x="9098280" y="4146804"/>
            <a:ext cx="658368" cy="658368"/>
          </a:xfrm>
          <a:prstGeom prst="ellipse">
            <a:avLst/>
          </a:prstGeom>
          <a:solidFill>
            <a:srgbClr val="43A047"/>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5" name="Text 28"/>
          <p:cNvSpPr txBox="1"/>
          <p:nvPr/>
        </p:nvSpPr>
        <p:spPr>
          <a:xfrm>
            <a:off x="9052560" y="4146804"/>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۳</a:t>
            </a:r>
            <a:endParaRPr lang="fa-IR" sz="1500" dirty="0"/>
          </a:p>
        </p:txBody>
      </p:sp>
      <p:sp>
        <p:nvSpPr>
          <p:cNvPr id="36" name="Text 29"/>
          <p:cNvSpPr txBox="1"/>
          <p:nvPr/>
        </p:nvSpPr>
        <p:spPr>
          <a:xfrm>
            <a:off x="5623560" y="4128516"/>
            <a:ext cx="3291840" cy="1933956"/>
          </a:xfrm>
          <a:prstGeom prst="rect">
            <a:avLst/>
          </a:prstGeom>
          <a:noFill/>
          <a:ln/>
        </p:spPr>
        <p:txBody>
          <a:bodyPr wrap="square" lIns="0" tIns="0" rIns="0" bIns="0" rtlCol="0" anchor="t"/>
          <a:lstStyle/>
          <a:p>
            <a:pPr rtl="1" algn="r" indent="0" marL="0">
              <a:lnSpc>
                <a:spcPct val="112000"/>
              </a:lnSpc>
              <a:spcAft>
                <a:spcPts val="300"/>
              </a:spcAft>
              <a:buNone/>
            </a:pPr>
            <a:r>
              <a:rPr lang="fa-IR" altLang="en-US" sz="1750" b="1" dirty="0">
                <a:solidFill>
                  <a:srgbClr val="43A047"/>
                </a:solidFill>
                <a:latin typeface="B Nazanin" pitchFamily="34" charset="0"/>
                <a:ea typeface="B Nazanin" pitchFamily="34" charset="-122"/>
                <a:cs typeface="B Nazanin" pitchFamily="34" charset="-120"/>
              </a:rPr>
              <a:t>بازرس</a:t>
            </a:r>
            <a:endParaRPr lang="fa-IR" sz="1750" dirty="0"/>
          </a:p>
          <a:p>
            <a:pPr rtl="1" algn="r" indent="0" marL="0">
              <a:lnSpc>
                <a:spcPct val="112000"/>
              </a:lnSpc>
              <a:spcAft>
                <a:spcPts val="300"/>
              </a:spcAft>
              <a:buNone/>
            </a:pPr>
            <a:r>
              <a:rPr lang="fa-IR" altLang="en-US" sz="1500" dirty="0">
                <a:solidFill>
                  <a:srgbClr val="37474F"/>
                </a:solidFill>
                <a:latin typeface="B Nazanin" pitchFamily="34" charset="0"/>
                <a:ea typeface="B Nazanin" pitchFamily="34" charset="-122"/>
                <a:cs typeface="B Nazanin" pitchFamily="34" charset="-120"/>
              </a:rPr>
              <a:t>فردی است که با دریافت کارت بازرسی از وزارت، به عنوان بازرس بهداشت شناخته می شود و به عنوان ضابط قضایی (ضابط خاص) جهت کنترل و نظارت های حوزه موضوع این آیین نامه فعالیت می نماید.</a:t>
            </a:r>
            <a:endParaRPr lang="fa-IR" sz="1750" dirty="0"/>
          </a:p>
        </p:txBody>
      </p:sp>
      <p:sp>
        <p:nvSpPr>
          <p:cNvPr id="37" name="Shape 30"/>
          <p:cNvSpPr/>
          <p:nvPr/>
        </p:nvSpPr>
        <p:spPr>
          <a:xfrm>
            <a:off x="548640" y="3963924"/>
            <a:ext cx="4617720" cy="2208276"/>
          </a:xfrm>
          <a:prstGeom prst="roundRect">
            <a:avLst>
              <a:gd name="adj" fmla="val 4969"/>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8" name="Shape 31"/>
          <p:cNvSpPr/>
          <p:nvPr/>
        </p:nvSpPr>
        <p:spPr>
          <a:xfrm>
            <a:off x="4297680" y="4146804"/>
            <a:ext cx="658368" cy="658368"/>
          </a:xfrm>
          <a:prstGeom prst="ellipse">
            <a:avLst/>
          </a:prstGeom>
          <a:solidFill>
            <a:srgbClr val="C62828"/>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9" name="Text 32"/>
          <p:cNvSpPr txBox="1"/>
          <p:nvPr/>
        </p:nvSpPr>
        <p:spPr>
          <a:xfrm>
            <a:off x="4251960" y="4146804"/>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۴</a:t>
            </a:r>
            <a:endParaRPr lang="fa-IR" sz="1500" dirty="0"/>
          </a:p>
        </p:txBody>
      </p:sp>
      <p:sp>
        <p:nvSpPr>
          <p:cNvPr id="40" name="Text 33"/>
          <p:cNvSpPr txBox="1"/>
          <p:nvPr/>
        </p:nvSpPr>
        <p:spPr>
          <a:xfrm>
            <a:off x="822960" y="4128516"/>
            <a:ext cx="3291840" cy="1933956"/>
          </a:xfrm>
          <a:prstGeom prst="rect">
            <a:avLst/>
          </a:prstGeom>
          <a:noFill/>
          <a:ln/>
        </p:spPr>
        <p:txBody>
          <a:bodyPr wrap="square" lIns="0" tIns="0" rIns="0" bIns="0" rtlCol="0" anchor="t"/>
          <a:lstStyle/>
          <a:p>
            <a:pPr rtl="1" algn="r" indent="0" marL="0">
              <a:lnSpc>
                <a:spcPct val="112000"/>
              </a:lnSpc>
              <a:spcAft>
                <a:spcPts val="300"/>
              </a:spcAft>
              <a:buNone/>
            </a:pPr>
            <a:r>
              <a:rPr lang="fa-IR" altLang="en-US" sz="1750" b="1" dirty="0">
                <a:solidFill>
                  <a:srgbClr val="C62828"/>
                </a:solidFill>
                <a:latin typeface="B Nazanin" pitchFamily="34" charset="0"/>
                <a:ea typeface="B Nazanin" pitchFamily="34" charset="-122"/>
                <a:cs typeface="B Nazanin" pitchFamily="34" charset="-120"/>
              </a:rPr>
              <a:t>بازرسی</a:t>
            </a:r>
            <a:endParaRPr lang="fa-IR" sz="1750" dirty="0"/>
          </a:p>
          <a:p>
            <a:pPr rtl="1" algn="r" indent="0" marL="0">
              <a:lnSpc>
                <a:spcPct val="112000"/>
              </a:lnSpc>
              <a:spcAft>
                <a:spcPts val="300"/>
              </a:spcAft>
              <a:buNone/>
            </a:pPr>
            <a:r>
              <a:rPr lang="fa-IR" altLang="en-US" sz="1500" dirty="0">
                <a:solidFill>
                  <a:srgbClr val="37474F"/>
                </a:solidFill>
                <a:latin typeface="B Nazanin" pitchFamily="34" charset="0"/>
                <a:ea typeface="B Nazanin" pitchFamily="34" charset="-122"/>
                <a:cs typeface="B Nazanin" pitchFamily="34" charset="-120"/>
              </a:rPr>
              <a:t>به عمل نظارتی گفته می شود که هدف از آن بررسی میزان انطباق شرایط موضوع و محل بازرسی با قوانین، مقررات و الزامات بهداشتی ناشی از آن‌ها می باشد.</a:t>
            </a:r>
            <a:endParaRPr lang="fa-IR"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Shape 2"/>
          <p:cNvSpPr/>
          <p:nvPr/>
        </p:nvSpPr>
        <p:spPr>
          <a:xfrm>
            <a:off x="10543032" y="2377440"/>
            <a:ext cx="1481328" cy="402336"/>
          </a:xfrm>
          <a:prstGeom prst="roundRect">
            <a:avLst>
              <a:gd name="adj" fmla="val 18182"/>
            </a:avLst>
          </a:prstGeom>
          <a:solidFill>
            <a:srgbClr val="FFC107"/>
          </a:solidFill>
          <a:ln w="12700">
            <a:solidFill>
              <a:srgbClr val="FFC107"/>
            </a:solidFill>
            <a:prstDash val="solid"/>
          </a:ln>
        </p:spPr>
      </p:sp>
      <p:sp>
        <p:nvSpPr>
          <p:cNvPr id="8" name="Text 3"/>
          <p:cNvSpPr txBox="1"/>
          <p:nvPr/>
        </p:nvSpPr>
        <p:spPr>
          <a:xfrm>
            <a:off x="10543032" y="2377440"/>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تعاریف</a:t>
            </a:r>
            <a:endParaRPr lang="fa-IR" sz="1250" dirty="0"/>
          </a:p>
        </p:txBody>
      </p:sp>
      <p:sp>
        <p:nvSpPr>
          <p:cNvPr id="9" name="Shape 4">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0" name="Text 5"/>
          <p:cNvSpPr txBox="1"/>
          <p:nvPr/>
        </p:nvSpPr>
        <p:spPr>
          <a:xfrm>
            <a:off x="10543032" y="2980944"/>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کلیات</a:t>
            </a:r>
            <a:endParaRPr lang="fa-IR" sz="1250" dirty="0"/>
          </a:p>
        </p:txBody>
      </p:sp>
      <p:sp>
        <p:nvSpPr>
          <p:cNvPr id="11" name="Shape 6">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2" name="Text 7"/>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3" name="Shape 8">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4" name="Text 9"/>
          <p:cNvSpPr txBox="1"/>
          <p:nvPr/>
        </p:nvSpPr>
        <p:spPr>
          <a:xfrm>
            <a:off x="10543032" y="4187952"/>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وظایف</a:t>
            </a:r>
            <a:endParaRPr lang="fa-IR" sz="1250" dirty="0"/>
          </a:p>
        </p:txBody>
      </p:sp>
      <p:sp>
        <p:nvSpPr>
          <p:cNvPr id="15" name="Shape 10">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۷</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تعاریف (۲): آب آشامیدنی و مواد غذایی</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Definitions — Article 1</a:t>
            </a:r>
            <a:endParaRPr lang="en-US" sz="1550" dirty="0"/>
          </a:p>
        </p:txBody>
      </p:sp>
      <p:sp>
        <p:nvSpPr>
          <p:cNvPr id="25" name="Shape 18"/>
          <p:cNvSpPr/>
          <p:nvPr/>
        </p:nvSpPr>
        <p:spPr>
          <a:xfrm>
            <a:off x="5349240" y="1572768"/>
            <a:ext cx="4617720" cy="2208276"/>
          </a:xfrm>
          <a:prstGeom prst="roundRect">
            <a:avLst>
              <a:gd name="adj" fmla="val 4969"/>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26" name="Shape 19"/>
          <p:cNvSpPr/>
          <p:nvPr/>
        </p:nvSpPr>
        <p:spPr>
          <a:xfrm>
            <a:off x="9098280" y="1755648"/>
            <a:ext cx="658368" cy="658368"/>
          </a:xfrm>
          <a:prstGeom prst="ellipse">
            <a:avLst/>
          </a:prstGeom>
          <a:solidFill>
            <a:srgbClr val="1E88E5"/>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27" name="Text 20"/>
          <p:cNvSpPr txBox="1"/>
          <p:nvPr/>
        </p:nvSpPr>
        <p:spPr>
          <a:xfrm>
            <a:off x="90525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۵</a:t>
            </a:r>
            <a:endParaRPr lang="fa-IR" sz="1500" dirty="0"/>
          </a:p>
        </p:txBody>
      </p:sp>
      <p:sp>
        <p:nvSpPr>
          <p:cNvPr id="28" name="Text 21"/>
          <p:cNvSpPr txBox="1"/>
          <p:nvPr/>
        </p:nvSpPr>
        <p:spPr>
          <a:xfrm>
            <a:off x="5623560" y="1737360"/>
            <a:ext cx="3291840" cy="1933956"/>
          </a:xfrm>
          <a:prstGeom prst="rect">
            <a:avLst/>
          </a:prstGeom>
          <a:noFill/>
          <a:ln/>
        </p:spPr>
        <p:txBody>
          <a:bodyPr wrap="square" lIns="0" tIns="0" rIns="0" bIns="0" rtlCol="0" anchor="t"/>
          <a:lstStyle/>
          <a:p>
            <a:pPr rtl="1" algn="r" indent="0" marL="0">
              <a:lnSpc>
                <a:spcPct val="112000"/>
              </a:lnSpc>
              <a:spcAft>
                <a:spcPts val="300"/>
              </a:spcAft>
              <a:buNone/>
            </a:pPr>
            <a:r>
              <a:rPr lang="fa-IR" altLang="en-US" sz="1700" b="1" dirty="0">
                <a:solidFill>
                  <a:srgbClr val="1E88E5"/>
                </a:solidFill>
                <a:latin typeface="B Nazanin" pitchFamily="34" charset="0"/>
                <a:ea typeface="B Nazanin" pitchFamily="34" charset="-122"/>
                <a:cs typeface="B Nazanin" pitchFamily="34" charset="-120"/>
              </a:rPr>
              <a:t>آب آشامیدنی</a:t>
            </a:r>
            <a:endParaRPr lang="fa-IR" sz="1700" dirty="0"/>
          </a:p>
          <a:p>
            <a:pPr rtl="1" algn="r" indent="0" marL="0">
              <a:lnSpc>
                <a:spcPct val="112000"/>
              </a:lnSpc>
              <a:spcAft>
                <a:spcPts val="300"/>
              </a:spcAft>
              <a:buNone/>
            </a:pPr>
            <a:r>
              <a:rPr lang="fa-IR" altLang="en-US" sz="1450" dirty="0">
                <a:solidFill>
                  <a:srgbClr val="37474F"/>
                </a:solidFill>
                <a:latin typeface="B Nazanin" pitchFamily="34" charset="0"/>
                <a:ea typeface="B Nazanin" pitchFamily="34" charset="-122"/>
                <a:cs typeface="B Nazanin" pitchFamily="34" charset="-120"/>
              </a:rPr>
              <a:t>آبی است که عوامل فیزیکی، شیمیایی، بیولوژیکی و رادیولوژیکی آن با ضوابط و مقررات اعلامی از سوی وزارت مطابقت داشته باشد و مصرف آن عارضه سوئی در کوتاه مدت و یا درازمدت در انسان ایجاد نکند.</a:t>
            </a:r>
            <a:endParaRPr lang="fa-IR" sz="1700" dirty="0"/>
          </a:p>
        </p:txBody>
      </p:sp>
      <p:sp>
        <p:nvSpPr>
          <p:cNvPr id="29" name="Shape 22"/>
          <p:cNvSpPr/>
          <p:nvPr/>
        </p:nvSpPr>
        <p:spPr>
          <a:xfrm>
            <a:off x="548640" y="1572768"/>
            <a:ext cx="4617720" cy="2208276"/>
          </a:xfrm>
          <a:prstGeom prst="roundRect">
            <a:avLst>
              <a:gd name="adj" fmla="val 4969"/>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0" name="Shape 23"/>
          <p:cNvSpPr/>
          <p:nvPr/>
        </p:nvSpPr>
        <p:spPr>
          <a:xfrm>
            <a:off x="4297680" y="1755648"/>
            <a:ext cx="658368" cy="658368"/>
          </a:xfrm>
          <a:prstGeom prst="ellipse">
            <a:avLst/>
          </a:prstGeom>
          <a:solidFill>
            <a:srgbClr val="C62828"/>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1" name="Text 24"/>
          <p:cNvSpPr txBox="1"/>
          <p:nvPr/>
        </p:nvSpPr>
        <p:spPr>
          <a:xfrm>
            <a:off x="42519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۶</a:t>
            </a:r>
            <a:endParaRPr lang="fa-IR" sz="1500" dirty="0"/>
          </a:p>
        </p:txBody>
      </p:sp>
      <p:sp>
        <p:nvSpPr>
          <p:cNvPr id="32" name="Text 25"/>
          <p:cNvSpPr txBox="1"/>
          <p:nvPr/>
        </p:nvSpPr>
        <p:spPr>
          <a:xfrm>
            <a:off x="822960" y="1737360"/>
            <a:ext cx="3291840" cy="1933956"/>
          </a:xfrm>
          <a:prstGeom prst="rect">
            <a:avLst/>
          </a:prstGeom>
          <a:noFill/>
          <a:ln/>
        </p:spPr>
        <p:txBody>
          <a:bodyPr wrap="square" lIns="0" tIns="0" rIns="0" bIns="0" rtlCol="0" anchor="t"/>
          <a:lstStyle/>
          <a:p>
            <a:pPr rtl="1" algn="r" indent="0" marL="0">
              <a:lnSpc>
                <a:spcPct val="112000"/>
              </a:lnSpc>
              <a:spcAft>
                <a:spcPts val="300"/>
              </a:spcAft>
              <a:buNone/>
            </a:pPr>
            <a:r>
              <a:rPr lang="fa-IR" altLang="en-US" sz="1700" b="1" dirty="0">
                <a:solidFill>
                  <a:srgbClr val="C62828"/>
                </a:solidFill>
                <a:latin typeface="B Nazanin" pitchFamily="34" charset="0"/>
                <a:ea typeface="B Nazanin" pitchFamily="34" charset="-122"/>
                <a:cs typeface="B Nazanin" pitchFamily="34" charset="-120"/>
              </a:rPr>
              <a:t>آلودگی آب آشامیدنی</a:t>
            </a:r>
            <a:endParaRPr lang="fa-IR" sz="1700" dirty="0"/>
          </a:p>
          <a:p>
            <a:pPr rtl="1" algn="r" indent="0" marL="0">
              <a:lnSpc>
                <a:spcPct val="112000"/>
              </a:lnSpc>
              <a:spcAft>
                <a:spcPts val="300"/>
              </a:spcAft>
              <a:buNone/>
            </a:pPr>
            <a:r>
              <a:rPr lang="fa-IR" altLang="en-US" sz="1450" dirty="0">
                <a:solidFill>
                  <a:srgbClr val="37474F"/>
                </a:solidFill>
                <a:latin typeface="B Nazanin" pitchFamily="34" charset="0"/>
                <a:ea typeface="B Nazanin" pitchFamily="34" charset="-122"/>
                <a:cs typeface="B Nazanin" pitchFamily="34" charset="-120"/>
              </a:rPr>
              <a:t>عبارتست از تغییر خواص فیزیکی، شیمیایی، بیولوژیکی و رادیولوژیکی آب به گونه‌ای که آن را برای مصرف انسان نامناسب یا زیان آور سازد.</a:t>
            </a:r>
            <a:endParaRPr lang="fa-IR" sz="1700" dirty="0"/>
          </a:p>
        </p:txBody>
      </p:sp>
      <p:sp>
        <p:nvSpPr>
          <p:cNvPr id="33" name="Shape 26"/>
          <p:cNvSpPr/>
          <p:nvPr/>
        </p:nvSpPr>
        <p:spPr>
          <a:xfrm>
            <a:off x="5349240" y="3963924"/>
            <a:ext cx="4617720" cy="2208276"/>
          </a:xfrm>
          <a:prstGeom prst="roundRect">
            <a:avLst>
              <a:gd name="adj" fmla="val 4969"/>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4" name="Shape 27"/>
          <p:cNvSpPr/>
          <p:nvPr/>
        </p:nvSpPr>
        <p:spPr>
          <a:xfrm>
            <a:off x="9098280" y="4146804"/>
            <a:ext cx="658368" cy="658368"/>
          </a:xfrm>
          <a:prstGeom prst="ellipse">
            <a:avLst/>
          </a:prstGeom>
          <a:solidFill>
            <a:srgbClr val="43A047"/>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5" name="Text 28"/>
          <p:cNvSpPr txBox="1"/>
          <p:nvPr/>
        </p:nvSpPr>
        <p:spPr>
          <a:xfrm>
            <a:off x="9052560" y="4146804"/>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۷</a:t>
            </a:r>
            <a:endParaRPr lang="fa-IR" sz="1500" dirty="0"/>
          </a:p>
        </p:txBody>
      </p:sp>
      <p:sp>
        <p:nvSpPr>
          <p:cNvPr id="36" name="Text 29"/>
          <p:cNvSpPr txBox="1"/>
          <p:nvPr/>
        </p:nvSpPr>
        <p:spPr>
          <a:xfrm>
            <a:off x="5623560" y="4128516"/>
            <a:ext cx="3291840" cy="1933956"/>
          </a:xfrm>
          <a:prstGeom prst="rect">
            <a:avLst/>
          </a:prstGeom>
          <a:noFill/>
          <a:ln/>
        </p:spPr>
        <p:txBody>
          <a:bodyPr wrap="square" lIns="0" tIns="0" rIns="0" bIns="0" rtlCol="0" anchor="t"/>
          <a:lstStyle/>
          <a:p>
            <a:pPr rtl="1" algn="r" indent="0" marL="0">
              <a:lnSpc>
                <a:spcPct val="112000"/>
              </a:lnSpc>
              <a:spcAft>
                <a:spcPts val="300"/>
              </a:spcAft>
              <a:buNone/>
            </a:pPr>
            <a:r>
              <a:rPr lang="fa-IR" altLang="en-US" sz="1700" b="1" dirty="0">
                <a:solidFill>
                  <a:srgbClr val="43A047"/>
                </a:solidFill>
                <a:latin typeface="B Nazanin" pitchFamily="34" charset="0"/>
                <a:ea typeface="B Nazanin" pitchFamily="34" charset="-122"/>
                <a:cs typeface="B Nazanin" pitchFamily="34" charset="-120"/>
              </a:rPr>
              <a:t>مواد غذایی سالم</a:t>
            </a:r>
            <a:endParaRPr lang="fa-IR" sz="1700" dirty="0"/>
          </a:p>
          <a:p>
            <a:pPr rtl="1" algn="r" indent="0" marL="0">
              <a:lnSpc>
                <a:spcPct val="112000"/>
              </a:lnSpc>
              <a:spcAft>
                <a:spcPts val="300"/>
              </a:spcAft>
              <a:buNone/>
            </a:pPr>
            <a:r>
              <a:rPr lang="fa-IR" altLang="en-US" sz="1450" dirty="0">
                <a:solidFill>
                  <a:srgbClr val="37474F"/>
                </a:solidFill>
                <a:latin typeface="B Nazanin" pitchFamily="34" charset="0"/>
                <a:ea typeface="B Nazanin" pitchFamily="34" charset="-122"/>
                <a:cs typeface="B Nazanin" pitchFamily="34" charset="-120"/>
              </a:rPr>
              <a:t>غذای سالم یا ایمن، غذایی است که از مواد اولیه سالم و ایمن تهیه شده باشد و عاری از مواد زیان بخش و مضر بوده و از نظر بهداشتی در مقادیر مصرف معمولی در کوتاه یا دراز مدت زیانی متوجه بدن انسان نکند.</a:t>
            </a:r>
            <a:endParaRPr lang="fa-IR" sz="1700" dirty="0"/>
          </a:p>
        </p:txBody>
      </p:sp>
      <p:sp>
        <p:nvSpPr>
          <p:cNvPr id="37" name="Shape 30"/>
          <p:cNvSpPr/>
          <p:nvPr/>
        </p:nvSpPr>
        <p:spPr>
          <a:xfrm>
            <a:off x="548640" y="3963924"/>
            <a:ext cx="4617720" cy="2208276"/>
          </a:xfrm>
          <a:prstGeom prst="roundRect">
            <a:avLst>
              <a:gd name="adj" fmla="val 4969"/>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8" name="Shape 31"/>
          <p:cNvSpPr/>
          <p:nvPr/>
        </p:nvSpPr>
        <p:spPr>
          <a:xfrm>
            <a:off x="4297680" y="4146804"/>
            <a:ext cx="658368" cy="658368"/>
          </a:xfrm>
          <a:prstGeom prst="ellipse">
            <a:avLst/>
          </a:prstGeom>
          <a:solidFill>
            <a:srgbClr val="C62828"/>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9" name="Text 32"/>
          <p:cNvSpPr txBox="1"/>
          <p:nvPr/>
        </p:nvSpPr>
        <p:spPr>
          <a:xfrm>
            <a:off x="4251960" y="4146804"/>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۸</a:t>
            </a:r>
            <a:endParaRPr lang="fa-IR" sz="1500" dirty="0"/>
          </a:p>
        </p:txBody>
      </p:sp>
      <p:sp>
        <p:nvSpPr>
          <p:cNvPr id="40" name="Text 33"/>
          <p:cNvSpPr txBox="1"/>
          <p:nvPr/>
        </p:nvSpPr>
        <p:spPr>
          <a:xfrm>
            <a:off x="822960" y="4128516"/>
            <a:ext cx="3291840" cy="1933956"/>
          </a:xfrm>
          <a:prstGeom prst="rect">
            <a:avLst/>
          </a:prstGeom>
          <a:noFill/>
          <a:ln/>
        </p:spPr>
        <p:txBody>
          <a:bodyPr wrap="square" lIns="0" tIns="0" rIns="0" bIns="0" rtlCol="0" anchor="t"/>
          <a:lstStyle/>
          <a:p>
            <a:pPr rtl="1" algn="r" indent="0" marL="0">
              <a:lnSpc>
                <a:spcPct val="112000"/>
              </a:lnSpc>
              <a:spcAft>
                <a:spcPts val="300"/>
              </a:spcAft>
              <a:buNone/>
            </a:pPr>
            <a:r>
              <a:rPr lang="fa-IR" altLang="en-US" sz="1700" b="1" dirty="0">
                <a:solidFill>
                  <a:srgbClr val="C62828"/>
                </a:solidFill>
                <a:latin typeface="B Nazanin" pitchFamily="34" charset="0"/>
                <a:ea typeface="B Nazanin" pitchFamily="34" charset="-122"/>
                <a:cs typeface="B Nazanin" pitchFamily="34" charset="-120"/>
              </a:rPr>
              <a:t>مواد غذایی فاسد</a:t>
            </a:r>
            <a:endParaRPr lang="fa-IR" sz="1700" dirty="0"/>
          </a:p>
          <a:p>
            <a:pPr rtl="1" algn="r" indent="0" marL="0">
              <a:lnSpc>
                <a:spcPct val="112000"/>
              </a:lnSpc>
              <a:spcAft>
                <a:spcPts val="300"/>
              </a:spcAft>
              <a:buNone/>
            </a:pPr>
            <a:r>
              <a:rPr lang="fa-IR" altLang="en-US" sz="1450" dirty="0">
                <a:solidFill>
                  <a:srgbClr val="37474F"/>
                </a:solidFill>
                <a:latin typeface="B Nazanin" pitchFamily="34" charset="0"/>
                <a:ea typeface="B Nazanin" pitchFamily="34" charset="-122"/>
                <a:cs typeface="B Nazanin" pitchFamily="34" charset="-120"/>
              </a:rPr>
              <a:t>غذایی است که رنگ، بو، مزه و قوام آن تغییر کرده یا دارای بار میکروبی بالا بوده و خوردن آن باعث صدمه زدن به سلامت مصرف کننده می گردد.</a:t>
            </a:r>
            <a:endParaRPr lang="fa-IR"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Shape 2"/>
          <p:cNvSpPr/>
          <p:nvPr/>
        </p:nvSpPr>
        <p:spPr>
          <a:xfrm>
            <a:off x="10543032" y="2377440"/>
            <a:ext cx="1481328" cy="402336"/>
          </a:xfrm>
          <a:prstGeom prst="roundRect">
            <a:avLst>
              <a:gd name="adj" fmla="val 18182"/>
            </a:avLst>
          </a:prstGeom>
          <a:solidFill>
            <a:srgbClr val="FFC107"/>
          </a:solidFill>
          <a:ln w="12700">
            <a:solidFill>
              <a:srgbClr val="FFC107"/>
            </a:solidFill>
            <a:prstDash val="solid"/>
          </a:ln>
        </p:spPr>
      </p:sp>
      <p:sp>
        <p:nvSpPr>
          <p:cNvPr id="8" name="Text 3"/>
          <p:cNvSpPr txBox="1"/>
          <p:nvPr/>
        </p:nvSpPr>
        <p:spPr>
          <a:xfrm>
            <a:off x="10543032" y="2377440"/>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تعاریف</a:t>
            </a:r>
            <a:endParaRPr lang="fa-IR" sz="1250" dirty="0"/>
          </a:p>
        </p:txBody>
      </p:sp>
      <p:sp>
        <p:nvSpPr>
          <p:cNvPr id="9" name="Shape 4">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0" name="Text 5"/>
          <p:cNvSpPr txBox="1"/>
          <p:nvPr/>
        </p:nvSpPr>
        <p:spPr>
          <a:xfrm>
            <a:off x="10543032" y="2980944"/>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کلیات</a:t>
            </a:r>
            <a:endParaRPr lang="fa-IR" sz="1250" dirty="0"/>
          </a:p>
        </p:txBody>
      </p:sp>
      <p:sp>
        <p:nvSpPr>
          <p:cNvPr id="11" name="Shape 6">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2" name="Text 7"/>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3" name="Shape 8">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4" name="Text 9"/>
          <p:cNvSpPr txBox="1"/>
          <p:nvPr/>
        </p:nvSpPr>
        <p:spPr>
          <a:xfrm>
            <a:off x="10543032" y="4187952"/>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وظایف</a:t>
            </a:r>
            <a:endParaRPr lang="fa-IR" sz="1250" dirty="0"/>
          </a:p>
        </p:txBody>
      </p:sp>
      <p:sp>
        <p:nvSpPr>
          <p:cNvPr id="15" name="Shape 10">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۸</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تعاریف (۳): مواد آرایشی و نظارت بهداشتی</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Definitions — Article 1</a:t>
            </a:r>
            <a:endParaRPr lang="en-US" sz="1550" dirty="0"/>
          </a:p>
        </p:txBody>
      </p:sp>
      <p:sp>
        <p:nvSpPr>
          <p:cNvPr id="25" name="Shape 18"/>
          <p:cNvSpPr/>
          <p:nvPr/>
        </p:nvSpPr>
        <p:spPr>
          <a:xfrm>
            <a:off x="548640" y="1572768"/>
            <a:ext cx="9418320" cy="2796507"/>
          </a:xfrm>
          <a:prstGeom prst="roundRect">
            <a:avLst>
              <a:gd name="adj" fmla="val 3924"/>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26" name="Shape 19"/>
          <p:cNvSpPr/>
          <p:nvPr/>
        </p:nvSpPr>
        <p:spPr>
          <a:xfrm>
            <a:off x="9098280" y="1755648"/>
            <a:ext cx="658368" cy="658368"/>
          </a:xfrm>
          <a:prstGeom prst="ellipse">
            <a:avLst/>
          </a:prstGeom>
          <a:solidFill>
            <a:srgbClr val="1E88E5"/>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27" name="Text 20"/>
          <p:cNvSpPr txBox="1"/>
          <p:nvPr/>
        </p:nvSpPr>
        <p:spPr>
          <a:xfrm>
            <a:off x="90525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۹</a:t>
            </a:r>
            <a:endParaRPr lang="fa-IR" sz="1500" dirty="0"/>
          </a:p>
        </p:txBody>
      </p:sp>
      <p:sp>
        <p:nvSpPr>
          <p:cNvPr id="28" name="Text 21"/>
          <p:cNvSpPr txBox="1"/>
          <p:nvPr/>
        </p:nvSpPr>
        <p:spPr>
          <a:xfrm>
            <a:off x="822960" y="1737360"/>
            <a:ext cx="8092440" cy="2522187"/>
          </a:xfrm>
          <a:prstGeom prst="rect">
            <a:avLst/>
          </a:prstGeom>
          <a:noFill/>
          <a:ln/>
        </p:spPr>
        <p:txBody>
          <a:bodyPr wrap="square" lIns="0" tIns="0" rIns="0" bIns="0" rtlCol="0" anchor="t"/>
          <a:lstStyle/>
          <a:p>
            <a:pPr rtl="1" algn="r" indent="0" marL="0">
              <a:lnSpc>
                <a:spcPct val="112000"/>
              </a:lnSpc>
              <a:spcAft>
                <a:spcPts val="300"/>
              </a:spcAft>
              <a:buNone/>
            </a:pPr>
            <a:r>
              <a:rPr lang="fa-IR" altLang="en-US" sz="1900" b="1" dirty="0">
                <a:solidFill>
                  <a:srgbClr val="1E88E5"/>
                </a:solidFill>
                <a:latin typeface="B Nazanin" pitchFamily="34" charset="0"/>
                <a:ea typeface="B Nazanin" pitchFamily="34" charset="-122"/>
                <a:cs typeface="B Nazanin" pitchFamily="34" charset="-120"/>
              </a:rPr>
              <a:t>مواد آرایشی و بهداشتی</a:t>
            </a:r>
            <a:endParaRPr lang="fa-IR" sz="1900" dirty="0"/>
          </a:p>
          <a:p>
            <a:pPr rtl="1" algn="r" indent="0" marL="0">
              <a:lnSpc>
                <a:spcPct val="112000"/>
              </a:lnSpc>
              <a:spcAft>
                <a:spcPts val="300"/>
              </a:spcAft>
              <a:buNone/>
            </a:pPr>
            <a:r>
              <a:rPr lang="fa-IR" altLang="en-US" sz="1650" dirty="0">
                <a:solidFill>
                  <a:srgbClr val="37474F"/>
                </a:solidFill>
                <a:latin typeface="B Nazanin" pitchFamily="34" charset="0"/>
                <a:ea typeface="B Nazanin" pitchFamily="34" charset="-122"/>
                <a:cs typeface="B Nazanin" pitchFamily="34" charset="-120"/>
              </a:rPr>
              <a:t>یک ماده آرایشی به عنوان ماده یا فرآورده ای است که بتواند به طور انحصاری یا عمده بر قسمت های خارجی بدن انسان شامل اپیدرم (پوست)، سیستم مو، ناخن ها، لب ها و اندام های ژنیتال (خارجی)، دندان یا اجزای مخاطی حفره‌های دهانی به منظور پاکیزگی، معطر سازی یا حفاظت و یا نگهداری از آن ها در شرایط مناسب یا تغییر و اصلاح ظاهر و یا اصلاح نمودن بوی بدن استفاده شود.</a:t>
            </a:r>
            <a:endParaRPr lang="fa-IR" sz="1900" dirty="0"/>
          </a:p>
        </p:txBody>
      </p:sp>
      <p:sp>
        <p:nvSpPr>
          <p:cNvPr id="29" name="Shape 22"/>
          <p:cNvSpPr/>
          <p:nvPr/>
        </p:nvSpPr>
        <p:spPr>
          <a:xfrm>
            <a:off x="548640" y="4552155"/>
            <a:ext cx="9418320" cy="1620045"/>
          </a:xfrm>
          <a:prstGeom prst="roundRect">
            <a:avLst>
              <a:gd name="adj" fmla="val 6773"/>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0" name="Shape 23"/>
          <p:cNvSpPr/>
          <p:nvPr/>
        </p:nvSpPr>
        <p:spPr>
          <a:xfrm>
            <a:off x="9098280" y="4735035"/>
            <a:ext cx="658368" cy="658368"/>
          </a:xfrm>
          <a:prstGeom prst="ellipse">
            <a:avLst/>
          </a:prstGeom>
          <a:solidFill>
            <a:srgbClr val="0D3B8C"/>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1" name="Text 24"/>
          <p:cNvSpPr txBox="1"/>
          <p:nvPr/>
        </p:nvSpPr>
        <p:spPr>
          <a:xfrm>
            <a:off x="9052560" y="4735035"/>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۱۰</a:t>
            </a:r>
            <a:endParaRPr lang="fa-IR" sz="1500" dirty="0"/>
          </a:p>
        </p:txBody>
      </p:sp>
      <p:sp>
        <p:nvSpPr>
          <p:cNvPr id="32" name="Text 25"/>
          <p:cNvSpPr txBox="1"/>
          <p:nvPr/>
        </p:nvSpPr>
        <p:spPr>
          <a:xfrm>
            <a:off x="822960" y="4716747"/>
            <a:ext cx="8092440" cy="1345725"/>
          </a:xfrm>
          <a:prstGeom prst="rect">
            <a:avLst/>
          </a:prstGeom>
          <a:noFill/>
          <a:ln/>
        </p:spPr>
        <p:txBody>
          <a:bodyPr wrap="square" lIns="0" tIns="0" rIns="0" bIns="0" rtlCol="0" anchor="t"/>
          <a:lstStyle/>
          <a:p>
            <a:pPr rtl="1" algn="r" indent="0" marL="0">
              <a:lnSpc>
                <a:spcPct val="112000"/>
              </a:lnSpc>
              <a:spcAft>
                <a:spcPts val="300"/>
              </a:spcAft>
              <a:buNone/>
            </a:pPr>
            <a:r>
              <a:rPr lang="fa-IR" altLang="en-US" sz="1900" b="1" dirty="0">
                <a:solidFill>
                  <a:srgbClr val="0D3B8C"/>
                </a:solidFill>
                <a:latin typeface="B Nazanin" pitchFamily="34" charset="0"/>
                <a:ea typeface="B Nazanin" pitchFamily="34" charset="-122"/>
                <a:cs typeface="B Nazanin" pitchFamily="34" charset="-120"/>
              </a:rPr>
              <a:t>نظارت بهداشتی</a:t>
            </a:r>
            <a:endParaRPr lang="fa-IR" sz="1900" dirty="0"/>
          </a:p>
          <a:p>
            <a:pPr rtl="1" algn="r" indent="0" marL="0">
              <a:lnSpc>
                <a:spcPct val="112000"/>
              </a:lnSpc>
              <a:spcAft>
                <a:spcPts val="300"/>
              </a:spcAft>
              <a:buNone/>
            </a:pPr>
            <a:r>
              <a:rPr lang="fa-IR" altLang="en-US" sz="1650" dirty="0">
                <a:solidFill>
                  <a:srgbClr val="37474F"/>
                </a:solidFill>
                <a:latin typeface="B Nazanin" pitchFamily="34" charset="0"/>
                <a:ea typeface="B Nazanin" pitchFamily="34" charset="-122"/>
                <a:cs typeface="B Nazanin" pitchFamily="34" charset="-120"/>
              </a:rPr>
              <a:t>فرآیند بازرسی، ارزیابی، پایش، ارزشیابی و کنترل عوامل محیطی می باشد که به نحوی بر سلامت انسان اثر گذار است.</a:t>
            </a:r>
            <a:endParaRPr lang="fa-IR"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Shape 2"/>
          <p:cNvSpPr/>
          <p:nvPr/>
        </p:nvSpPr>
        <p:spPr>
          <a:xfrm>
            <a:off x="10543032" y="2377440"/>
            <a:ext cx="1481328" cy="402336"/>
          </a:xfrm>
          <a:prstGeom prst="roundRect">
            <a:avLst>
              <a:gd name="adj" fmla="val 18182"/>
            </a:avLst>
          </a:prstGeom>
          <a:solidFill>
            <a:srgbClr val="FFC107"/>
          </a:solidFill>
          <a:ln w="12700">
            <a:solidFill>
              <a:srgbClr val="FFC107"/>
            </a:solidFill>
            <a:prstDash val="solid"/>
          </a:ln>
        </p:spPr>
      </p:sp>
      <p:sp>
        <p:nvSpPr>
          <p:cNvPr id="8" name="Text 3"/>
          <p:cNvSpPr txBox="1"/>
          <p:nvPr/>
        </p:nvSpPr>
        <p:spPr>
          <a:xfrm>
            <a:off x="10543032" y="2377440"/>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تعاریف</a:t>
            </a:r>
            <a:endParaRPr lang="fa-IR" sz="1250" dirty="0"/>
          </a:p>
        </p:txBody>
      </p:sp>
      <p:sp>
        <p:nvSpPr>
          <p:cNvPr id="9" name="Shape 4">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0" name="Text 5"/>
          <p:cNvSpPr txBox="1"/>
          <p:nvPr/>
        </p:nvSpPr>
        <p:spPr>
          <a:xfrm>
            <a:off x="10543032" y="2980944"/>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کلیات</a:t>
            </a:r>
            <a:endParaRPr lang="fa-IR" sz="1250" dirty="0"/>
          </a:p>
        </p:txBody>
      </p:sp>
      <p:sp>
        <p:nvSpPr>
          <p:cNvPr id="11" name="Shape 6">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2" name="Text 7"/>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3" name="Shape 8">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4" name="Text 9"/>
          <p:cNvSpPr txBox="1"/>
          <p:nvPr/>
        </p:nvSpPr>
        <p:spPr>
          <a:xfrm>
            <a:off x="10543032" y="4187952"/>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وظایف</a:t>
            </a:r>
            <a:endParaRPr lang="fa-IR" sz="1250" dirty="0"/>
          </a:p>
        </p:txBody>
      </p:sp>
      <p:sp>
        <p:nvSpPr>
          <p:cNvPr id="15" name="Shape 10">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۹</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تعاریف (۴): اماکن عمومی</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Definitions — Article 1, Item 11</a:t>
            </a:r>
            <a:endParaRPr lang="en-US" sz="1550" dirty="0"/>
          </a:p>
        </p:txBody>
      </p:sp>
      <p:sp>
        <p:nvSpPr>
          <p:cNvPr id="25" name="Shape 18"/>
          <p:cNvSpPr/>
          <p:nvPr/>
        </p:nvSpPr>
        <p:spPr>
          <a:xfrm>
            <a:off x="548640" y="1572768"/>
            <a:ext cx="9418320" cy="4599432"/>
          </a:xfrm>
          <a:prstGeom prst="roundRect">
            <a:avLst>
              <a:gd name="adj" fmla="val 2386"/>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26" name="Shape 19"/>
          <p:cNvSpPr/>
          <p:nvPr/>
        </p:nvSpPr>
        <p:spPr>
          <a:xfrm>
            <a:off x="9098280" y="1755648"/>
            <a:ext cx="658368" cy="658368"/>
          </a:xfrm>
          <a:prstGeom prst="ellipse">
            <a:avLst/>
          </a:prstGeom>
          <a:solidFill>
            <a:srgbClr val="0D3B8C"/>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27" name="Text 20"/>
          <p:cNvSpPr txBox="1"/>
          <p:nvPr/>
        </p:nvSpPr>
        <p:spPr>
          <a:xfrm>
            <a:off x="90525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۱۱</a:t>
            </a:r>
            <a:endParaRPr lang="fa-IR" sz="1500" dirty="0"/>
          </a:p>
        </p:txBody>
      </p:sp>
      <p:sp>
        <p:nvSpPr>
          <p:cNvPr id="28" name="Text 21"/>
          <p:cNvSpPr txBox="1"/>
          <p:nvPr/>
        </p:nvSpPr>
        <p:spPr>
          <a:xfrm>
            <a:off x="822960" y="1737360"/>
            <a:ext cx="8092440" cy="4325112"/>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50" b="1" dirty="0">
                <a:solidFill>
                  <a:srgbClr val="0D3B8C"/>
                </a:solidFill>
                <a:latin typeface="B Nazanin" pitchFamily="34" charset="0"/>
                <a:ea typeface="B Nazanin" pitchFamily="34" charset="-122"/>
                <a:cs typeface="B Nazanin" pitchFamily="34" charset="-120"/>
              </a:rPr>
              <a:t>اماکن عمومی موضوع این آیین نامه</a:t>
            </a:r>
            <a:endParaRPr lang="fa-IR" sz="1850" dirty="0"/>
          </a:p>
          <a:p>
            <a:pPr rtl="1" algn="r" indent="0" marL="0">
              <a:lnSpc>
                <a:spcPct val="112000"/>
              </a:lnSpc>
              <a:spcAft>
                <a:spcPts val="300"/>
              </a:spcAft>
              <a:buNone/>
            </a:pPr>
            <a:r>
              <a:rPr lang="fa-IR" altLang="en-US" sz="1600" dirty="0">
                <a:solidFill>
                  <a:srgbClr val="37474F"/>
                </a:solidFill>
                <a:latin typeface="B Nazanin" pitchFamily="34" charset="0"/>
                <a:ea typeface="B Nazanin" pitchFamily="34" charset="-122"/>
                <a:cs typeface="B Nazanin" pitchFamily="34" charset="-120"/>
              </a:rPr>
              <a:t>اماکن عمومی شامل: محیط های کار در وزارتخانه ها، موسسات و شرکت های دولتی و غیر دولتی، شهرداری ها و سازمان های وابسته، موسسات و نهاد های غیردولتی، مراکز بهداشتی درمانی، مراکز آموزشی و تربیتی و پرورشی، پرورشگاه، استخرهای شنا، پایانه‌های مسافری، راه‌آهن، فرودگاه و قطارهای مسافربری، وسایل حمل و نقل عمومی شهری و بین شهری، آرایشگاه‌های مردانه، سالن‌های آرایش زنانه و کلینیک های زیبایی، مهمانخانه‌ها، سالن ها و باشگاه‌های ورزشی، غسالخانه، آرامستان‌ها، گرمابه‌های مردانه و زنانه، خوابگاه‌های دانشجویی و مراکز آموزشی، مراکز نظامی و انتظامی (پادگان ها، مجتمع های مسکونی و منازل سازمانی)، مجتمع های بهزیستی، مسافر خانه ها، هتل ها، مهمانپذیرها، متل‌ها، پانسیون ها، مراکز تفریحی و پارک ها، زندان ها، مراکز نگهداری سالمندان، اردوگاه ها و مراکز تجمعی، سالن‌های تئاتر و سینما، فرهنگسراها، مجتمع های خدماتی رفاهی و مراکز عرضه سوخت (پمپ های گاز و بنزین)، مساجد و اماکن متبرکه، مراکز خدمات آمبولانس، سرویس های بهداشتی عمومی، مراکز دفع پسماند و مانند آن ها.</a:t>
            </a:r>
            <a:endParaRPr lang="fa-IR" sz="1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Shape 2"/>
          <p:cNvSpPr/>
          <p:nvPr/>
        </p:nvSpPr>
        <p:spPr>
          <a:xfrm>
            <a:off x="10543032" y="2377440"/>
            <a:ext cx="1481328" cy="402336"/>
          </a:xfrm>
          <a:prstGeom prst="roundRect">
            <a:avLst>
              <a:gd name="adj" fmla="val 18182"/>
            </a:avLst>
          </a:prstGeom>
          <a:solidFill>
            <a:srgbClr val="FFC107"/>
          </a:solidFill>
          <a:ln w="12700">
            <a:solidFill>
              <a:srgbClr val="FFC107"/>
            </a:solidFill>
            <a:prstDash val="solid"/>
          </a:ln>
        </p:spPr>
      </p:sp>
      <p:sp>
        <p:nvSpPr>
          <p:cNvPr id="8" name="Text 3"/>
          <p:cNvSpPr txBox="1"/>
          <p:nvPr/>
        </p:nvSpPr>
        <p:spPr>
          <a:xfrm>
            <a:off x="10543032" y="2377440"/>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تعاریف</a:t>
            </a:r>
            <a:endParaRPr lang="fa-IR" sz="1250" dirty="0"/>
          </a:p>
        </p:txBody>
      </p:sp>
      <p:sp>
        <p:nvSpPr>
          <p:cNvPr id="9" name="Shape 4">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0" name="Text 5"/>
          <p:cNvSpPr txBox="1"/>
          <p:nvPr/>
        </p:nvSpPr>
        <p:spPr>
          <a:xfrm>
            <a:off x="10543032" y="2980944"/>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کلیات</a:t>
            </a:r>
            <a:endParaRPr lang="fa-IR" sz="1250" dirty="0"/>
          </a:p>
        </p:txBody>
      </p:sp>
      <p:sp>
        <p:nvSpPr>
          <p:cNvPr id="11" name="Shape 6">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2" name="Text 7"/>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3" name="Shape 8">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4" name="Text 9"/>
          <p:cNvSpPr txBox="1"/>
          <p:nvPr/>
        </p:nvSpPr>
        <p:spPr>
          <a:xfrm>
            <a:off x="10543032" y="4187952"/>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وظایف</a:t>
            </a:r>
            <a:endParaRPr lang="fa-IR" sz="1250" dirty="0"/>
          </a:p>
        </p:txBody>
      </p:sp>
      <p:sp>
        <p:nvSpPr>
          <p:cNvPr id="15" name="Shape 10">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۱۰</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تعاریف (۵): مراکز درمانی و آموزشی</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Definitions — Items 11-1 and 11-2</a:t>
            </a:r>
            <a:endParaRPr lang="en-US" sz="1550" dirty="0"/>
          </a:p>
        </p:txBody>
      </p:sp>
      <p:sp>
        <p:nvSpPr>
          <p:cNvPr id="25" name="Shape 18"/>
          <p:cNvSpPr/>
          <p:nvPr/>
        </p:nvSpPr>
        <p:spPr>
          <a:xfrm>
            <a:off x="548640" y="1572768"/>
            <a:ext cx="9418320" cy="2614534"/>
          </a:xfrm>
          <a:prstGeom prst="roundRect">
            <a:avLst>
              <a:gd name="adj" fmla="val 4197"/>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26" name="Shape 19"/>
          <p:cNvSpPr/>
          <p:nvPr/>
        </p:nvSpPr>
        <p:spPr>
          <a:xfrm>
            <a:off x="9098280" y="1755648"/>
            <a:ext cx="658368" cy="658368"/>
          </a:xfrm>
          <a:prstGeom prst="ellipse">
            <a:avLst/>
          </a:prstGeom>
          <a:solidFill>
            <a:srgbClr val="C62828"/>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27" name="Text 20"/>
          <p:cNvSpPr txBox="1"/>
          <p:nvPr/>
        </p:nvSpPr>
        <p:spPr>
          <a:xfrm>
            <a:off x="9052560" y="1755648"/>
            <a:ext cx="749808" cy="658368"/>
          </a:xfrm>
          <a:prstGeom prst="rect">
            <a:avLst/>
          </a:prstGeom>
          <a:noFill/>
          <a:ln/>
        </p:spPr>
        <p:txBody>
          <a:bodyPr wrap="square" lIns="0" tIns="0" rIns="0" bIns="0" rtlCol="0" anchor="ctr"/>
          <a:lstStyle/>
          <a:p>
            <a:pPr rtl="1" algn="ctr" indent="0" marL="0">
              <a:buNone/>
            </a:pPr>
            <a:r>
              <a:rPr lang="fa-IR" altLang="en-US" sz="1300" b="1" dirty="0">
                <a:solidFill>
                  <a:srgbClr val="FFFFFF"/>
                </a:solidFill>
                <a:latin typeface="B Nazanin" pitchFamily="34" charset="0"/>
                <a:ea typeface="B Nazanin" pitchFamily="34" charset="-122"/>
                <a:cs typeface="B Nazanin" pitchFamily="34" charset="-120"/>
              </a:rPr>
              <a:t>۱۱-۱</a:t>
            </a:r>
            <a:endParaRPr lang="fa-IR" sz="1300" dirty="0"/>
          </a:p>
        </p:txBody>
      </p:sp>
      <p:sp>
        <p:nvSpPr>
          <p:cNvPr id="28" name="Text 21"/>
          <p:cNvSpPr txBox="1"/>
          <p:nvPr/>
        </p:nvSpPr>
        <p:spPr>
          <a:xfrm>
            <a:off x="822960" y="1737360"/>
            <a:ext cx="8092440" cy="2340214"/>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50" b="1" dirty="0">
                <a:solidFill>
                  <a:srgbClr val="C62828"/>
                </a:solidFill>
                <a:latin typeface="B Nazanin" pitchFamily="34" charset="0"/>
                <a:ea typeface="B Nazanin" pitchFamily="34" charset="-122"/>
                <a:cs typeface="B Nazanin" pitchFamily="34" charset="-120"/>
              </a:rPr>
              <a:t>مراکز بهداشتی درمانی</a:t>
            </a:r>
            <a:endParaRPr lang="fa-IR" sz="1850" dirty="0"/>
          </a:p>
          <a:p>
            <a:pPr rtl="1" algn="r" indent="0" marL="0">
              <a:lnSpc>
                <a:spcPct val="112000"/>
              </a:lnSpc>
              <a:spcAft>
                <a:spcPts val="300"/>
              </a:spcAft>
              <a:buNone/>
            </a:pPr>
            <a:r>
              <a:rPr lang="fa-IR" altLang="en-US" sz="1600" dirty="0">
                <a:solidFill>
                  <a:srgbClr val="37474F"/>
                </a:solidFill>
                <a:latin typeface="B Nazanin" pitchFamily="34" charset="0"/>
                <a:ea typeface="B Nazanin" pitchFamily="34" charset="-122"/>
                <a:cs typeface="B Nazanin" pitchFamily="34" charset="-120"/>
              </a:rPr>
              <a:t>مراکز بهداشتی درمانی شامل بیمارستان‌ها، زایشگاه ها، مطب‌ها، درمانگاه ها، کلینیک ها، مراکز مشاوره پزشکی، مراکز بهداشتی درمانی شهری روستایی، پایگاه های بهداشتی، خانه های بهداشت، دفاتر خدمات پرستاری، لابراتوار دندانسازی، داروخانه‌ها، مراکز کار با اشعه، آزمایشگاه های تشخیص طبی، مراکز توان بخشی، مراکز جراحی محدود، بخش های تزریقات و پانسمان، آسایشگاه های معلولین، طب هسته‌ای، فیزیوتراپی، رادیوتراپی، رادیولوژی و مانند آن ها.</a:t>
            </a:r>
            <a:endParaRPr lang="fa-IR" sz="1850" dirty="0"/>
          </a:p>
        </p:txBody>
      </p:sp>
      <p:sp>
        <p:nvSpPr>
          <p:cNvPr id="29" name="Shape 22"/>
          <p:cNvSpPr/>
          <p:nvPr/>
        </p:nvSpPr>
        <p:spPr>
          <a:xfrm>
            <a:off x="548640" y="4370182"/>
            <a:ext cx="9418320" cy="1802018"/>
          </a:xfrm>
          <a:prstGeom prst="roundRect">
            <a:avLst>
              <a:gd name="adj" fmla="val 6089"/>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0" name="Shape 23"/>
          <p:cNvSpPr/>
          <p:nvPr/>
        </p:nvSpPr>
        <p:spPr>
          <a:xfrm>
            <a:off x="9098280" y="4553062"/>
            <a:ext cx="658368" cy="658368"/>
          </a:xfrm>
          <a:prstGeom prst="ellipse">
            <a:avLst/>
          </a:prstGeom>
          <a:solidFill>
            <a:srgbClr val="1E88E5"/>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1" name="Text 24"/>
          <p:cNvSpPr txBox="1"/>
          <p:nvPr/>
        </p:nvSpPr>
        <p:spPr>
          <a:xfrm>
            <a:off x="9052560" y="4553062"/>
            <a:ext cx="749808" cy="658368"/>
          </a:xfrm>
          <a:prstGeom prst="rect">
            <a:avLst/>
          </a:prstGeom>
          <a:noFill/>
          <a:ln/>
        </p:spPr>
        <p:txBody>
          <a:bodyPr wrap="square" lIns="0" tIns="0" rIns="0" bIns="0" rtlCol="0" anchor="ctr"/>
          <a:lstStyle/>
          <a:p>
            <a:pPr rtl="1" algn="ctr" indent="0" marL="0">
              <a:buNone/>
            </a:pPr>
            <a:r>
              <a:rPr lang="fa-IR" altLang="en-US" sz="1300" b="1" dirty="0">
                <a:solidFill>
                  <a:srgbClr val="FFFFFF"/>
                </a:solidFill>
                <a:latin typeface="B Nazanin" pitchFamily="34" charset="0"/>
                <a:ea typeface="B Nazanin" pitchFamily="34" charset="-122"/>
                <a:cs typeface="B Nazanin" pitchFamily="34" charset="-120"/>
              </a:rPr>
              <a:t>۱۱-۲</a:t>
            </a:r>
            <a:endParaRPr lang="fa-IR" sz="1300" dirty="0"/>
          </a:p>
        </p:txBody>
      </p:sp>
      <p:sp>
        <p:nvSpPr>
          <p:cNvPr id="32" name="Text 25"/>
          <p:cNvSpPr txBox="1"/>
          <p:nvPr/>
        </p:nvSpPr>
        <p:spPr>
          <a:xfrm>
            <a:off x="822960" y="4534774"/>
            <a:ext cx="8092440" cy="1527698"/>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50" b="1" dirty="0">
                <a:solidFill>
                  <a:srgbClr val="1E88E5"/>
                </a:solidFill>
                <a:latin typeface="B Nazanin" pitchFamily="34" charset="0"/>
                <a:ea typeface="B Nazanin" pitchFamily="34" charset="-122"/>
                <a:cs typeface="B Nazanin" pitchFamily="34" charset="-120"/>
              </a:rPr>
              <a:t>مراکز آموزشی و تربیتی</a:t>
            </a:r>
            <a:endParaRPr lang="fa-IR" sz="1850" dirty="0"/>
          </a:p>
          <a:p>
            <a:pPr rtl="1" algn="r" indent="0" marL="0">
              <a:lnSpc>
                <a:spcPct val="112000"/>
              </a:lnSpc>
              <a:spcAft>
                <a:spcPts val="300"/>
              </a:spcAft>
              <a:buNone/>
            </a:pPr>
            <a:r>
              <a:rPr lang="fa-IR" altLang="en-US" sz="1600" dirty="0">
                <a:solidFill>
                  <a:srgbClr val="37474F"/>
                </a:solidFill>
                <a:latin typeface="B Nazanin" pitchFamily="34" charset="0"/>
                <a:ea typeface="B Nazanin" pitchFamily="34" charset="-122"/>
                <a:cs typeface="B Nazanin" pitchFamily="34" charset="-120"/>
              </a:rPr>
              <a:t>مراکز آموزشی و تربیتی شامل مدارس، آموزشگاه ها، حوزه های علمیه، دانشکده ها و دانشگاه ها، هنرستان ها، مراکز تربیتی شبانه روزی، ندامتگاه ها، مهدهای کودک، روستامهدها، مهدهای قرآنی، مراکز نگهداری معلولین ذهنی و مانند آن ها.</a:t>
            </a:r>
            <a:endParaRPr lang="fa-IR" sz="1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Shape 2"/>
          <p:cNvSpPr/>
          <p:nvPr/>
        </p:nvSpPr>
        <p:spPr>
          <a:xfrm>
            <a:off x="10543032" y="2377440"/>
            <a:ext cx="1481328" cy="402336"/>
          </a:xfrm>
          <a:prstGeom prst="roundRect">
            <a:avLst>
              <a:gd name="adj" fmla="val 18182"/>
            </a:avLst>
          </a:prstGeom>
          <a:solidFill>
            <a:srgbClr val="FFC107"/>
          </a:solidFill>
          <a:ln w="12700">
            <a:solidFill>
              <a:srgbClr val="FFC107"/>
            </a:solidFill>
            <a:prstDash val="solid"/>
          </a:ln>
        </p:spPr>
      </p:sp>
      <p:sp>
        <p:nvSpPr>
          <p:cNvPr id="8" name="Text 3"/>
          <p:cNvSpPr txBox="1"/>
          <p:nvPr/>
        </p:nvSpPr>
        <p:spPr>
          <a:xfrm>
            <a:off x="10543032" y="2377440"/>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تعاریف</a:t>
            </a:r>
            <a:endParaRPr lang="fa-IR" sz="1250" dirty="0"/>
          </a:p>
        </p:txBody>
      </p:sp>
      <p:sp>
        <p:nvSpPr>
          <p:cNvPr id="9" name="Shape 4">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0" name="Text 5"/>
          <p:cNvSpPr txBox="1"/>
          <p:nvPr/>
        </p:nvSpPr>
        <p:spPr>
          <a:xfrm>
            <a:off x="10543032" y="2980944"/>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کلیات</a:t>
            </a:r>
            <a:endParaRPr lang="fa-IR" sz="1250" dirty="0"/>
          </a:p>
        </p:txBody>
      </p:sp>
      <p:sp>
        <p:nvSpPr>
          <p:cNvPr id="11" name="Shape 6">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2" name="Text 7"/>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3" name="Shape 8">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4" name="Text 9"/>
          <p:cNvSpPr txBox="1"/>
          <p:nvPr/>
        </p:nvSpPr>
        <p:spPr>
          <a:xfrm>
            <a:off x="10543032" y="4187952"/>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وظایف</a:t>
            </a:r>
            <a:endParaRPr lang="fa-IR" sz="1250" dirty="0"/>
          </a:p>
        </p:txBody>
      </p:sp>
      <p:sp>
        <p:nvSpPr>
          <p:cNvPr id="15" name="Shape 10">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۱۱</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تعاریف (۶): مراکز مواد خوردنی و آشامیدنی</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Definitions — Article 1, Item 12</a:t>
            </a:r>
            <a:endParaRPr lang="en-US" sz="1550" dirty="0"/>
          </a:p>
        </p:txBody>
      </p:sp>
      <p:sp>
        <p:nvSpPr>
          <p:cNvPr id="25" name="Shape 18"/>
          <p:cNvSpPr/>
          <p:nvPr/>
        </p:nvSpPr>
        <p:spPr>
          <a:xfrm>
            <a:off x="548640" y="1572768"/>
            <a:ext cx="9418320" cy="4599432"/>
          </a:xfrm>
          <a:prstGeom prst="roundRect">
            <a:avLst>
              <a:gd name="adj" fmla="val 2386"/>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26" name="Shape 19"/>
          <p:cNvSpPr/>
          <p:nvPr/>
        </p:nvSpPr>
        <p:spPr>
          <a:xfrm>
            <a:off x="9098280" y="1755648"/>
            <a:ext cx="658368" cy="658368"/>
          </a:xfrm>
          <a:prstGeom prst="ellipse">
            <a:avLst/>
          </a:prstGeom>
          <a:solidFill>
            <a:srgbClr val="43A047"/>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27" name="Text 20"/>
          <p:cNvSpPr txBox="1"/>
          <p:nvPr/>
        </p:nvSpPr>
        <p:spPr>
          <a:xfrm>
            <a:off x="90525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۱۲</a:t>
            </a:r>
            <a:endParaRPr lang="fa-IR" sz="1500" dirty="0"/>
          </a:p>
        </p:txBody>
      </p:sp>
      <p:sp>
        <p:nvSpPr>
          <p:cNvPr id="28" name="Text 21"/>
          <p:cNvSpPr txBox="1"/>
          <p:nvPr/>
        </p:nvSpPr>
        <p:spPr>
          <a:xfrm>
            <a:off x="822960" y="1737360"/>
            <a:ext cx="8092440" cy="4325112"/>
          </a:xfrm>
          <a:prstGeom prst="rect">
            <a:avLst/>
          </a:prstGeom>
          <a:noFill/>
          <a:ln/>
        </p:spPr>
        <p:txBody>
          <a:bodyPr wrap="square" lIns="0" tIns="0" rIns="0" bIns="0" rtlCol="0" anchor="t"/>
          <a:lstStyle/>
          <a:p>
            <a:pPr rtl="1" algn="r" indent="0" marL="0">
              <a:lnSpc>
                <a:spcPct val="112000"/>
              </a:lnSpc>
              <a:spcAft>
                <a:spcPts val="300"/>
              </a:spcAft>
              <a:buNone/>
            </a:pPr>
            <a:r>
              <a:rPr lang="fa-IR" altLang="en-US" sz="1650" b="1" dirty="0">
                <a:solidFill>
                  <a:srgbClr val="43A047"/>
                </a:solidFill>
                <a:latin typeface="B Nazanin" pitchFamily="34" charset="0"/>
                <a:ea typeface="B Nazanin" pitchFamily="34" charset="-122"/>
                <a:cs typeface="B Nazanin" pitchFamily="34" charset="-120"/>
              </a:rPr>
              <a:t>مراکز تهیه، تولید، توزیع، نگهداری، حمل و نقل و فروش</a:t>
            </a:r>
            <a:endParaRPr lang="fa-IR" sz="1650" dirty="0"/>
          </a:p>
          <a:p>
            <a:pPr rtl="1" algn="r" indent="0" marL="0">
              <a:lnSpc>
                <a:spcPct val="112000"/>
              </a:lnSpc>
              <a:spcAft>
                <a:spcPts val="300"/>
              </a:spcAft>
              <a:buNone/>
            </a:pPr>
            <a:r>
              <a:rPr lang="fa-IR" altLang="en-US" sz="1400" dirty="0">
                <a:solidFill>
                  <a:srgbClr val="37474F"/>
                </a:solidFill>
                <a:latin typeface="B Nazanin" pitchFamily="34" charset="0"/>
                <a:ea typeface="B Nazanin" pitchFamily="34" charset="-122"/>
                <a:cs typeface="B Nazanin" pitchFamily="34" charset="-120"/>
              </a:rPr>
              <a:t>این مراکز شامل مکان‌های پذیرایی و تفریحی بین‌راهی، عطاری، بقالی، خواربارفروشی، رستوران، چلوکبابی، سلف سرویس، تالار پذیرایی، کافه قنادی، انواع شیرینی فروشی و کارگاه‌های شیرینی پزی، سوپرمارکت، لبنیات فروشی، فروشگاه‌های بزرگ و زنجیره‌ای، فروشگاه‌های گوشت قرمز و سفید، فرآورده‌های خوراکی آبزیان، میگو، طیور، زنبور عسل، آلایش خوراک دامی و مواد پروتئینی، آشپزخانه ها (کترینگ ها)، کبابی، حلیم پزی، آشپزی، کله پزی، جگرکی، سیراب و شیردان، اغذیه و ساندویچ، پیتزا، مرغ سوخاری، چایخانه، قهوه‌خانه، رستوران‌های سنتی، آبمیوه، بستنی سازی و فروشی، بوفه، میوه و سبزی فروشی، میادین توزیع میوه و تره بار، مراکز طبخ و آبدارخانه وزارتخانه‌ها، موسسات و شرکت‌های دولتی و غیر دولتی، شهرداری‌ها و سازمان‌های وابسته، نانوائی ها و انواع مراکز تهیه و عرضه نان، کارگاه ها و کارخانجات تولید انواع مواد غذایی و بسته بندی آن، سیستم های تامین آب آشامیدنی (منبع، مخزن، تصفیه خانه و شبکه توزیع)، مؤسسات ارائه خدمات پذیرایی و کرایه ظروف و وسایل پذیرایی، آشپزخانه و سلف سرویس کارخانجات صنعتی، کارگاه‌ها و کارخانجات و اماکن تولید یخ و آب شرب، سردخانه های نگهداری مواد غذایی، انبارهای نگهداری مواد غذایی، نبات و آبنبات پزی، قندریزی، حلواسازی، عصاره‌گیری (آبغوره، آبلیمو، تهیه ترشیجات و عرقیات)، سبزی خردکنی، کانتینرها و کانکس‌های ثابت و واحد های سیار تهیه و عرضه مواد غذایی، عرضه خشکبار، وسائط حمل و نقل مواد غذایی، لبنیات سازی، کشک سابی، اماکن دامی، صنایع وابسته به دام، مبادی ورودی مواد مشمول این آیین نامه، بازارچه های مرزی، بازارهای هفتگی و فصلی و مانند آن‌ها.</a:t>
            </a:r>
            <a:endParaRPr lang="fa-IR"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Shape 2"/>
          <p:cNvSpPr/>
          <p:nvPr/>
        </p:nvSpPr>
        <p:spPr>
          <a:xfrm>
            <a:off x="10543032" y="2377440"/>
            <a:ext cx="1481328" cy="402336"/>
          </a:xfrm>
          <a:prstGeom prst="roundRect">
            <a:avLst>
              <a:gd name="adj" fmla="val 18182"/>
            </a:avLst>
          </a:prstGeom>
          <a:solidFill>
            <a:srgbClr val="FFC107"/>
          </a:solidFill>
          <a:ln w="12700">
            <a:solidFill>
              <a:srgbClr val="FFC107"/>
            </a:solidFill>
            <a:prstDash val="solid"/>
          </a:ln>
        </p:spPr>
      </p:sp>
      <p:sp>
        <p:nvSpPr>
          <p:cNvPr id="8" name="Text 3"/>
          <p:cNvSpPr txBox="1"/>
          <p:nvPr/>
        </p:nvSpPr>
        <p:spPr>
          <a:xfrm>
            <a:off x="10543032" y="2377440"/>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تعاریف</a:t>
            </a:r>
            <a:endParaRPr lang="fa-IR" sz="1250" dirty="0"/>
          </a:p>
        </p:txBody>
      </p:sp>
      <p:sp>
        <p:nvSpPr>
          <p:cNvPr id="9" name="Shape 4">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0" name="Text 5"/>
          <p:cNvSpPr txBox="1"/>
          <p:nvPr/>
        </p:nvSpPr>
        <p:spPr>
          <a:xfrm>
            <a:off x="10543032" y="2980944"/>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کلیات</a:t>
            </a:r>
            <a:endParaRPr lang="fa-IR" sz="1250" dirty="0"/>
          </a:p>
        </p:txBody>
      </p:sp>
      <p:sp>
        <p:nvSpPr>
          <p:cNvPr id="11" name="Shape 6">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2" name="Text 7"/>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3" name="Shape 8">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4" name="Text 9"/>
          <p:cNvSpPr txBox="1"/>
          <p:nvPr/>
        </p:nvSpPr>
        <p:spPr>
          <a:xfrm>
            <a:off x="10543032" y="4187952"/>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وظایف</a:t>
            </a:r>
            <a:endParaRPr lang="fa-IR" sz="1250" dirty="0"/>
          </a:p>
        </p:txBody>
      </p:sp>
      <p:sp>
        <p:nvSpPr>
          <p:cNvPr id="15" name="Shape 10">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۱۲</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تعاریف (۷): اماکن دامی و صنایع وابسته</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Definitions — Items 12-1 and 12-2</a:t>
            </a:r>
            <a:endParaRPr lang="en-US" sz="1550" dirty="0"/>
          </a:p>
        </p:txBody>
      </p:sp>
      <p:sp>
        <p:nvSpPr>
          <p:cNvPr id="25" name="Shape 18"/>
          <p:cNvSpPr/>
          <p:nvPr/>
        </p:nvSpPr>
        <p:spPr>
          <a:xfrm>
            <a:off x="548640" y="1572768"/>
            <a:ext cx="9418320" cy="2066504"/>
          </a:xfrm>
          <a:prstGeom prst="roundRect">
            <a:avLst>
              <a:gd name="adj" fmla="val 5310"/>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26" name="Shape 19"/>
          <p:cNvSpPr/>
          <p:nvPr/>
        </p:nvSpPr>
        <p:spPr>
          <a:xfrm>
            <a:off x="9098280" y="1755648"/>
            <a:ext cx="658368" cy="658368"/>
          </a:xfrm>
          <a:prstGeom prst="ellipse">
            <a:avLst/>
          </a:prstGeom>
          <a:solidFill>
            <a:srgbClr val="43A047"/>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27" name="Text 20"/>
          <p:cNvSpPr txBox="1"/>
          <p:nvPr/>
        </p:nvSpPr>
        <p:spPr>
          <a:xfrm>
            <a:off x="9052560" y="1755648"/>
            <a:ext cx="749808" cy="658368"/>
          </a:xfrm>
          <a:prstGeom prst="rect">
            <a:avLst/>
          </a:prstGeom>
          <a:noFill/>
          <a:ln/>
        </p:spPr>
        <p:txBody>
          <a:bodyPr wrap="square" lIns="0" tIns="0" rIns="0" bIns="0" rtlCol="0" anchor="ctr"/>
          <a:lstStyle/>
          <a:p>
            <a:pPr rtl="1" algn="ctr" indent="0" marL="0">
              <a:buNone/>
            </a:pPr>
            <a:r>
              <a:rPr lang="fa-IR" altLang="en-US" sz="1300" b="1" dirty="0">
                <a:solidFill>
                  <a:srgbClr val="FFFFFF"/>
                </a:solidFill>
                <a:latin typeface="B Nazanin" pitchFamily="34" charset="0"/>
                <a:ea typeface="B Nazanin" pitchFamily="34" charset="-122"/>
                <a:cs typeface="B Nazanin" pitchFamily="34" charset="-120"/>
              </a:rPr>
              <a:t>۱۲-۱</a:t>
            </a:r>
            <a:endParaRPr lang="fa-IR" sz="1300" dirty="0"/>
          </a:p>
        </p:txBody>
      </p:sp>
      <p:sp>
        <p:nvSpPr>
          <p:cNvPr id="28" name="Text 21"/>
          <p:cNvSpPr txBox="1"/>
          <p:nvPr/>
        </p:nvSpPr>
        <p:spPr>
          <a:xfrm>
            <a:off x="822960" y="1737360"/>
            <a:ext cx="8092440" cy="1792184"/>
          </a:xfrm>
          <a:prstGeom prst="rect">
            <a:avLst/>
          </a:prstGeom>
          <a:noFill/>
          <a:ln/>
        </p:spPr>
        <p:txBody>
          <a:bodyPr wrap="square" lIns="0" tIns="0" rIns="0" bIns="0" rtlCol="0" anchor="t"/>
          <a:lstStyle/>
          <a:p>
            <a:pPr rtl="1" algn="r" indent="0" marL="0">
              <a:lnSpc>
                <a:spcPct val="112000"/>
              </a:lnSpc>
              <a:spcAft>
                <a:spcPts val="300"/>
              </a:spcAft>
              <a:buNone/>
            </a:pPr>
            <a:r>
              <a:rPr lang="fa-IR" altLang="en-US" sz="1950" b="1" dirty="0">
                <a:solidFill>
                  <a:srgbClr val="43A047"/>
                </a:solidFill>
                <a:latin typeface="B Nazanin" pitchFamily="34" charset="0"/>
                <a:ea typeface="B Nazanin" pitchFamily="34" charset="-122"/>
                <a:cs typeface="B Nazanin" pitchFamily="34" charset="-120"/>
              </a:rPr>
              <a:t>اماکن دامی</a:t>
            </a:r>
            <a:endParaRPr lang="fa-IR" sz="1950" dirty="0"/>
          </a:p>
          <a:p>
            <a:pPr rtl="1" algn="r" indent="0" marL="0">
              <a:lnSpc>
                <a:spcPct val="112000"/>
              </a:lnSpc>
              <a:spcAft>
                <a:spcPts val="300"/>
              </a:spcAft>
              <a:buNone/>
            </a:pPr>
            <a:r>
              <a:rPr lang="fa-IR" altLang="en-US" sz="1700" dirty="0">
                <a:solidFill>
                  <a:srgbClr val="37474F"/>
                </a:solidFill>
                <a:latin typeface="B Nazanin" pitchFamily="34" charset="0"/>
                <a:ea typeface="B Nazanin" pitchFamily="34" charset="-122"/>
                <a:cs typeface="B Nazanin" pitchFamily="34" charset="-120"/>
              </a:rPr>
              <a:t>مراکز، اماکن و واحدهای نگهداری، تکثیر و پرورش دام شامل هر نوع از حیوانات اهلی، طیور، آبزیان، زنبور عسل، کرم ابریشم، حیوانات آزمایشگاهی و پوستی، حیوانات باغ وحش، چراگاه ها، مراتع، آبشخورها و صیدگاه ها.</a:t>
            </a:r>
            <a:endParaRPr lang="fa-IR" sz="1950" dirty="0"/>
          </a:p>
        </p:txBody>
      </p:sp>
      <p:sp>
        <p:nvSpPr>
          <p:cNvPr id="29" name="Shape 22"/>
          <p:cNvSpPr/>
          <p:nvPr/>
        </p:nvSpPr>
        <p:spPr>
          <a:xfrm>
            <a:off x="548640" y="3822152"/>
            <a:ext cx="9418320" cy="2350048"/>
          </a:xfrm>
          <a:prstGeom prst="roundRect">
            <a:avLst>
              <a:gd name="adj" fmla="val 4669"/>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0" name="Shape 23"/>
          <p:cNvSpPr/>
          <p:nvPr/>
        </p:nvSpPr>
        <p:spPr>
          <a:xfrm>
            <a:off x="9098280" y="4005032"/>
            <a:ext cx="658368" cy="658368"/>
          </a:xfrm>
          <a:prstGeom prst="ellipse">
            <a:avLst/>
          </a:prstGeom>
          <a:solidFill>
            <a:srgbClr val="0D3B8C"/>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1" name="Text 24"/>
          <p:cNvSpPr txBox="1"/>
          <p:nvPr/>
        </p:nvSpPr>
        <p:spPr>
          <a:xfrm>
            <a:off x="9052560" y="4005032"/>
            <a:ext cx="749808" cy="658368"/>
          </a:xfrm>
          <a:prstGeom prst="rect">
            <a:avLst/>
          </a:prstGeom>
          <a:noFill/>
          <a:ln/>
        </p:spPr>
        <p:txBody>
          <a:bodyPr wrap="square" lIns="0" tIns="0" rIns="0" bIns="0" rtlCol="0" anchor="ctr"/>
          <a:lstStyle/>
          <a:p>
            <a:pPr rtl="1" algn="ctr" indent="0" marL="0">
              <a:buNone/>
            </a:pPr>
            <a:r>
              <a:rPr lang="fa-IR" altLang="en-US" sz="1300" b="1" dirty="0">
                <a:solidFill>
                  <a:srgbClr val="FFFFFF"/>
                </a:solidFill>
                <a:latin typeface="B Nazanin" pitchFamily="34" charset="0"/>
                <a:ea typeface="B Nazanin" pitchFamily="34" charset="-122"/>
                <a:cs typeface="B Nazanin" pitchFamily="34" charset="-120"/>
              </a:rPr>
              <a:t>۱۲-۲</a:t>
            </a:r>
            <a:endParaRPr lang="fa-IR" sz="1300" dirty="0"/>
          </a:p>
        </p:txBody>
      </p:sp>
      <p:sp>
        <p:nvSpPr>
          <p:cNvPr id="32" name="Text 25"/>
          <p:cNvSpPr txBox="1"/>
          <p:nvPr/>
        </p:nvSpPr>
        <p:spPr>
          <a:xfrm>
            <a:off x="822960" y="3986744"/>
            <a:ext cx="8092440" cy="2075728"/>
          </a:xfrm>
          <a:prstGeom prst="rect">
            <a:avLst/>
          </a:prstGeom>
          <a:noFill/>
          <a:ln/>
        </p:spPr>
        <p:txBody>
          <a:bodyPr wrap="square" lIns="0" tIns="0" rIns="0" bIns="0" rtlCol="0" anchor="t"/>
          <a:lstStyle/>
          <a:p>
            <a:pPr rtl="1" algn="r" indent="0" marL="0">
              <a:lnSpc>
                <a:spcPct val="112000"/>
              </a:lnSpc>
              <a:spcAft>
                <a:spcPts val="300"/>
              </a:spcAft>
              <a:buNone/>
            </a:pPr>
            <a:r>
              <a:rPr lang="fa-IR" altLang="en-US" sz="1950" b="1" dirty="0">
                <a:solidFill>
                  <a:srgbClr val="0D3B8C"/>
                </a:solidFill>
                <a:latin typeface="B Nazanin" pitchFamily="34" charset="0"/>
                <a:ea typeface="B Nazanin" pitchFamily="34" charset="-122"/>
                <a:cs typeface="B Nazanin" pitchFamily="34" charset="-120"/>
              </a:rPr>
              <a:t>صنایع وابسته به دام</a:t>
            </a:r>
            <a:endParaRPr lang="fa-IR" sz="1950" dirty="0"/>
          </a:p>
          <a:p>
            <a:pPr rtl="1" algn="r" indent="0" marL="0">
              <a:lnSpc>
                <a:spcPct val="112000"/>
              </a:lnSpc>
              <a:spcAft>
                <a:spcPts val="300"/>
              </a:spcAft>
              <a:buNone/>
            </a:pPr>
            <a:r>
              <a:rPr lang="fa-IR" altLang="en-US" sz="1700" dirty="0">
                <a:solidFill>
                  <a:srgbClr val="37474F"/>
                </a:solidFill>
                <a:latin typeface="B Nazanin" pitchFamily="34" charset="0"/>
                <a:ea typeface="B Nazanin" pitchFamily="34" charset="-122"/>
                <a:cs typeface="B Nazanin" pitchFamily="34" charset="-120"/>
              </a:rPr>
              <a:t>کشتارگاه ها، کارگاه ها، کارخانه ها، مراکز تولید، تهیه، آماده کردن مواد خام دامی، سردخانه های مواد پروتئینی با منشاء دامی، مراکز جمع‌آوری شیر و عسل، کارخانه های تولید خوراک دام، انبارهای نگهداری مواد اولیه خوراک دام و یا خوراک آماده دام و کارخانه های جوجه کشی.</a:t>
            </a:r>
            <a:endParaRPr lang="fa-IR"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Shape 2"/>
          <p:cNvSpPr/>
          <p:nvPr/>
        </p:nvSpPr>
        <p:spPr>
          <a:xfrm>
            <a:off x="10543032" y="2377440"/>
            <a:ext cx="1481328" cy="402336"/>
          </a:xfrm>
          <a:prstGeom prst="roundRect">
            <a:avLst>
              <a:gd name="adj" fmla="val 18182"/>
            </a:avLst>
          </a:prstGeom>
          <a:solidFill>
            <a:srgbClr val="FFC107"/>
          </a:solidFill>
          <a:ln w="12700">
            <a:solidFill>
              <a:srgbClr val="FFC107"/>
            </a:solidFill>
            <a:prstDash val="solid"/>
          </a:ln>
        </p:spPr>
      </p:sp>
      <p:sp>
        <p:nvSpPr>
          <p:cNvPr id="8" name="Text 3"/>
          <p:cNvSpPr txBox="1"/>
          <p:nvPr/>
        </p:nvSpPr>
        <p:spPr>
          <a:xfrm>
            <a:off x="10543032" y="2377440"/>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تعاریف</a:t>
            </a:r>
            <a:endParaRPr lang="fa-IR" sz="1250" dirty="0"/>
          </a:p>
        </p:txBody>
      </p:sp>
      <p:sp>
        <p:nvSpPr>
          <p:cNvPr id="9" name="Shape 4">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0" name="Text 5"/>
          <p:cNvSpPr txBox="1"/>
          <p:nvPr/>
        </p:nvSpPr>
        <p:spPr>
          <a:xfrm>
            <a:off x="10543032" y="2980944"/>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کلیات</a:t>
            </a:r>
            <a:endParaRPr lang="fa-IR" sz="1250" dirty="0"/>
          </a:p>
        </p:txBody>
      </p:sp>
      <p:sp>
        <p:nvSpPr>
          <p:cNvPr id="11" name="Shape 6">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2" name="Text 7"/>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3" name="Shape 8">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4" name="Text 9"/>
          <p:cNvSpPr txBox="1"/>
          <p:nvPr/>
        </p:nvSpPr>
        <p:spPr>
          <a:xfrm>
            <a:off x="10543032" y="4187952"/>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وظایف</a:t>
            </a:r>
            <a:endParaRPr lang="fa-IR" sz="1250" dirty="0"/>
          </a:p>
        </p:txBody>
      </p:sp>
      <p:sp>
        <p:nvSpPr>
          <p:cNvPr id="15" name="Shape 10">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۱۳</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تعاریف (۸): مسئول بهداشت، صلاحیت، پسماند</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Definitions — Article 1</a:t>
            </a:r>
            <a:endParaRPr lang="en-US" sz="1550" dirty="0"/>
          </a:p>
        </p:txBody>
      </p:sp>
      <p:sp>
        <p:nvSpPr>
          <p:cNvPr id="25" name="Shape 18"/>
          <p:cNvSpPr/>
          <p:nvPr/>
        </p:nvSpPr>
        <p:spPr>
          <a:xfrm>
            <a:off x="5943600" y="1874520"/>
            <a:ext cx="3657600" cy="822960"/>
          </a:xfrm>
          <a:prstGeom prst="roundRect">
            <a:avLst>
              <a:gd name="adj" fmla="val 50000"/>
            </a:avLst>
          </a:prstGeom>
          <a:solidFill>
            <a:srgbClr val="F4F7FB"/>
          </a:solidFill>
          <a:ln w="12700">
            <a:solidFill>
              <a:srgbClr val="DDE5F0"/>
            </a:solidFill>
            <a:prstDash val="solid"/>
          </a:ln>
          <a:effectLst>
            <a:outerShdw sx="100000" sy="100000" kx="0" ky="0" algn="bl" rotWithShape="0" blurRad="127000" dist="38100" dir="5400000">
              <a:srgbClr val="1B2A4A">
                <a:alpha val="18000"/>
              </a:srgbClr>
            </a:outerShdw>
          </a:effectLst>
        </p:spPr>
      </p:sp>
      <p:sp>
        <p:nvSpPr>
          <p:cNvPr id="26" name="Text 19"/>
          <p:cNvSpPr txBox="1"/>
          <p:nvPr/>
        </p:nvSpPr>
        <p:spPr>
          <a:xfrm>
            <a:off x="6035040" y="1874520"/>
            <a:ext cx="2697480" cy="822960"/>
          </a:xfrm>
          <a:prstGeom prst="rect">
            <a:avLst/>
          </a:prstGeom>
          <a:noFill/>
          <a:ln/>
        </p:spPr>
        <p:txBody>
          <a:bodyPr wrap="square" lIns="0" tIns="0" rIns="0" bIns="0" rtlCol="0" anchor="ctr"/>
          <a:lstStyle/>
          <a:p>
            <a:pPr rtl="1" algn="r" indent="0" marL="0">
              <a:buNone/>
            </a:pPr>
            <a:r>
              <a:rPr lang="fa-IR" altLang="en-US" sz="1800" b="1" dirty="0">
                <a:solidFill>
                  <a:srgbClr val="0D3B8C"/>
                </a:solidFill>
                <a:latin typeface="B Nazanin" pitchFamily="34" charset="0"/>
                <a:ea typeface="B Nazanin" pitchFamily="34" charset="-122"/>
                <a:cs typeface="B Nazanin" pitchFamily="34" charset="-120"/>
              </a:rPr>
              <a:t>۱۳ مسئول بهداشت محل</a:t>
            </a:r>
            <a:endParaRPr lang="fa-IR" sz="1800" dirty="0"/>
          </a:p>
        </p:txBody>
      </p:sp>
      <p:sp>
        <p:nvSpPr>
          <p:cNvPr id="27" name="Shape 20"/>
          <p:cNvSpPr/>
          <p:nvPr/>
        </p:nvSpPr>
        <p:spPr>
          <a:xfrm>
            <a:off x="8915400" y="1755648"/>
            <a:ext cx="1060704" cy="1060704"/>
          </a:xfrm>
          <a:prstGeom prst="ellipse">
            <a:avLst/>
          </a:prstGeom>
          <a:solidFill>
            <a:srgbClr val="0D3B8C"/>
          </a:solidFill>
          <a:ln w="25400">
            <a:solidFill>
              <a:srgbClr val="FFFFFF"/>
            </a:solidFill>
            <a:prstDash val="solid"/>
          </a:ln>
          <a:effectLst>
            <a:outerShdw sx="100000" sy="100000" kx="0" ky="0" algn="bl" rotWithShape="0" blurRad="127000" dist="38100" dir="5400000">
              <a:srgbClr val="1B2A4A">
                <a:alpha val="18000"/>
              </a:srgbClr>
            </a:outerShdw>
          </a:effectLst>
        </p:spPr>
      </p:sp>
      <p:pic>
        <p:nvPicPr>
          <p:cNvPr id="28" name="Image 5" descr="/tmp/claude-0/-home-user-Waste/dcb1a03d-345b-5441-8898-3e9a4c6379b1/scratchpad/build/assets/ic-21-badge-plain.png">    </p:cNvPr>
          <p:cNvPicPr>
            <a:picLocks noChangeAspect="1"/>
          </p:cNvPicPr>
          <p:nvPr/>
        </p:nvPicPr>
        <p:blipFill>
          <a:blip r:embed="rId16"/>
          <a:stretch>
            <a:fillRect/>
          </a:stretch>
        </p:blipFill>
        <p:spPr>
          <a:xfrm>
            <a:off x="9148755" y="1989003"/>
            <a:ext cx="593994" cy="593994"/>
          </a:xfrm>
          <a:prstGeom prst="rect">
            <a:avLst/>
          </a:prstGeom>
        </p:spPr>
      </p:pic>
      <p:sp>
        <p:nvSpPr>
          <p:cNvPr id="29" name="Text 21"/>
          <p:cNvSpPr txBox="1"/>
          <p:nvPr/>
        </p:nvSpPr>
        <p:spPr>
          <a:xfrm>
            <a:off x="548640" y="1600200"/>
            <a:ext cx="5212080" cy="1371600"/>
          </a:xfrm>
          <a:prstGeom prst="rect">
            <a:avLst/>
          </a:prstGeom>
          <a:noFill/>
          <a:ln/>
        </p:spPr>
        <p:txBody>
          <a:bodyPr wrap="square" lIns="0" tIns="0" rIns="0" bIns="0" rtlCol="0" anchor="ctr"/>
          <a:lstStyle/>
          <a:p>
            <a:pPr rtl="1" algn="r" indent="0" marL="0">
              <a:lnSpc>
                <a:spcPct val="115000"/>
              </a:lnSpc>
              <a:buNone/>
            </a:pPr>
            <a:r>
              <a:rPr lang="fa-IR" altLang="en-US" sz="1600" dirty="0">
                <a:solidFill>
                  <a:srgbClr val="37474F"/>
                </a:solidFill>
                <a:latin typeface="B Nazanin" pitchFamily="34" charset="0"/>
                <a:ea typeface="B Nazanin" pitchFamily="34" charset="-122"/>
                <a:cs typeface="B Nazanin" pitchFamily="34" charset="-120"/>
              </a:rPr>
              <a:t>رئیس مرکز بهداشت استان و شهرستان.</a:t>
            </a:r>
            <a:endParaRPr lang="fa-IR" sz="1600" dirty="0"/>
          </a:p>
        </p:txBody>
      </p:sp>
      <p:sp>
        <p:nvSpPr>
          <p:cNvPr id="30" name="Shape 22"/>
          <p:cNvSpPr/>
          <p:nvPr/>
        </p:nvSpPr>
        <p:spPr>
          <a:xfrm>
            <a:off x="5943600" y="3429000"/>
            <a:ext cx="3657600" cy="822960"/>
          </a:xfrm>
          <a:prstGeom prst="roundRect">
            <a:avLst>
              <a:gd name="adj" fmla="val 50000"/>
            </a:avLst>
          </a:prstGeom>
          <a:solidFill>
            <a:srgbClr val="F4F7FB"/>
          </a:solidFill>
          <a:ln w="12700">
            <a:solidFill>
              <a:srgbClr val="DDE5F0"/>
            </a:solidFill>
            <a:prstDash val="solid"/>
          </a:ln>
          <a:effectLst>
            <a:outerShdw sx="100000" sy="100000" kx="0" ky="0" algn="bl" rotWithShape="0" blurRad="127000" dist="38100" dir="5400000">
              <a:srgbClr val="1B2A4A">
                <a:alpha val="18000"/>
              </a:srgbClr>
            </a:outerShdw>
          </a:effectLst>
        </p:spPr>
      </p:sp>
      <p:sp>
        <p:nvSpPr>
          <p:cNvPr id="31" name="Text 23"/>
          <p:cNvSpPr txBox="1"/>
          <p:nvPr/>
        </p:nvSpPr>
        <p:spPr>
          <a:xfrm>
            <a:off x="6035040" y="3429000"/>
            <a:ext cx="2697480" cy="822960"/>
          </a:xfrm>
          <a:prstGeom prst="rect">
            <a:avLst/>
          </a:prstGeom>
          <a:noFill/>
          <a:ln/>
        </p:spPr>
        <p:txBody>
          <a:bodyPr wrap="square" lIns="0" tIns="0" rIns="0" bIns="0" rtlCol="0" anchor="ctr"/>
          <a:lstStyle/>
          <a:p>
            <a:pPr rtl="1" algn="r" indent="0" marL="0">
              <a:buNone/>
            </a:pPr>
            <a:r>
              <a:rPr lang="fa-IR" altLang="en-US" sz="1800" b="1" dirty="0">
                <a:solidFill>
                  <a:srgbClr val="0D3B8C"/>
                </a:solidFill>
                <a:latin typeface="B Nazanin" pitchFamily="34" charset="0"/>
                <a:ea typeface="B Nazanin" pitchFamily="34" charset="-122"/>
                <a:cs typeface="B Nazanin" pitchFamily="34" charset="-120"/>
              </a:rPr>
              <a:t>۱۴ صلاحیت بهداشتی</a:t>
            </a:r>
            <a:endParaRPr lang="fa-IR" sz="1800" dirty="0"/>
          </a:p>
        </p:txBody>
      </p:sp>
      <p:sp>
        <p:nvSpPr>
          <p:cNvPr id="32" name="Shape 24"/>
          <p:cNvSpPr/>
          <p:nvPr/>
        </p:nvSpPr>
        <p:spPr>
          <a:xfrm>
            <a:off x="8915400" y="3310128"/>
            <a:ext cx="1060704" cy="1060704"/>
          </a:xfrm>
          <a:prstGeom prst="ellipse">
            <a:avLst/>
          </a:prstGeom>
          <a:solidFill>
            <a:srgbClr val="43A047"/>
          </a:solidFill>
          <a:ln w="25400">
            <a:solidFill>
              <a:srgbClr val="FFFFFF"/>
            </a:solidFill>
            <a:prstDash val="solid"/>
          </a:ln>
          <a:effectLst>
            <a:outerShdw sx="100000" sy="100000" kx="0" ky="0" algn="bl" rotWithShape="0" blurRad="127000" dist="38100" dir="5400000">
              <a:srgbClr val="1B2A4A">
                <a:alpha val="18000"/>
              </a:srgbClr>
            </a:outerShdw>
          </a:effectLst>
        </p:spPr>
      </p:sp>
      <p:pic>
        <p:nvPicPr>
          <p:cNvPr id="33" name="Image 6" descr="/tmp/claude-0/-home-user-Waste/dcb1a03d-345b-5441-8898-3e9a4c6379b1/scratchpad/build/assets/ic-37-verified-plain.png">    </p:cNvPr>
          <p:cNvPicPr>
            <a:picLocks noChangeAspect="1"/>
          </p:cNvPicPr>
          <p:nvPr/>
        </p:nvPicPr>
        <p:blipFill>
          <a:blip r:embed="rId17"/>
          <a:stretch>
            <a:fillRect/>
          </a:stretch>
        </p:blipFill>
        <p:spPr>
          <a:xfrm>
            <a:off x="9148755" y="3543483"/>
            <a:ext cx="593994" cy="593994"/>
          </a:xfrm>
          <a:prstGeom prst="rect">
            <a:avLst/>
          </a:prstGeom>
        </p:spPr>
      </p:pic>
      <p:sp>
        <p:nvSpPr>
          <p:cNvPr id="34" name="Text 25"/>
          <p:cNvSpPr txBox="1"/>
          <p:nvPr/>
        </p:nvSpPr>
        <p:spPr>
          <a:xfrm>
            <a:off x="548640" y="3154680"/>
            <a:ext cx="5212080" cy="1371600"/>
          </a:xfrm>
          <a:prstGeom prst="rect">
            <a:avLst/>
          </a:prstGeom>
          <a:noFill/>
          <a:ln/>
        </p:spPr>
        <p:txBody>
          <a:bodyPr wrap="square" lIns="0" tIns="0" rIns="0" bIns="0" rtlCol="0" anchor="ctr"/>
          <a:lstStyle/>
          <a:p>
            <a:pPr rtl="1" algn="r" indent="0" marL="0">
              <a:lnSpc>
                <a:spcPct val="115000"/>
              </a:lnSpc>
              <a:buNone/>
            </a:pPr>
            <a:r>
              <a:rPr lang="fa-IR" altLang="en-US" sz="1600" dirty="0">
                <a:solidFill>
                  <a:srgbClr val="37474F"/>
                </a:solidFill>
                <a:latin typeface="B Nazanin" pitchFamily="34" charset="0"/>
                <a:ea typeface="B Nazanin" pitchFamily="34" charset="-122"/>
                <a:cs typeface="B Nazanin" pitchFamily="34" charset="-120"/>
              </a:rPr>
              <a:t>تأییدیه ای است که وزارت در پاسخ به استعلام برای متقاضیان صدور، تجدید و انتقال هر فقره پروانه تاسیس یا کسب یا مجوز بهره برداری صادر می کند.</a:t>
            </a:r>
            <a:endParaRPr lang="fa-IR" sz="1600" dirty="0"/>
          </a:p>
        </p:txBody>
      </p:sp>
      <p:sp>
        <p:nvSpPr>
          <p:cNvPr id="35" name="Shape 26"/>
          <p:cNvSpPr/>
          <p:nvPr/>
        </p:nvSpPr>
        <p:spPr>
          <a:xfrm>
            <a:off x="5943600" y="4983480"/>
            <a:ext cx="3657600" cy="822960"/>
          </a:xfrm>
          <a:prstGeom prst="roundRect">
            <a:avLst>
              <a:gd name="adj" fmla="val 50000"/>
            </a:avLst>
          </a:prstGeom>
          <a:solidFill>
            <a:srgbClr val="F4F7FB"/>
          </a:solidFill>
          <a:ln w="12700">
            <a:solidFill>
              <a:srgbClr val="DDE5F0"/>
            </a:solidFill>
            <a:prstDash val="solid"/>
          </a:ln>
          <a:effectLst>
            <a:outerShdw sx="100000" sy="100000" kx="0" ky="0" algn="bl" rotWithShape="0" blurRad="127000" dist="38100" dir="5400000">
              <a:srgbClr val="1B2A4A">
                <a:alpha val="18000"/>
              </a:srgbClr>
            </a:outerShdw>
          </a:effectLst>
        </p:spPr>
      </p:sp>
      <p:sp>
        <p:nvSpPr>
          <p:cNvPr id="36" name="Text 27"/>
          <p:cNvSpPr txBox="1"/>
          <p:nvPr/>
        </p:nvSpPr>
        <p:spPr>
          <a:xfrm>
            <a:off x="6035040" y="4983480"/>
            <a:ext cx="2697480" cy="822960"/>
          </a:xfrm>
          <a:prstGeom prst="rect">
            <a:avLst/>
          </a:prstGeom>
          <a:noFill/>
          <a:ln/>
        </p:spPr>
        <p:txBody>
          <a:bodyPr wrap="square" lIns="0" tIns="0" rIns="0" bIns="0" rtlCol="0" anchor="ctr"/>
          <a:lstStyle/>
          <a:p>
            <a:pPr rtl="1" algn="r" indent="0" marL="0">
              <a:buNone/>
            </a:pPr>
            <a:r>
              <a:rPr lang="fa-IR" altLang="en-US" sz="1800" b="1" dirty="0">
                <a:solidFill>
                  <a:srgbClr val="0D3B8C"/>
                </a:solidFill>
                <a:latin typeface="B Nazanin" pitchFamily="34" charset="0"/>
                <a:ea typeface="B Nazanin" pitchFamily="34" charset="-122"/>
                <a:cs typeface="B Nazanin" pitchFamily="34" charset="-120"/>
              </a:rPr>
              <a:t>۱۵ مدیریت پسماند</a:t>
            </a:r>
            <a:endParaRPr lang="fa-IR" sz="1800" dirty="0"/>
          </a:p>
        </p:txBody>
      </p:sp>
      <p:sp>
        <p:nvSpPr>
          <p:cNvPr id="37" name="Shape 28"/>
          <p:cNvSpPr/>
          <p:nvPr/>
        </p:nvSpPr>
        <p:spPr>
          <a:xfrm>
            <a:off x="8915400" y="4864608"/>
            <a:ext cx="1060704" cy="1060704"/>
          </a:xfrm>
          <a:prstGeom prst="ellipse">
            <a:avLst/>
          </a:prstGeom>
          <a:solidFill>
            <a:srgbClr val="1E88E5"/>
          </a:solidFill>
          <a:ln w="25400">
            <a:solidFill>
              <a:srgbClr val="FFFFFF"/>
            </a:solidFill>
            <a:prstDash val="solid"/>
          </a:ln>
          <a:effectLst>
            <a:outerShdw sx="100000" sy="100000" kx="0" ky="0" algn="bl" rotWithShape="0" blurRad="127000" dist="38100" dir="5400000">
              <a:srgbClr val="1B2A4A">
                <a:alpha val="18000"/>
              </a:srgbClr>
            </a:outerShdw>
          </a:effectLst>
        </p:spPr>
      </p:sp>
      <p:pic>
        <p:nvPicPr>
          <p:cNvPr id="38" name="Image 7" descr="/tmp/claude-0/-home-user-Waste/dcb1a03d-345b-5441-8898-3e9a4c6379b1/scratchpad/build/assets/ic-24-replay-plain.png">    </p:cNvPr>
          <p:cNvPicPr>
            <a:picLocks noChangeAspect="1"/>
          </p:cNvPicPr>
          <p:nvPr/>
        </p:nvPicPr>
        <p:blipFill>
          <a:blip r:embed="rId18"/>
          <a:stretch>
            <a:fillRect/>
          </a:stretch>
        </p:blipFill>
        <p:spPr>
          <a:xfrm>
            <a:off x="9148755" y="5097963"/>
            <a:ext cx="593994" cy="593994"/>
          </a:xfrm>
          <a:prstGeom prst="rect">
            <a:avLst/>
          </a:prstGeom>
        </p:spPr>
      </p:pic>
      <p:sp>
        <p:nvSpPr>
          <p:cNvPr id="39" name="Text 29"/>
          <p:cNvSpPr txBox="1"/>
          <p:nvPr/>
        </p:nvSpPr>
        <p:spPr>
          <a:xfrm>
            <a:off x="548640" y="4709160"/>
            <a:ext cx="5212080" cy="1371600"/>
          </a:xfrm>
          <a:prstGeom prst="rect">
            <a:avLst/>
          </a:prstGeom>
          <a:noFill/>
          <a:ln/>
        </p:spPr>
        <p:txBody>
          <a:bodyPr wrap="square" lIns="0" tIns="0" rIns="0" bIns="0" rtlCol="0" anchor="ctr"/>
          <a:lstStyle/>
          <a:p>
            <a:pPr rtl="1" algn="r" indent="0" marL="0">
              <a:lnSpc>
                <a:spcPct val="115000"/>
              </a:lnSpc>
              <a:buNone/>
            </a:pPr>
            <a:r>
              <a:rPr lang="fa-IR" altLang="en-US" sz="1600" dirty="0">
                <a:solidFill>
                  <a:srgbClr val="37474F"/>
                </a:solidFill>
                <a:latin typeface="B Nazanin" pitchFamily="34" charset="0"/>
                <a:ea typeface="B Nazanin" pitchFamily="34" charset="-122"/>
                <a:cs typeface="B Nazanin" pitchFamily="34" charset="-120"/>
              </a:rPr>
              <a:t>کلیه عملیات مربوط به تولید، تفکیک، ذخیره در محل، جمع آوری، حمل و نقل، پردازش و بازیافت پسماند می باشد.</a:t>
            </a:r>
            <a:endParaRPr lang="fa-IR"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Shape 2"/>
          <p:cNvSpPr/>
          <p:nvPr/>
        </p:nvSpPr>
        <p:spPr>
          <a:xfrm>
            <a:off x="10543032" y="2377440"/>
            <a:ext cx="1481328" cy="402336"/>
          </a:xfrm>
          <a:prstGeom prst="roundRect">
            <a:avLst>
              <a:gd name="adj" fmla="val 18182"/>
            </a:avLst>
          </a:prstGeom>
          <a:solidFill>
            <a:srgbClr val="FFC107"/>
          </a:solidFill>
          <a:ln w="12700">
            <a:solidFill>
              <a:srgbClr val="FFC107"/>
            </a:solidFill>
            <a:prstDash val="solid"/>
          </a:ln>
        </p:spPr>
      </p:sp>
      <p:sp>
        <p:nvSpPr>
          <p:cNvPr id="8" name="Text 3"/>
          <p:cNvSpPr txBox="1"/>
          <p:nvPr/>
        </p:nvSpPr>
        <p:spPr>
          <a:xfrm>
            <a:off x="10543032" y="2377440"/>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تعاریف</a:t>
            </a:r>
            <a:endParaRPr lang="fa-IR" sz="1250" dirty="0"/>
          </a:p>
        </p:txBody>
      </p:sp>
      <p:sp>
        <p:nvSpPr>
          <p:cNvPr id="9" name="Shape 4">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0" name="Text 5"/>
          <p:cNvSpPr txBox="1"/>
          <p:nvPr/>
        </p:nvSpPr>
        <p:spPr>
          <a:xfrm>
            <a:off x="10543032" y="2980944"/>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کلیات</a:t>
            </a:r>
            <a:endParaRPr lang="fa-IR" sz="1250" dirty="0"/>
          </a:p>
        </p:txBody>
      </p:sp>
      <p:sp>
        <p:nvSpPr>
          <p:cNvPr id="11" name="Shape 6">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2" name="Text 7"/>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3" name="Shape 8">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4" name="Text 9"/>
          <p:cNvSpPr txBox="1"/>
          <p:nvPr/>
        </p:nvSpPr>
        <p:spPr>
          <a:xfrm>
            <a:off x="10543032" y="4187952"/>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وظایف</a:t>
            </a:r>
            <a:endParaRPr lang="fa-IR" sz="1250" dirty="0"/>
          </a:p>
        </p:txBody>
      </p:sp>
      <p:sp>
        <p:nvSpPr>
          <p:cNvPr id="15" name="Shape 10">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۱۴</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تعاریف (۹): بهداشت فردی، غذا، ساختمان، ابزار</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Definitions — Article 1</a:t>
            </a:r>
            <a:endParaRPr lang="en-US" sz="1550" dirty="0"/>
          </a:p>
        </p:txBody>
      </p:sp>
      <p:sp>
        <p:nvSpPr>
          <p:cNvPr id="25" name="Shape 18"/>
          <p:cNvSpPr/>
          <p:nvPr/>
        </p:nvSpPr>
        <p:spPr>
          <a:xfrm>
            <a:off x="5349240" y="1572768"/>
            <a:ext cx="4617720" cy="2208276"/>
          </a:xfrm>
          <a:prstGeom prst="roundRect">
            <a:avLst>
              <a:gd name="adj" fmla="val 4969"/>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26" name="Shape 19"/>
          <p:cNvSpPr/>
          <p:nvPr/>
        </p:nvSpPr>
        <p:spPr>
          <a:xfrm>
            <a:off x="9098280" y="1755648"/>
            <a:ext cx="658368" cy="658368"/>
          </a:xfrm>
          <a:prstGeom prst="ellipse">
            <a:avLst/>
          </a:prstGeom>
          <a:solidFill>
            <a:srgbClr val="1E88E5"/>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27" name="Text 20"/>
          <p:cNvSpPr txBox="1"/>
          <p:nvPr/>
        </p:nvSpPr>
        <p:spPr>
          <a:xfrm>
            <a:off x="90525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۱۶</a:t>
            </a:r>
            <a:endParaRPr lang="fa-IR" sz="1500" dirty="0"/>
          </a:p>
        </p:txBody>
      </p:sp>
      <p:sp>
        <p:nvSpPr>
          <p:cNvPr id="28" name="Text 21"/>
          <p:cNvSpPr txBox="1"/>
          <p:nvPr/>
        </p:nvSpPr>
        <p:spPr>
          <a:xfrm>
            <a:off x="5623560" y="1737360"/>
            <a:ext cx="3291840" cy="1933956"/>
          </a:xfrm>
          <a:prstGeom prst="rect">
            <a:avLst/>
          </a:prstGeom>
          <a:noFill/>
          <a:ln/>
        </p:spPr>
        <p:txBody>
          <a:bodyPr wrap="square" lIns="0" tIns="0" rIns="0" bIns="0" rtlCol="0" anchor="t"/>
          <a:lstStyle/>
          <a:p>
            <a:pPr rtl="1" algn="r" indent="0" marL="0">
              <a:lnSpc>
                <a:spcPct val="112000"/>
              </a:lnSpc>
              <a:spcAft>
                <a:spcPts val="300"/>
              </a:spcAft>
              <a:buNone/>
            </a:pPr>
            <a:r>
              <a:rPr lang="fa-IR" altLang="en-US" sz="1700" b="1" dirty="0">
                <a:solidFill>
                  <a:srgbClr val="1E88E5"/>
                </a:solidFill>
                <a:latin typeface="B Nazanin" pitchFamily="34" charset="0"/>
                <a:ea typeface="B Nazanin" pitchFamily="34" charset="-122"/>
                <a:cs typeface="B Nazanin" pitchFamily="34" charset="-120"/>
              </a:rPr>
              <a:t>بهداشت فردی</a:t>
            </a:r>
            <a:endParaRPr lang="fa-IR" sz="1700" dirty="0"/>
          </a:p>
          <a:p>
            <a:pPr rtl="1" algn="r" indent="0" marL="0">
              <a:lnSpc>
                <a:spcPct val="112000"/>
              </a:lnSpc>
              <a:spcAft>
                <a:spcPts val="300"/>
              </a:spcAft>
              <a:buNone/>
            </a:pPr>
            <a:r>
              <a:rPr lang="fa-IR" altLang="en-US" sz="1450" dirty="0">
                <a:solidFill>
                  <a:srgbClr val="37474F"/>
                </a:solidFill>
                <a:latin typeface="B Nazanin" pitchFamily="34" charset="0"/>
                <a:ea typeface="B Nazanin" pitchFamily="34" charset="-122"/>
                <a:cs typeface="B Nazanin" pitchFamily="34" charset="-120"/>
              </a:rPr>
              <a:t>عبارتست از رعایت دستورات و عادات بهداشتی و دوری جستن از رفتارها و عادات غیربهداشتی که باعث می شود، فرد در معرض عوامل و شرایط بیماری زا قرار نگرفته و به بیماری ناشی از آن ها دچار نشوند.</a:t>
            </a:r>
            <a:endParaRPr lang="fa-IR" sz="1700" dirty="0"/>
          </a:p>
        </p:txBody>
      </p:sp>
      <p:sp>
        <p:nvSpPr>
          <p:cNvPr id="29" name="Shape 22"/>
          <p:cNvSpPr/>
          <p:nvPr/>
        </p:nvSpPr>
        <p:spPr>
          <a:xfrm>
            <a:off x="548640" y="1572768"/>
            <a:ext cx="4617720" cy="2208276"/>
          </a:xfrm>
          <a:prstGeom prst="roundRect">
            <a:avLst>
              <a:gd name="adj" fmla="val 4969"/>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0" name="Shape 23"/>
          <p:cNvSpPr/>
          <p:nvPr/>
        </p:nvSpPr>
        <p:spPr>
          <a:xfrm>
            <a:off x="4297680" y="1755648"/>
            <a:ext cx="658368" cy="658368"/>
          </a:xfrm>
          <a:prstGeom prst="ellipse">
            <a:avLst/>
          </a:prstGeom>
          <a:solidFill>
            <a:srgbClr val="43A047"/>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1" name="Text 24"/>
          <p:cNvSpPr txBox="1"/>
          <p:nvPr/>
        </p:nvSpPr>
        <p:spPr>
          <a:xfrm>
            <a:off x="42519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۱۷</a:t>
            </a:r>
            <a:endParaRPr lang="fa-IR" sz="1500" dirty="0"/>
          </a:p>
        </p:txBody>
      </p:sp>
      <p:sp>
        <p:nvSpPr>
          <p:cNvPr id="32" name="Text 25"/>
          <p:cNvSpPr txBox="1"/>
          <p:nvPr/>
        </p:nvSpPr>
        <p:spPr>
          <a:xfrm>
            <a:off x="822960" y="1737360"/>
            <a:ext cx="3291840" cy="1933956"/>
          </a:xfrm>
          <a:prstGeom prst="rect">
            <a:avLst/>
          </a:prstGeom>
          <a:noFill/>
          <a:ln/>
        </p:spPr>
        <p:txBody>
          <a:bodyPr wrap="square" lIns="0" tIns="0" rIns="0" bIns="0" rtlCol="0" anchor="t"/>
          <a:lstStyle/>
          <a:p>
            <a:pPr rtl="1" algn="r" indent="0" marL="0">
              <a:lnSpc>
                <a:spcPct val="112000"/>
              </a:lnSpc>
              <a:spcAft>
                <a:spcPts val="300"/>
              </a:spcAft>
              <a:buNone/>
            </a:pPr>
            <a:r>
              <a:rPr lang="fa-IR" altLang="en-US" sz="1700" b="1" dirty="0">
                <a:solidFill>
                  <a:srgbClr val="43A047"/>
                </a:solidFill>
                <a:latin typeface="B Nazanin" pitchFamily="34" charset="0"/>
                <a:ea typeface="B Nazanin" pitchFamily="34" charset="-122"/>
                <a:cs typeface="B Nazanin" pitchFamily="34" charset="-120"/>
              </a:rPr>
              <a:t>بهداشت مواد غذایی</a:t>
            </a:r>
            <a:endParaRPr lang="fa-IR" sz="1700" dirty="0"/>
          </a:p>
          <a:p>
            <a:pPr rtl="1" algn="r" indent="0" marL="0">
              <a:lnSpc>
                <a:spcPct val="112000"/>
              </a:lnSpc>
              <a:spcAft>
                <a:spcPts val="300"/>
              </a:spcAft>
              <a:buNone/>
            </a:pPr>
            <a:r>
              <a:rPr lang="fa-IR" altLang="en-US" sz="1450" dirty="0">
                <a:solidFill>
                  <a:srgbClr val="37474F"/>
                </a:solidFill>
                <a:latin typeface="B Nazanin" pitchFamily="34" charset="0"/>
                <a:ea typeface="B Nazanin" pitchFamily="34" charset="-122"/>
                <a:cs typeface="B Nazanin" pitchFamily="34" charset="-120"/>
              </a:rPr>
              <a:t>عبارتست از رعایت کلیه موازین بهداشتی در تمامی مراحل تولید، فرآیند، نگهداری، حمل و نقل و عرضه می باشد تا ماده غذایی سالم و با کیفیت به دست مصرف کنندگان برسد.</a:t>
            </a:r>
            <a:endParaRPr lang="fa-IR" sz="1700" dirty="0"/>
          </a:p>
        </p:txBody>
      </p:sp>
      <p:sp>
        <p:nvSpPr>
          <p:cNvPr id="33" name="Shape 26"/>
          <p:cNvSpPr/>
          <p:nvPr/>
        </p:nvSpPr>
        <p:spPr>
          <a:xfrm>
            <a:off x="5349240" y="3963924"/>
            <a:ext cx="4617720" cy="2208276"/>
          </a:xfrm>
          <a:prstGeom prst="roundRect">
            <a:avLst>
              <a:gd name="adj" fmla="val 4969"/>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4" name="Shape 27"/>
          <p:cNvSpPr/>
          <p:nvPr/>
        </p:nvSpPr>
        <p:spPr>
          <a:xfrm>
            <a:off x="9098280" y="4146804"/>
            <a:ext cx="658368" cy="658368"/>
          </a:xfrm>
          <a:prstGeom prst="ellipse">
            <a:avLst/>
          </a:prstGeom>
          <a:solidFill>
            <a:srgbClr val="0D3B8C"/>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5" name="Text 28"/>
          <p:cNvSpPr txBox="1"/>
          <p:nvPr/>
        </p:nvSpPr>
        <p:spPr>
          <a:xfrm>
            <a:off x="9052560" y="4146804"/>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۱۸</a:t>
            </a:r>
            <a:endParaRPr lang="fa-IR" sz="1500" dirty="0"/>
          </a:p>
        </p:txBody>
      </p:sp>
      <p:sp>
        <p:nvSpPr>
          <p:cNvPr id="36" name="Text 29"/>
          <p:cNvSpPr txBox="1"/>
          <p:nvPr/>
        </p:nvSpPr>
        <p:spPr>
          <a:xfrm>
            <a:off x="5623560" y="4128516"/>
            <a:ext cx="3291840" cy="1933956"/>
          </a:xfrm>
          <a:prstGeom prst="rect">
            <a:avLst/>
          </a:prstGeom>
          <a:noFill/>
          <a:ln/>
        </p:spPr>
        <p:txBody>
          <a:bodyPr wrap="square" lIns="0" tIns="0" rIns="0" bIns="0" rtlCol="0" anchor="t"/>
          <a:lstStyle/>
          <a:p>
            <a:pPr rtl="1" algn="r" indent="0" marL="0">
              <a:lnSpc>
                <a:spcPct val="112000"/>
              </a:lnSpc>
              <a:spcAft>
                <a:spcPts val="300"/>
              </a:spcAft>
              <a:buNone/>
            </a:pPr>
            <a:r>
              <a:rPr lang="fa-IR" altLang="en-US" sz="1700" b="1" dirty="0">
                <a:solidFill>
                  <a:srgbClr val="0D3B8C"/>
                </a:solidFill>
                <a:latin typeface="B Nazanin" pitchFamily="34" charset="0"/>
                <a:ea typeface="B Nazanin" pitchFamily="34" charset="-122"/>
                <a:cs typeface="B Nazanin" pitchFamily="34" charset="-120"/>
              </a:rPr>
              <a:t>بهداشت ساختمان</a:t>
            </a:r>
            <a:endParaRPr lang="fa-IR" sz="1700" dirty="0"/>
          </a:p>
          <a:p>
            <a:pPr rtl="1" algn="r" indent="0" marL="0">
              <a:lnSpc>
                <a:spcPct val="112000"/>
              </a:lnSpc>
              <a:spcAft>
                <a:spcPts val="300"/>
              </a:spcAft>
              <a:buNone/>
            </a:pPr>
            <a:r>
              <a:rPr lang="fa-IR" altLang="en-US" sz="1450" dirty="0">
                <a:solidFill>
                  <a:srgbClr val="37474F"/>
                </a:solidFill>
                <a:latin typeface="B Nazanin" pitchFamily="34" charset="0"/>
                <a:ea typeface="B Nazanin" pitchFamily="34" charset="-122"/>
                <a:cs typeface="B Nazanin" pitchFamily="34" charset="-120"/>
              </a:rPr>
              <a:t>ویژگی های کمی و کیفی که تحت آن شرایط، نیازهای جسمی و روحی ساکنین در آن تأمین گردد و نیز از بروز و انتقال بیماری های واگیر و غیرواگیر، ایجاد سوانح و حوادث ناگوار، جلوگیری شود.</a:t>
            </a:r>
            <a:endParaRPr lang="fa-IR" sz="1700" dirty="0"/>
          </a:p>
        </p:txBody>
      </p:sp>
      <p:sp>
        <p:nvSpPr>
          <p:cNvPr id="37" name="Shape 30"/>
          <p:cNvSpPr/>
          <p:nvPr/>
        </p:nvSpPr>
        <p:spPr>
          <a:xfrm>
            <a:off x="548640" y="3963924"/>
            <a:ext cx="4617720" cy="2208276"/>
          </a:xfrm>
          <a:prstGeom prst="roundRect">
            <a:avLst>
              <a:gd name="adj" fmla="val 4969"/>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8" name="Shape 31"/>
          <p:cNvSpPr/>
          <p:nvPr/>
        </p:nvSpPr>
        <p:spPr>
          <a:xfrm>
            <a:off x="4297680" y="4146804"/>
            <a:ext cx="658368" cy="658368"/>
          </a:xfrm>
          <a:prstGeom prst="ellipse">
            <a:avLst/>
          </a:prstGeom>
          <a:solidFill>
            <a:srgbClr val="FFC107"/>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9" name="Text 32"/>
          <p:cNvSpPr txBox="1"/>
          <p:nvPr/>
        </p:nvSpPr>
        <p:spPr>
          <a:xfrm>
            <a:off x="4251960" y="4146804"/>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۱۹</a:t>
            </a:r>
            <a:endParaRPr lang="fa-IR" sz="1500" dirty="0"/>
          </a:p>
        </p:txBody>
      </p:sp>
      <p:sp>
        <p:nvSpPr>
          <p:cNvPr id="40" name="Text 33"/>
          <p:cNvSpPr txBox="1"/>
          <p:nvPr/>
        </p:nvSpPr>
        <p:spPr>
          <a:xfrm>
            <a:off x="822960" y="4128516"/>
            <a:ext cx="3291840" cy="1933956"/>
          </a:xfrm>
          <a:prstGeom prst="rect">
            <a:avLst/>
          </a:prstGeom>
          <a:noFill/>
          <a:ln/>
        </p:spPr>
        <p:txBody>
          <a:bodyPr wrap="square" lIns="0" tIns="0" rIns="0" bIns="0" rtlCol="0" anchor="t"/>
          <a:lstStyle/>
          <a:p>
            <a:pPr rtl="1" algn="r" indent="0" marL="0">
              <a:lnSpc>
                <a:spcPct val="112000"/>
              </a:lnSpc>
              <a:spcAft>
                <a:spcPts val="300"/>
              </a:spcAft>
              <a:buNone/>
            </a:pPr>
            <a:r>
              <a:rPr lang="fa-IR" altLang="en-US" sz="1700" b="1" dirty="0">
                <a:solidFill>
                  <a:srgbClr val="0D3B8C"/>
                </a:solidFill>
                <a:latin typeface="B Nazanin" pitchFamily="34" charset="0"/>
                <a:ea typeface="B Nazanin" pitchFamily="34" charset="-122"/>
                <a:cs typeface="B Nazanin" pitchFamily="34" charset="-120"/>
              </a:rPr>
              <a:t>بهداشت ابزار و تجهیزات</a:t>
            </a:r>
            <a:endParaRPr lang="fa-IR" sz="1700" dirty="0"/>
          </a:p>
          <a:p>
            <a:pPr rtl="1" algn="r" indent="0" marL="0">
              <a:lnSpc>
                <a:spcPct val="112000"/>
              </a:lnSpc>
              <a:spcAft>
                <a:spcPts val="300"/>
              </a:spcAft>
              <a:buNone/>
            </a:pPr>
            <a:r>
              <a:rPr lang="fa-IR" altLang="en-US" sz="1450" dirty="0">
                <a:solidFill>
                  <a:srgbClr val="37474F"/>
                </a:solidFill>
                <a:latin typeface="B Nazanin" pitchFamily="34" charset="0"/>
                <a:ea typeface="B Nazanin" pitchFamily="34" charset="-122"/>
                <a:cs typeface="B Nazanin" pitchFamily="34" charset="-120"/>
              </a:rPr>
              <a:t>استفاده از ابزار و تجهیزات سالم و بهداشتی است.</a:t>
            </a:r>
            <a:endParaRPr lang="fa-IR"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Shape 2"/>
          <p:cNvSpPr/>
          <p:nvPr/>
        </p:nvSpPr>
        <p:spPr>
          <a:xfrm>
            <a:off x="10543032" y="2377440"/>
            <a:ext cx="1481328" cy="402336"/>
          </a:xfrm>
          <a:prstGeom prst="roundRect">
            <a:avLst>
              <a:gd name="adj" fmla="val 18182"/>
            </a:avLst>
          </a:prstGeom>
          <a:solidFill>
            <a:srgbClr val="FFC107"/>
          </a:solidFill>
          <a:ln w="12700">
            <a:solidFill>
              <a:srgbClr val="FFC107"/>
            </a:solidFill>
            <a:prstDash val="solid"/>
          </a:ln>
        </p:spPr>
      </p:sp>
      <p:sp>
        <p:nvSpPr>
          <p:cNvPr id="8" name="Text 3"/>
          <p:cNvSpPr txBox="1"/>
          <p:nvPr/>
        </p:nvSpPr>
        <p:spPr>
          <a:xfrm>
            <a:off x="10543032" y="2377440"/>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تعاریف</a:t>
            </a:r>
            <a:endParaRPr lang="fa-IR" sz="1250" dirty="0"/>
          </a:p>
        </p:txBody>
      </p:sp>
      <p:sp>
        <p:nvSpPr>
          <p:cNvPr id="9" name="Shape 4">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0" name="Text 5"/>
          <p:cNvSpPr txBox="1"/>
          <p:nvPr/>
        </p:nvSpPr>
        <p:spPr>
          <a:xfrm>
            <a:off x="10543032" y="2980944"/>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کلیات</a:t>
            </a:r>
            <a:endParaRPr lang="fa-IR" sz="1250" dirty="0"/>
          </a:p>
        </p:txBody>
      </p:sp>
      <p:sp>
        <p:nvSpPr>
          <p:cNvPr id="11" name="Shape 6">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2" name="Text 7"/>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3" name="Shape 8">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4" name="Text 9"/>
          <p:cNvSpPr txBox="1"/>
          <p:nvPr/>
        </p:nvSpPr>
        <p:spPr>
          <a:xfrm>
            <a:off x="10543032" y="4187952"/>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وظایف</a:t>
            </a:r>
            <a:endParaRPr lang="fa-IR" sz="1250" dirty="0"/>
          </a:p>
        </p:txBody>
      </p:sp>
      <p:sp>
        <p:nvSpPr>
          <p:cNvPr id="15" name="Shape 10">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۱۵</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تعاریف (۱۰): موارد بحرانی، خودکنترلی، خوداظهاری</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Definitions — Article 1</a:t>
            </a:r>
            <a:endParaRPr lang="en-US" sz="1550" dirty="0"/>
          </a:p>
        </p:txBody>
      </p:sp>
      <p:sp>
        <p:nvSpPr>
          <p:cNvPr id="25" name="Shape 18"/>
          <p:cNvSpPr/>
          <p:nvPr/>
        </p:nvSpPr>
        <p:spPr>
          <a:xfrm>
            <a:off x="5394960" y="1783080"/>
            <a:ext cx="4572000" cy="1463040"/>
          </a:xfrm>
          <a:prstGeom prst="roundRect">
            <a:avLst>
              <a:gd name="adj" fmla="val 7500"/>
            </a:avLst>
          </a:prstGeom>
          <a:solidFill>
            <a:srgbClr val="FDECEC"/>
          </a:solidFill>
          <a:ln w="19050">
            <a:solidFill>
              <a:srgbClr val="C62828"/>
            </a:solidFill>
            <a:prstDash val="solid"/>
          </a:ln>
          <a:effectLst>
            <a:outerShdw sx="100000" sy="100000" kx="0" ky="0" algn="bl" rotWithShape="0" blurRad="127000" dist="38100" dir="5400000">
              <a:srgbClr val="1B2A4A">
                <a:alpha val="18000"/>
              </a:srgbClr>
            </a:outerShdw>
          </a:effectLst>
        </p:spPr>
      </p:sp>
      <p:sp>
        <p:nvSpPr>
          <p:cNvPr id="26" name="Text 19"/>
          <p:cNvSpPr txBox="1"/>
          <p:nvPr/>
        </p:nvSpPr>
        <p:spPr>
          <a:xfrm>
            <a:off x="6217920" y="1554480"/>
            <a:ext cx="2926080" cy="457200"/>
          </a:xfrm>
          <a:prstGeom prst="roundRect">
            <a:avLst>
              <a:gd name="adj" fmla="val 50000"/>
            </a:avLst>
          </a:prstGeom>
          <a:solidFill>
            <a:srgbClr val="C62828"/>
          </a:solidFill>
          <a:ln w="19050">
            <a:solidFill>
              <a:srgbClr val="FFFFFF"/>
            </a:solidFill>
          </a:ln>
        </p:spPr>
        <p:txBody>
          <a:bodyPr wrap="square" lIns="0" tIns="0" rIns="0" bIns="0" rtlCol="0" anchor="ctr"/>
          <a:lstStyle/>
          <a:p>
            <a:pPr rtl="1" algn="ctr" indent="0" marL="0">
              <a:buNone/>
            </a:pPr>
            <a:r>
              <a:rPr lang="fa-IR" altLang="en-US" sz="1800" b="1" dirty="0">
                <a:solidFill>
                  <a:srgbClr val="FFFFFF"/>
                </a:solidFill>
                <a:latin typeface="B Nazanin" pitchFamily="34" charset="0"/>
                <a:ea typeface="B Nazanin" pitchFamily="34" charset="-122"/>
                <a:cs typeface="B Nazanin" pitchFamily="34" charset="-120"/>
              </a:rPr>
              <a:t>۲۰  موارد بحرانی</a:t>
            </a:r>
            <a:endParaRPr lang="fa-IR" sz="1800" dirty="0"/>
          </a:p>
        </p:txBody>
      </p:sp>
      <p:sp>
        <p:nvSpPr>
          <p:cNvPr id="27" name="Text 20"/>
          <p:cNvSpPr txBox="1"/>
          <p:nvPr/>
        </p:nvSpPr>
        <p:spPr>
          <a:xfrm>
            <a:off x="5669280" y="2194560"/>
            <a:ext cx="4023360" cy="914400"/>
          </a:xfrm>
          <a:prstGeom prst="rect">
            <a:avLst/>
          </a:prstGeom>
          <a:noFill/>
          <a:ln/>
        </p:spPr>
        <p:txBody>
          <a:bodyPr wrap="square" lIns="0" tIns="0" rIns="0" bIns="0" rtlCol="0" anchor="t"/>
          <a:lstStyle/>
          <a:p>
            <a:pPr rtl="1" algn="r" indent="0" marL="0">
              <a:lnSpc>
                <a:spcPct val="115000"/>
              </a:lnSpc>
              <a:spcAft>
                <a:spcPts val="400"/>
              </a:spcAft>
              <a:buNone/>
            </a:pPr>
            <a:r>
              <a:rPr lang="fa-IR" altLang="en-US" sz="1600" dirty="0">
                <a:solidFill>
                  <a:srgbClr val="37474F"/>
                </a:solidFill>
                <a:latin typeface="B Nazanin" pitchFamily="34" charset="0"/>
                <a:ea typeface="B Nazanin" pitchFamily="34" charset="-122"/>
                <a:cs typeface="B Nazanin" pitchFamily="34" charset="-120"/>
              </a:rPr>
              <a:t>مواردی است که عدم رعایت آن به طور مستقیم موجب به خطر افتادن سلامت انسان گردد.</a:t>
            </a:r>
            <a:endParaRPr lang="fa-IR" sz="1600" dirty="0"/>
          </a:p>
        </p:txBody>
      </p:sp>
      <p:sp>
        <p:nvSpPr>
          <p:cNvPr id="28" name="Shape 21"/>
          <p:cNvSpPr/>
          <p:nvPr/>
        </p:nvSpPr>
        <p:spPr>
          <a:xfrm>
            <a:off x="548640" y="1783080"/>
            <a:ext cx="4572000" cy="1463040"/>
          </a:xfrm>
          <a:prstGeom prst="roundRect">
            <a:avLst>
              <a:gd name="adj" fmla="val 7500"/>
            </a:avLst>
          </a:prstGeom>
          <a:solidFill>
            <a:srgbClr val="FFF8E1"/>
          </a:solidFill>
          <a:ln w="19050">
            <a:solidFill>
              <a:srgbClr val="FFC107"/>
            </a:solidFill>
            <a:prstDash val="solid"/>
          </a:ln>
          <a:effectLst>
            <a:outerShdw sx="100000" sy="100000" kx="0" ky="0" algn="bl" rotWithShape="0" blurRad="127000" dist="38100" dir="5400000">
              <a:srgbClr val="1B2A4A">
                <a:alpha val="18000"/>
              </a:srgbClr>
            </a:outerShdw>
          </a:effectLst>
        </p:spPr>
      </p:sp>
      <p:sp>
        <p:nvSpPr>
          <p:cNvPr id="29" name="Text 22"/>
          <p:cNvSpPr txBox="1"/>
          <p:nvPr/>
        </p:nvSpPr>
        <p:spPr>
          <a:xfrm>
            <a:off x="1371600" y="1554480"/>
            <a:ext cx="2926080" cy="457200"/>
          </a:xfrm>
          <a:prstGeom prst="roundRect">
            <a:avLst>
              <a:gd name="adj" fmla="val 50000"/>
            </a:avLst>
          </a:prstGeom>
          <a:solidFill>
            <a:srgbClr val="FFC107"/>
          </a:solidFill>
          <a:ln w="19050">
            <a:solidFill>
              <a:srgbClr val="FFFFFF"/>
            </a:solidFill>
          </a:ln>
        </p:spPr>
        <p:txBody>
          <a:bodyPr wrap="square" lIns="0" tIns="0" rIns="0" bIns="0" rtlCol="0" anchor="ctr"/>
          <a:lstStyle/>
          <a:p>
            <a:pPr rtl="1" algn="ctr" indent="0" marL="0">
              <a:buNone/>
            </a:pPr>
            <a:r>
              <a:rPr lang="fa-IR" altLang="en-US" sz="1800" b="1" dirty="0">
                <a:solidFill>
                  <a:srgbClr val="0D3B8C"/>
                </a:solidFill>
                <a:latin typeface="B Nazanin" pitchFamily="34" charset="0"/>
                <a:ea typeface="B Nazanin" pitchFamily="34" charset="-122"/>
                <a:cs typeface="B Nazanin" pitchFamily="34" charset="-120"/>
              </a:rPr>
              <a:t>۲۱  موارد غیر بحرانی</a:t>
            </a:r>
            <a:endParaRPr lang="fa-IR" sz="1800" dirty="0"/>
          </a:p>
        </p:txBody>
      </p:sp>
      <p:sp>
        <p:nvSpPr>
          <p:cNvPr id="30" name="Text 23"/>
          <p:cNvSpPr txBox="1"/>
          <p:nvPr/>
        </p:nvSpPr>
        <p:spPr>
          <a:xfrm>
            <a:off x="822960" y="2194560"/>
            <a:ext cx="4023360" cy="914400"/>
          </a:xfrm>
          <a:prstGeom prst="rect">
            <a:avLst/>
          </a:prstGeom>
          <a:noFill/>
          <a:ln/>
        </p:spPr>
        <p:txBody>
          <a:bodyPr wrap="square" lIns="0" tIns="0" rIns="0" bIns="0" rtlCol="0" anchor="t"/>
          <a:lstStyle/>
          <a:p>
            <a:pPr rtl="1" algn="r" indent="0" marL="0">
              <a:lnSpc>
                <a:spcPct val="115000"/>
              </a:lnSpc>
              <a:spcAft>
                <a:spcPts val="400"/>
              </a:spcAft>
              <a:buNone/>
            </a:pPr>
            <a:r>
              <a:rPr lang="fa-IR" altLang="en-US" sz="1600" dirty="0">
                <a:solidFill>
                  <a:srgbClr val="37474F"/>
                </a:solidFill>
                <a:latin typeface="B Nazanin" pitchFamily="34" charset="0"/>
                <a:ea typeface="B Nazanin" pitchFamily="34" charset="-122"/>
                <a:cs typeface="B Nazanin" pitchFamily="34" charset="-120"/>
              </a:rPr>
              <a:t>مواردی است که عدم رعایت آن به طور غیر مستقیم بر سلامت انسان اثر دارد.</a:t>
            </a:r>
            <a:endParaRPr lang="fa-IR" sz="1600" dirty="0"/>
          </a:p>
        </p:txBody>
      </p:sp>
      <p:sp>
        <p:nvSpPr>
          <p:cNvPr id="31" name="Shape 24"/>
          <p:cNvSpPr/>
          <p:nvPr/>
        </p:nvSpPr>
        <p:spPr>
          <a:xfrm>
            <a:off x="5349240" y="3474720"/>
            <a:ext cx="4617720" cy="2697480"/>
          </a:xfrm>
          <a:prstGeom prst="roundRect">
            <a:avLst>
              <a:gd name="adj" fmla="val 4068"/>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2" name="Shape 25"/>
          <p:cNvSpPr/>
          <p:nvPr/>
        </p:nvSpPr>
        <p:spPr>
          <a:xfrm>
            <a:off x="9098280" y="3657600"/>
            <a:ext cx="658368" cy="658368"/>
          </a:xfrm>
          <a:prstGeom prst="ellipse">
            <a:avLst/>
          </a:prstGeom>
          <a:solidFill>
            <a:srgbClr val="43A047"/>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3" name="Text 26"/>
          <p:cNvSpPr txBox="1"/>
          <p:nvPr/>
        </p:nvSpPr>
        <p:spPr>
          <a:xfrm>
            <a:off x="9052560" y="3657600"/>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۲۲</a:t>
            </a:r>
            <a:endParaRPr lang="fa-IR" sz="1500" dirty="0"/>
          </a:p>
        </p:txBody>
      </p:sp>
      <p:sp>
        <p:nvSpPr>
          <p:cNvPr id="34" name="Text 27"/>
          <p:cNvSpPr txBox="1"/>
          <p:nvPr/>
        </p:nvSpPr>
        <p:spPr>
          <a:xfrm>
            <a:off x="5623560" y="3639312"/>
            <a:ext cx="3291840" cy="2423160"/>
          </a:xfrm>
          <a:prstGeom prst="rect">
            <a:avLst/>
          </a:prstGeom>
          <a:noFill/>
          <a:ln/>
        </p:spPr>
        <p:txBody>
          <a:bodyPr wrap="square" lIns="0" tIns="0" rIns="0" bIns="0" rtlCol="0" anchor="t"/>
          <a:lstStyle/>
          <a:p>
            <a:pPr rtl="1" algn="r" indent="0" marL="0">
              <a:lnSpc>
                <a:spcPct val="112000"/>
              </a:lnSpc>
              <a:spcAft>
                <a:spcPts val="300"/>
              </a:spcAft>
              <a:buNone/>
            </a:pPr>
            <a:r>
              <a:rPr lang="fa-IR" altLang="en-US" sz="1650" b="1" dirty="0">
                <a:solidFill>
                  <a:srgbClr val="43A047"/>
                </a:solidFill>
                <a:latin typeface="B Nazanin" pitchFamily="34" charset="0"/>
                <a:ea typeface="B Nazanin" pitchFamily="34" charset="-122"/>
                <a:cs typeface="B Nazanin" pitchFamily="34" charset="-120"/>
              </a:rPr>
              <a:t>خود کنترلی بهداشتی</a:t>
            </a:r>
            <a:endParaRPr lang="fa-IR" sz="1650" dirty="0"/>
          </a:p>
          <a:p>
            <a:pPr rtl="1" algn="r" indent="0" marL="0">
              <a:lnSpc>
                <a:spcPct val="112000"/>
              </a:lnSpc>
              <a:spcAft>
                <a:spcPts val="300"/>
              </a:spcAft>
              <a:buNone/>
            </a:pPr>
            <a:r>
              <a:rPr lang="fa-IR" altLang="en-US" sz="1400" dirty="0">
                <a:solidFill>
                  <a:srgbClr val="37474F"/>
                </a:solidFill>
                <a:latin typeface="B Nazanin" pitchFamily="34" charset="0"/>
                <a:ea typeface="B Nazanin" pitchFamily="34" charset="-122"/>
                <a:cs typeface="B Nazanin" pitchFamily="34" charset="-120"/>
              </a:rPr>
              <a:t>کنترل و پایش مداوم مالک، مدیر یا متصدی مراکز و اماکن عمومی و یا ارائه دهنده خدمات در زمینه کنترل موارد بحرانی و غیر بحرانی و انطباق شرایط بهداشتی واحد خود با قوانین و مقررات بهداشتی می باشد.</a:t>
            </a:r>
            <a:endParaRPr lang="fa-IR" sz="1650" dirty="0"/>
          </a:p>
        </p:txBody>
      </p:sp>
      <p:sp>
        <p:nvSpPr>
          <p:cNvPr id="35" name="Shape 28"/>
          <p:cNvSpPr/>
          <p:nvPr/>
        </p:nvSpPr>
        <p:spPr>
          <a:xfrm>
            <a:off x="548640" y="3474720"/>
            <a:ext cx="4617720" cy="2697480"/>
          </a:xfrm>
          <a:prstGeom prst="roundRect">
            <a:avLst>
              <a:gd name="adj" fmla="val 4068"/>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6" name="Shape 29"/>
          <p:cNvSpPr/>
          <p:nvPr/>
        </p:nvSpPr>
        <p:spPr>
          <a:xfrm>
            <a:off x="4297680" y="3657600"/>
            <a:ext cx="658368" cy="658368"/>
          </a:xfrm>
          <a:prstGeom prst="ellipse">
            <a:avLst/>
          </a:prstGeom>
          <a:solidFill>
            <a:srgbClr val="1E88E5"/>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7" name="Text 30"/>
          <p:cNvSpPr txBox="1"/>
          <p:nvPr/>
        </p:nvSpPr>
        <p:spPr>
          <a:xfrm>
            <a:off x="4251960" y="3657600"/>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۲۳</a:t>
            </a:r>
            <a:endParaRPr lang="fa-IR" sz="1500" dirty="0"/>
          </a:p>
        </p:txBody>
      </p:sp>
      <p:sp>
        <p:nvSpPr>
          <p:cNvPr id="38" name="Text 31"/>
          <p:cNvSpPr txBox="1"/>
          <p:nvPr/>
        </p:nvSpPr>
        <p:spPr>
          <a:xfrm>
            <a:off x="822960" y="3639312"/>
            <a:ext cx="3291840" cy="2423160"/>
          </a:xfrm>
          <a:prstGeom prst="rect">
            <a:avLst/>
          </a:prstGeom>
          <a:noFill/>
          <a:ln/>
        </p:spPr>
        <p:txBody>
          <a:bodyPr wrap="square" lIns="0" tIns="0" rIns="0" bIns="0" rtlCol="0" anchor="t"/>
          <a:lstStyle/>
          <a:p>
            <a:pPr rtl="1" algn="r" indent="0" marL="0">
              <a:lnSpc>
                <a:spcPct val="112000"/>
              </a:lnSpc>
              <a:spcAft>
                <a:spcPts val="300"/>
              </a:spcAft>
              <a:buNone/>
            </a:pPr>
            <a:r>
              <a:rPr lang="fa-IR" altLang="en-US" sz="1650" b="1" dirty="0">
                <a:solidFill>
                  <a:srgbClr val="1E88E5"/>
                </a:solidFill>
                <a:latin typeface="B Nazanin" pitchFamily="34" charset="0"/>
                <a:ea typeface="B Nazanin" pitchFamily="34" charset="-122"/>
                <a:cs typeface="B Nazanin" pitchFamily="34" charset="-120"/>
              </a:rPr>
              <a:t>خوداظهاری بهداشتی</a:t>
            </a:r>
            <a:endParaRPr lang="fa-IR" sz="1650" dirty="0"/>
          </a:p>
          <a:p>
            <a:pPr rtl="1" algn="r" indent="0" marL="0">
              <a:lnSpc>
                <a:spcPct val="112000"/>
              </a:lnSpc>
              <a:spcAft>
                <a:spcPts val="300"/>
              </a:spcAft>
              <a:buNone/>
            </a:pPr>
            <a:r>
              <a:rPr lang="fa-IR" altLang="en-US" sz="1400" dirty="0">
                <a:solidFill>
                  <a:srgbClr val="37474F"/>
                </a:solidFill>
                <a:latin typeface="B Nazanin" pitchFamily="34" charset="0"/>
                <a:ea typeface="B Nazanin" pitchFamily="34" charset="-122"/>
                <a:cs typeface="B Nazanin" pitchFamily="34" charset="-120"/>
              </a:rPr>
              <a:t>اظهار مالک، مدیر یا متصدی مراکز و اماکن عمومی یا ارائه دهنده خدمات در فواصل بازرسی بهداشتی مبنی بر انطباق محل، کالا و خدمات ارائه شده با قوانین و مقررات بهداشتی می باشد که از طریق تهیه و تنظیم اظهار نامه و ارائه آن به مسئول بهداشت محل صورت می گیرد.</a:t>
            </a:r>
            <a:endParaRPr lang="fa-IR" sz="1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Shape 2"/>
          <p:cNvSpPr/>
          <p:nvPr/>
        </p:nvSpPr>
        <p:spPr>
          <a:xfrm>
            <a:off x="10543032" y="2377440"/>
            <a:ext cx="1481328" cy="402336"/>
          </a:xfrm>
          <a:prstGeom prst="roundRect">
            <a:avLst>
              <a:gd name="adj" fmla="val 18182"/>
            </a:avLst>
          </a:prstGeom>
          <a:solidFill>
            <a:srgbClr val="FFC107"/>
          </a:solidFill>
          <a:ln w="12700">
            <a:solidFill>
              <a:srgbClr val="FFC107"/>
            </a:solidFill>
            <a:prstDash val="solid"/>
          </a:ln>
        </p:spPr>
      </p:sp>
      <p:sp>
        <p:nvSpPr>
          <p:cNvPr id="8" name="Text 3"/>
          <p:cNvSpPr txBox="1"/>
          <p:nvPr/>
        </p:nvSpPr>
        <p:spPr>
          <a:xfrm>
            <a:off x="10543032" y="2377440"/>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تعاریف</a:t>
            </a:r>
            <a:endParaRPr lang="fa-IR" sz="1250" dirty="0"/>
          </a:p>
        </p:txBody>
      </p:sp>
      <p:sp>
        <p:nvSpPr>
          <p:cNvPr id="9" name="Shape 4">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0" name="Text 5"/>
          <p:cNvSpPr txBox="1"/>
          <p:nvPr/>
        </p:nvSpPr>
        <p:spPr>
          <a:xfrm>
            <a:off x="10543032" y="2980944"/>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کلیات</a:t>
            </a:r>
            <a:endParaRPr lang="fa-IR" sz="1250" dirty="0"/>
          </a:p>
        </p:txBody>
      </p:sp>
      <p:sp>
        <p:nvSpPr>
          <p:cNvPr id="11" name="Shape 6">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2" name="Text 7"/>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3" name="Shape 8">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4" name="Text 9"/>
          <p:cNvSpPr txBox="1"/>
          <p:nvPr/>
        </p:nvSpPr>
        <p:spPr>
          <a:xfrm>
            <a:off x="10543032" y="4187952"/>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وظایف</a:t>
            </a:r>
            <a:endParaRPr lang="fa-IR" sz="1250" dirty="0"/>
          </a:p>
        </p:txBody>
      </p:sp>
      <p:sp>
        <p:nvSpPr>
          <p:cNvPr id="15" name="Shape 10">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۱۶</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تعاریف (۱۱): کارت، گواهینامه، فاضلاب، پروانه</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Definitions — Article 1</a:t>
            </a:r>
            <a:endParaRPr lang="en-US" sz="1550" dirty="0"/>
          </a:p>
        </p:txBody>
      </p:sp>
      <p:sp>
        <p:nvSpPr>
          <p:cNvPr id="25" name="Shape 18"/>
          <p:cNvSpPr/>
          <p:nvPr/>
        </p:nvSpPr>
        <p:spPr>
          <a:xfrm>
            <a:off x="5349240" y="1572768"/>
            <a:ext cx="4617720" cy="2208276"/>
          </a:xfrm>
          <a:prstGeom prst="roundRect">
            <a:avLst>
              <a:gd name="adj" fmla="val 4969"/>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26" name="Shape 19"/>
          <p:cNvSpPr/>
          <p:nvPr/>
        </p:nvSpPr>
        <p:spPr>
          <a:xfrm>
            <a:off x="9098280" y="1755648"/>
            <a:ext cx="658368" cy="658368"/>
          </a:xfrm>
          <a:prstGeom prst="ellipse">
            <a:avLst/>
          </a:prstGeom>
          <a:solidFill>
            <a:srgbClr val="0D3B8C"/>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27" name="Text 20"/>
          <p:cNvSpPr txBox="1"/>
          <p:nvPr/>
        </p:nvSpPr>
        <p:spPr>
          <a:xfrm>
            <a:off x="90525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۲۴</a:t>
            </a:r>
            <a:endParaRPr lang="fa-IR" sz="1500" dirty="0"/>
          </a:p>
        </p:txBody>
      </p:sp>
      <p:sp>
        <p:nvSpPr>
          <p:cNvPr id="28" name="Text 21"/>
          <p:cNvSpPr txBox="1"/>
          <p:nvPr/>
        </p:nvSpPr>
        <p:spPr>
          <a:xfrm>
            <a:off x="5623560" y="1737360"/>
            <a:ext cx="3291840" cy="1933956"/>
          </a:xfrm>
          <a:prstGeom prst="rect">
            <a:avLst/>
          </a:prstGeom>
          <a:noFill/>
          <a:ln/>
        </p:spPr>
        <p:txBody>
          <a:bodyPr wrap="square" lIns="0" tIns="0" rIns="0" bIns="0" rtlCol="0" anchor="t"/>
          <a:lstStyle/>
          <a:p>
            <a:pPr rtl="1" algn="r" indent="0" marL="0">
              <a:lnSpc>
                <a:spcPct val="112000"/>
              </a:lnSpc>
              <a:spcAft>
                <a:spcPts val="300"/>
              </a:spcAft>
              <a:buNone/>
            </a:pPr>
            <a:r>
              <a:rPr lang="fa-IR" altLang="en-US" sz="1700" b="1" dirty="0">
                <a:solidFill>
                  <a:srgbClr val="0D3B8C"/>
                </a:solidFill>
                <a:latin typeface="B Nazanin" pitchFamily="34" charset="0"/>
                <a:ea typeface="B Nazanin" pitchFamily="34" charset="-122"/>
                <a:cs typeface="B Nazanin" pitchFamily="34" charset="-120"/>
              </a:rPr>
              <a:t>کارت بهداشت (معاینه پزشکی)</a:t>
            </a:r>
            <a:endParaRPr lang="fa-IR" sz="1700" dirty="0"/>
          </a:p>
          <a:p>
            <a:pPr rtl="1" algn="r" indent="0" marL="0">
              <a:lnSpc>
                <a:spcPct val="112000"/>
              </a:lnSpc>
              <a:spcAft>
                <a:spcPts val="300"/>
              </a:spcAft>
              <a:buNone/>
            </a:pPr>
            <a:r>
              <a:rPr lang="fa-IR" altLang="en-US" sz="1450" dirty="0">
                <a:solidFill>
                  <a:srgbClr val="37474F"/>
                </a:solidFill>
                <a:latin typeface="B Nazanin" pitchFamily="34" charset="0"/>
                <a:ea typeface="B Nazanin" pitchFamily="34" charset="-122"/>
                <a:cs typeface="B Nazanin" pitchFamily="34" charset="-120"/>
              </a:rPr>
              <a:t>کارتی است که برای افراد مشمول این آیین نامه، مطابق دستورالعمل معاونت بهداشت وزارت صادر می‌شود.</a:t>
            </a:r>
            <a:endParaRPr lang="fa-IR" sz="1700" dirty="0"/>
          </a:p>
        </p:txBody>
      </p:sp>
      <p:sp>
        <p:nvSpPr>
          <p:cNvPr id="29" name="Shape 22"/>
          <p:cNvSpPr/>
          <p:nvPr/>
        </p:nvSpPr>
        <p:spPr>
          <a:xfrm>
            <a:off x="548640" y="1572768"/>
            <a:ext cx="4617720" cy="2208276"/>
          </a:xfrm>
          <a:prstGeom prst="roundRect">
            <a:avLst>
              <a:gd name="adj" fmla="val 4969"/>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0" name="Shape 23"/>
          <p:cNvSpPr/>
          <p:nvPr/>
        </p:nvSpPr>
        <p:spPr>
          <a:xfrm>
            <a:off x="4297680" y="1755648"/>
            <a:ext cx="658368" cy="658368"/>
          </a:xfrm>
          <a:prstGeom prst="ellipse">
            <a:avLst/>
          </a:prstGeom>
          <a:solidFill>
            <a:srgbClr val="1E88E5"/>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1" name="Text 24"/>
          <p:cNvSpPr txBox="1"/>
          <p:nvPr/>
        </p:nvSpPr>
        <p:spPr>
          <a:xfrm>
            <a:off x="42519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۲۵</a:t>
            </a:r>
            <a:endParaRPr lang="fa-IR" sz="1500" dirty="0"/>
          </a:p>
        </p:txBody>
      </p:sp>
      <p:sp>
        <p:nvSpPr>
          <p:cNvPr id="32" name="Text 25"/>
          <p:cNvSpPr txBox="1"/>
          <p:nvPr/>
        </p:nvSpPr>
        <p:spPr>
          <a:xfrm>
            <a:off x="822960" y="1737360"/>
            <a:ext cx="3291840" cy="1933956"/>
          </a:xfrm>
          <a:prstGeom prst="rect">
            <a:avLst/>
          </a:prstGeom>
          <a:noFill/>
          <a:ln/>
        </p:spPr>
        <p:txBody>
          <a:bodyPr wrap="square" lIns="0" tIns="0" rIns="0" bIns="0" rtlCol="0" anchor="t"/>
          <a:lstStyle/>
          <a:p>
            <a:pPr rtl="1" algn="r" indent="0" marL="0">
              <a:lnSpc>
                <a:spcPct val="112000"/>
              </a:lnSpc>
              <a:spcAft>
                <a:spcPts val="300"/>
              </a:spcAft>
              <a:buNone/>
            </a:pPr>
            <a:r>
              <a:rPr lang="fa-IR" altLang="en-US" sz="1700" b="1" dirty="0">
                <a:solidFill>
                  <a:srgbClr val="1E88E5"/>
                </a:solidFill>
                <a:latin typeface="B Nazanin" pitchFamily="34" charset="0"/>
                <a:ea typeface="B Nazanin" pitchFamily="34" charset="-122"/>
                <a:cs typeface="B Nazanin" pitchFamily="34" charset="-120"/>
              </a:rPr>
              <a:t>گواهینامه دوره آموزشی بهداشت اصناف</a:t>
            </a:r>
            <a:endParaRPr lang="fa-IR" sz="1700" dirty="0"/>
          </a:p>
          <a:p>
            <a:pPr rtl="1" algn="r" indent="0" marL="0">
              <a:lnSpc>
                <a:spcPct val="112000"/>
              </a:lnSpc>
              <a:spcAft>
                <a:spcPts val="300"/>
              </a:spcAft>
              <a:buNone/>
            </a:pPr>
            <a:r>
              <a:rPr lang="fa-IR" altLang="en-US" sz="1450" dirty="0">
                <a:solidFill>
                  <a:srgbClr val="37474F"/>
                </a:solidFill>
                <a:latin typeface="B Nazanin" pitchFamily="34" charset="0"/>
                <a:ea typeface="B Nazanin" pitchFamily="34" charset="-122"/>
                <a:cs typeface="B Nazanin" pitchFamily="34" charset="-120"/>
              </a:rPr>
              <a:t>مدرکی است که برای افرادی که دوره‌های آموزش مربوطه را در آموزشگاه بهداشت اصناف مجاز از طرف وزارت با موفقیت سپری نموده‌اند، صادر می گردد.</a:t>
            </a:r>
            <a:endParaRPr lang="fa-IR" sz="1700" dirty="0"/>
          </a:p>
        </p:txBody>
      </p:sp>
      <p:sp>
        <p:nvSpPr>
          <p:cNvPr id="33" name="Shape 26"/>
          <p:cNvSpPr/>
          <p:nvPr/>
        </p:nvSpPr>
        <p:spPr>
          <a:xfrm>
            <a:off x="5349240" y="3963924"/>
            <a:ext cx="4617720" cy="2208276"/>
          </a:xfrm>
          <a:prstGeom prst="roundRect">
            <a:avLst>
              <a:gd name="adj" fmla="val 4969"/>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4" name="Shape 27"/>
          <p:cNvSpPr/>
          <p:nvPr/>
        </p:nvSpPr>
        <p:spPr>
          <a:xfrm>
            <a:off x="9098280" y="4146804"/>
            <a:ext cx="658368" cy="658368"/>
          </a:xfrm>
          <a:prstGeom prst="ellipse">
            <a:avLst/>
          </a:prstGeom>
          <a:solidFill>
            <a:srgbClr val="43A047"/>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5" name="Text 28"/>
          <p:cNvSpPr txBox="1"/>
          <p:nvPr/>
        </p:nvSpPr>
        <p:spPr>
          <a:xfrm>
            <a:off x="9052560" y="4146804"/>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۲۶</a:t>
            </a:r>
            <a:endParaRPr lang="fa-IR" sz="1500" dirty="0"/>
          </a:p>
        </p:txBody>
      </p:sp>
      <p:sp>
        <p:nvSpPr>
          <p:cNvPr id="36" name="Text 29"/>
          <p:cNvSpPr txBox="1"/>
          <p:nvPr/>
        </p:nvSpPr>
        <p:spPr>
          <a:xfrm>
            <a:off x="5623560" y="4128516"/>
            <a:ext cx="3291840" cy="1933956"/>
          </a:xfrm>
          <a:prstGeom prst="rect">
            <a:avLst/>
          </a:prstGeom>
          <a:noFill/>
          <a:ln/>
        </p:spPr>
        <p:txBody>
          <a:bodyPr wrap="square" lIns="0" tIns="0" rIns="0" bIns="0" rtlCol="0" anchor="t"/>
          <a:lstStyle/>
          <a:p>
            <a:pPr rtl="1" algn="r" indent="0" marL="0">
              <a:lnSpc>
                <a:spcPct val="112000"/>
              </a:lnSpc>
              <a:spcAft>
                <a:spcPts val="300"/>
              </a:spcAft>
              <a:buNone/>
            </a:pPr>
            <a:r>
              <a:rPr lang="fa-IR" altLang="en-US" sz="1700" b="1" dirty="0">
                <a:solidFill>
                  <a:srgbClr val="43A047"/>
                </a:solidFill>
                <a:latin typeface="B Nazanin" pitchFamily="34" charset="0"/>
                <a:ea typeface="B Nazanin" pitchFamily="34" charset="-122"/>
                <a:cs typeface="B Nazanin" pitchFamily="34" charset="-120"/>
              </a:rPr>
              <a:t>دفع بهداشتی فاضلاب</a:t>
            </a:r>
            <a:endParaRPr lang="fa-IR" sz="1700" dirty="0"/>
          </a:p>
          <a:p>
            <a:pPr rtl="1" algn="r" indent="0" marL="0">
              <a:lnSpc>
                <a:spcPct val="112000"/>
              </a:lnSpc>
              <a:spcAft>
                <a:spcPts val="300"/>
              </a:spcAft>
              <a:buNone/>
            </a:pPr>
            <a:r>
              <a:rPr lang="fa-IR" altLang="en-US" sz="1450" dirty="0">
                <a:solidFill>
                  <a:srgbClr val="37474F"/>
                </a:solidFill>
                <a:latin typeface="B Nazanin" pitchFamily="34" charset="0"/>
                <a:ea typeface="B Nazanin" pitchFamily="34" charset="-122"/>
                <a:cs typeface="B Nazanin" pitchFamily="34" charset="-120"/>
              </a:rPr>
              <a:t>دفع فاضلاب مطابق شرایط بهداشتی از قبیل دفع در چاه جاذب، اتصال به شبکه جمع آوری فاضلاب و انواع تصفیه خانه اختصاصی و سایر روش های مورد تأیید وزارت.</a:t>
            </a:r>
            <a:endParaRPr lang="fa-IR" sz="1700" dirty="0"/>
          </a:p>
        </p:txBody>
      </p:sp>
      <p:sp>
        <p:nvSpPr>
          <p:cNvPr id="37" name="Shape 30"/>
          <p:cNvSpPr/>
          <p:nvPr/>
        </p:nvSpPr>
        <p:spPr>
          <a:xfrm>
            <a:off x="548640" y="3963924"/>
            <a:ext cx="4617720" cy="2208276"/>
          </a:xfrm>
          <a:prstGeom prst="roundRect">
            <a:avLst>
              <a:gd name="adj" fmla="val 4969"/>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8" name="Shape 31"/>
          <p:cNvSpPr/>
          <p:nvPr/>
        </p:nvSpPr>
        <p:spPr>
          <a:xfrm>
            <a:off x="4297680" y="4146804"/>
            <a:ext cx="658368" cy="658368"/>
          </a:xfrm>
          <a:prstGeom prst="ellipse">
            <a:avLst/>
          </a:prstGeom>
          <a:solidFill>
            <a:srgbClr val="FFC107"/>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9" name="Text 32"/>
          <p:cNvSpPr txBox="1"/>
          <p:nvPr/>
        </p:nvSpPr>
        <p:spPr>
          <a:xfrm>
            <a:off x="4251960" y="4146804"/>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۲۷</a:t>
            </a:r>
            <a:endParaRPr lang="fa-IR" sz="1500" dirty="0"/>
          </a:p>
        </p:txBody>
      </p:sp>
      <p:sp>
        <p:nvSpPr>
          <p:cNvPr id="40" name="Text 33"/>
          <p:cNvSpPr txBox="1"/>
          <p:nvPr/>
        </p:nvSpPr>
        <p:spPr>
          <a:xfrm>
            <a:off x="822960" y="4128516"/>
            <a:ext cx="3291840" cy="1933956"/>
          </a:xfrm>
          <a:prstGeom prst="rect">
            <a:avLst/>
          </a:prstGeom>
          <a:noFill/>
          <a:ln/>
        </p:spPr>
        <p:txBody>
          <a:bodyPr wrap="square" lIns="0" tIns="0" rIns="0" bIns="0" rtlCol="0" anchor="t"/>
          <a:lstStyle/>
          <a:p>
            <a:pPr rtl="1" algn="r" indent="0" marL="0">
              <a:lnSpc>
                <a:spcPct val="112000"/>
              </a:lnSpc>
              <a:spcAft>
                <a:spcPts val="300"/>
              </a:spcAft>
              <a:buNone/>
            </a:pPr>
            <a:r>
              <a:rPr lang="fa-IR" altLang="en-US" sz="1700" b="1" dirty="0">
                <a:solidFill>
                  <a:srgbClr val="0D3B8C"/>
                </a:solidFill>
                <a:latin typeface="B Nazanin" pitchFamily="34" charset="0"/>
                <a:ea typeface="B Nazanin" pitchFamily="34" charset="-122"/>
                <a:cs typeface="B Nazanin" pitchFamily="34" charset="-120"/>
              </a:rPr>
              <a:t>پروانه بهداشتی</a:t>
            </a:r>
            <a:endParaRPr lang="fa-IR" sz="1700" dirty="0"/>
          </a:p>
          <a:p>
            <a:pPr rtl="1" algn="r" indent="0" marL="0">
              <a:lnSpc>
                <a:spcPct val="112000"/>
              </a:lnSpc>
              <a:spcAft>
                <a:spcPts val="300"/>
              </a:spcAft>
              <a:buNone/>
            </a:pPr>
            <a:r>
              <a:rPr lang="fa-IR" altLang="en-US" sz="1450" dirty="0">
                <a:solidFill>
                  <a:srgbClr val="37474F"/>
                </a:solidFill>
                <a:latin typeface="B Nazanin" pitchFamily="34" charset="0"/>
                <a:ea typeface="B Nazanin" pitchFamily="34" charset="-122"/>
                <a:cs typeface="B Nazanin" pitchFamily="34" charset="-120"/>
              </a:rPr>
              <a:t>پروانه بهداشتی گواهی است که مطابق قوانین، مقررات و ضوابط توسط وزارت برای مدت معین صادر می شود.</a:t>
            </a:r>
            <a:endParaRPr lang="fa-IR"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Shape 2"/>
          <p:cNvSpPr/>
          <p:nvPr/>
        </p:nvSpPr>
        <p:spPr>
          <a:xfrm>
            <a:off x="10543032" y="2377440"/>
            <a:ext cx="1481328" cy="402336"/>
          </a:xfrm>
          <a:prstGeom prst="roundRect">
            <a:avLst>
              <a:gd name="adj" fmla="val 18182"/>
            </a:avLst>
          </a:prstGeom>
          <a:solidFill>
            <a:srgbClr val="FFC107"/>
          </a:solidFill>
          <a:ln w="12700">
            <a:solidFill>
              <a:srgbClr val="FFC107"/>
            </a:solidFill>
            <a:prstDash val="solid"/>
          </a:ln>
        </p:spPr>
      </p:sp>
      <p:sp>
        <p:nvSpPr>
          <p:cNvPr id="8" name="Text 3"/>
          <p:cNvSpPr txBox="1"/>
          <p:nvPr/>
        </p:nvSpPr>
        <p:spPr>
          <a:xfrm>
            <a:off x="10543032" y="2377440"/>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تعاریف</a:t>
            </a:r>
            <a:endParaRPr lang="fa-IR" sz="1250" dirty="0"/>
          </a:p>
        </p:txBody>
      </p:sp>
      <p:sp>
        <p:nvSpPr>
          <p:cNvPr id="9" name="Shape 4">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0" name="Text 5"/>
          <p:cNvSpPr txBox="1"/>
          <p:nvPr/>
        </p:nvSpPr>
        <p:spPr>
          <a:xfrm>
            <a:off x="10543032" y="2980944"/>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کلیات</a:t>
            </a:r>
            <a:endParaRPr lang="fa-IR" sz="1250" dirty="0"/>
          </a:p>
        </p:txBody>
      </p:sp>
      <p:sp>
        <p:nvSpPr>
          <p:cNvPr id="11" name="Shape 6">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2" name="Text 7"/>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3" name="Shape 8">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4" name="Text 9"/>
          <p:cNvSpPr txBox="1"/>
          <p:nvPr/>
        </p:nvSpPr>
        <p:spPr>
          <a:xfrm>
            <a:off x="10543032" y="4187952"/>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وظایف</a:t>
            </a:r>
            <a:endParaRPr lang="fa-IR" sz="1250" dirty="0"/>
          </a:p>
        </p:txBody>
      </p:sp>
      <p:sp>
        <p:nvSpPr>
          <p:cNvPr id="15" name="Shape 10">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۱۷</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تعاریف (۱۲): سکونتگاه‌های غیر رسمی</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Definitions — Article 1, Item 28</a:t>
            </a:r>
            <a:endParaRPr lang="en-US" sz="1550" dirty="0"/>
          </a:p>
        </p:txBody>
      </p:sp>
      <p:sp>
        <p:nvSpPr>
          <p:cNvPr id="25" name="Shape 18"/>
          <p:cNvSpPr/>
          <p:nvPr/>
        </p:nvSpPr>
        <p:spPr>
          <a:xfrm>
            <a:off x="713232" y="1170432"/>
            <a:ext cx="4242816" cy="4242816"/>
          </a:xfrm>
          <a:prstGeom prst="ellipse">
            <a:avLst/>
          </a:prstGeom>
          <a:solidFill>
            <a:srgbClr val="FFFFFF"/>
          </a:solidFill>
          <a:ln w="63500">
            <a:solidFill>
              <a:srgbClr val="DCE3EE"/>
            </a:solidFill>
            <a:prstDash val="solid"/>
          </a:ln>
          <a:effectLst>
            <a:outerShdw sx="100000" sy="100000" kx="0" ky="0" algn="bl" rotWithShape="0" blurRad="127000" dist="38100" dir="5400000">
              <a:srgbClr val="1B2A4A">
                <a:alpha val="18000"/>
              </a:srgbClr>
            </a:outerShdw>
          </a:effectLst>
        </p:spPr>
      </p:sp>
      <p:pic>
        <p:nvPicPr>
          <p:cNvPr id="26" name="Image 5" descr="/tmp/claude-0/-home-user-Waste/dcb1a03d-345b-5441-8898-3e9a4c6379b1/scratchpad/build/assets/ic-9-trackchanges-feature.png">    </p:cNvPr>
          <p:cNvPicPr>
            <a:picLocks noChangeAspect="1"/>
          </p:cNvPicPr>
          <p:nvPr/>
        </p:nvPicPr>
        <p:blipFill>
          <a:blip r:embed="rId16"/>
          <a:stretch>
            <a:fillRect/>
          </a:stretch>
        </p:blipFill>
        <p:spPr>
          <a:xfrm>
            <a:off x="822960" y="1280160"/>
            <a:ext cx="4023360" cy="4023360"/>
          </a:xfrm>
          <a:prstGeom prst="ellipse">
            <a:avLst/>
          </a:prstGeom>
        </p:spPr>
      </p:pic>
      <p:sp>
        <p:nvSpPr>
          <p:cNvPr id="27" name="Text 19"/>
          <p:cNvSpPr txBox="1"/>
          <p:nvPr/>
        </p:nvSpPr>
        <p:spPr>
          <a:xfrm>
            <a:off x="5394960" y="1463040"/>
            <a:ext cx="4572000" cy="4480560"/>
          </a:xfrm>
          <a:prstGeom prst="rect">
            <a:avLst/>
          </a:prstGeom>
          <a:noFill/>
          <a:ln/>
        </p:spPr>
        <p:txBody>
          <a:bodyPr wrap="square" lIns="0" tIns="0" rIns="0" bIns="0" rtlCol="0" anchor="ctr"/>
          <a:lstStyle/>
          <a:p>
            <a:pPr rtl="1" algn="just" indent="0" marL="0">
              <a:lnSpc>
                <a:spcPct val="145000"/>
              </a:lnSpc>
              <a:buNone/>
            </a:pPr>
            <a:r>
              <a:rPr lang="fa-IR" altLang="en-US" sz="1850" b="1" dirty="0">
                <a:solidFill>
                  <a:srgbClr val="0D3B8C"/>
                </a:solidFill>
                <a:latin typeface="B Nazanin" pitchFamily="34" charset="0"/>
                <a:ea typeface="B Nazanin" pitchFamily="34" charset="-122"/>
                <a:cs typeface="B Nazanin" pitchFamily="34" charset="-120"/>
              </a:rPr>
              <a:t>۲۸. سکونتگاه های غیر رسمی: </a:t>
            </a:r>
            <a:pPr rtl="1" algn="just" indent="0" marL="0">
              <a:lnSpc>
                <a:spcPct val="145000"/>
              </a:lnSpc>
              <a:buNone/>
            </a:pPr>
            <a:r>
              <a:rPr lang="fa-IR" altLang="en-US" sz="1700" dirty="0">
                <a:solidFill>
                  <a:srgbClr val="37474F"/>
                </a:solidFill>
                <a:latin typeface="B Nazanin" pitchFamily="34" charset="0"/>
                <a:ea typeface="B Nazanin" pitchFamily="34" charset="-122"/>
                <a:cs typeface="B Nazanin" pitchFamily="34" charset="-120"/>
              </a:rPr>
              <a:t>سکونتگاه های غیر رسمی بخشی از بافت شهری هستند که عمدتا مهاجرین روستایی و تهیدستان شهری را در خود جای داده اند و بدون مجوز و خارج از برنامه‌ریزی رسمی و قانونی توسعه شهری (طرح های جامع و تفصیلی) در درون و خارج از محدوده قانونی شهرها به وجود آمده اند و بطور عمده فاقد سند مالکیت هستند و از نظر ویژگی‌های کالبدی و برخورداری از خدمات و زیر ساخت های شهری دچار کمبود هستند.</a:t>
            </a:r>
            <a:endParaRPr lang="fa-IR" sz="1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65760"/>
            <a:ext cx="731520" cy="731520"/>
          </a:xfrm>
          <a:prstGeom prst="ellipse">
            <a:avLst/>
          </a:prstGeom>
          <a:solidFill>
            <a:srgbClr val="FFFFFF"/>
          </a:solidFill>
          <a:ln w="25400">
            <a:solidFill>
              <a:srgbClr val="FFC107"/>
            </a:solidFill>
            <a:prstDash val="solid"/>
          </a:ln>
        </p:spPr>
      </p:sp>
      <p:pic>
        <p:nvPicPr>
          <p:cNvPr id="3" name="Image 0" descr="/tmp/claude-0/-home-user-Waste/dcb1a03d-345b-5441-8898-3e9a4c6379b1/scratchpad/build/assets/logo.png">    </p:cNvPr>
          <p:cNvPicPr>
            <a:picLocks noChangeAspect="1"/>
          </p:cNvPicPr>
          <p:nvPr/>
        </p:nvPicPr>
        <p:blipFill>
          <a:blip r:embed="rId2"/>
          <a:stretch>
            <a:fillRect/>
          </a:stretch>
        </p:blipFill>
        <p:spPr>
          <a:xfrm>
            <a:off x="521208" y="475488"/>
            <a:ext cx="512064" cy="512064"/>
          </a:xfrm>
          <a:prstGeom prst="rect">
            <a:avLst/>
          </a:prstGeom>
        </p:spPr>
      </p:pic>
      <p:sp>
        <p:nvSpPr>
          <p:cNvPr id="4" name="Shape 1"/>
          <p:cNvSpPr/>
          <p:nvPr/>
        </p:nvSpPr>
        <p:spPr>
          <a:xfrm>
            <a:off x="4489704" y="822960"/>
            <a:ext cx="3200400" cy="2743200"/>
          </a:xfrm>
          <a:prstGeom prst="triangle">
            <a:avLst/>
          </a:prstGeom>
          <a:solidFill>
            <a:srgbClr val="FFC107"/>
          </a:solidFill>
          <a:ln w="12700">
            <a:solidFill>
              <a:srgbClr val="FFD54F"/>
            </a:solidFill>
            <a:prstDash val="solid"/>
          </a:ln>
          <a:effectLst>
            <a:outerShdw sx="100000" sy="100000" kx="0" ky="0" algn="bl" rotWithShape="0" blurRad="127000" dist="38100" dir="5400000">
              <a:srgbClr val="1B2A4A">
                <a:alpha val="18000"/>
              </a:srgbClr>
            </a:outerShdw>
          </a:effectLst>
        </p:spPr>
      </p:sp>
      <p:pic>
        <p:nvPicPr>
          <p:cNvPr id="5" name="Image 1" descr="/tmp/claude-0/-home-user-Waste/dcb1a03d-345b-5441-8898-3e9a4c6379b1/scratchpad/build/assets/ic-3-factcheck-plain.png">    </p:cNvPr>
          <p:cNvPicPr>
            <a:picLocks noChangeAspect="1"/>
          </p:cNvPicPr>
          <p:nvPr/>
        </p:nvPicPr>
        <p:blipFill>
          <a:blip r:embed="rId3"/>
          <a:stretch>
            <a:fillRect/>
          </a:stretch>
        </p:blipFill>
        <p:spPr>
          <a:xfrm>
            <a:off x="5431536" y="1920240"/>
            <a:ext cx="1316736" cy="1316736"/>
          </a:xfrm>
          <a:prstGeom prst="rect">
            <a:avLst/>
          </a:prstGeom>
        </p:spPr>
      </p:pic>
      <p:sp>
        <p:nvSpPr>
          <p:cNvPr id="6" name="Text 2"/>
          <p:cNvSpPr txBox="1"/>
          <p:nvPr/>
        </p:nvSpPr>
        <p:spPr>
          <a:xfrm>
            <a:off x="914400" y="3840480"/>
            <a:ext cx="10360152" cy="1371600"/>
          </a:xfrm>
          <a:prstGeom prst="rect">
            <a:avLst/>
          </a:prstGeom>
          <a:noFill/>
          <a:ln/>
        </p:spPr>
        <p:txBody>
          <a:bodyPr wrap="square" lIns="0" tIns="0" rIns="0" bIns="0" rtlCol="0" anchor="ctr"/>
          <a:lstStyle/>
          <a:p>
            <a:pPr rtl="1" algn="ctr" indent="0" marL="0">
              <a:buNone/>
            </a:pPr>
            <a:r>
              <a:rPr lang="fa-IR" altLang="en-US" sz="6000" b="1" dirty="0">
                <a:solidFill>
                  <a:srgbClr val="FFC107"/>
                </a:solidFill>
                <a:latin typeface="B Nazanin" pitchFamily="34" charset="0"/>
                <a:ea typeface="B Nazanin" pitchFamily="34" charset="-122"/>
                <a:cs typeface="B Nazanin" pitchFamily="34" charset="-120"/>
              </a:rPr>
              <a:t>کلیات</a:t>
            </a:r>
            <a:endParaRPr lang="fa-IR" sz="6000" dirty="0"/>
          </a:p>
        </p:txBody>
      </p:sp>
      <p:sp>
        <p:nvSpPr>
          <p:cNvPr id="7" name="Text 3"/>
          <p:cNvSpPr txBox="1"/>
          <p:nvPr/>
        </p:nvSpPr>
        <p:spPr>
          <a:xfrm>
            <a:off x="914400" y="5212080"/>
            <a:ext cx="10360152" cy="457200"/>
          </a:xfrm>
          <a:prstGeom prst="rect">
            <a:avLst/>
          </a:prstGeom>
          <a:noFill/>
          <a:ln/>
        </p:spPr>
        <p:txBody>
          <a:bodyPr wrap="square" lIns="0" tIns="0" rIns="0" bIns="0" rtlCol="0" anchor="ctr"/>
          <a:lstStyle/>
          <a:p>
            <a:pPr rtl="1" algn="ctr" indent="0" marL="0">
              <a:buNone/>
            </a:pPr>
            <a:r>
              <a:rPr lang="fa-IR" altLang="en-US" sz="2200" dirty="0">
                <a:solidFill>
                  <a:srgbClr val="FFFFFF"/>
                </a:solidFill>
                <a:latin typeface="B Nazanin" pitchFamily="34" charset="0"/>
                <a:ea typeface="B Nazanin" pitchFamily="34" charset="-122"/>
                <a:cs typeface="B Nazanin" pitchFamily="34" charset="-120"/>
              </a:rPr>
              <a:t>فصل اول (ب) — مواد ۲ تا ۱۶</a:t>
            </a:r>
            <a:endParaRPr lang="fa-IR" sz="2200" dirty="0"/>
          </a:p>
        </p:txBody>
      </p:sp>
      <p:pic>
        <p:nvPicPr>
          <p:cNvPr id="8" name="Image 2" descr="/tmp/claude-0/-home-user-Waste/dcb1a03d-345b-5441-8898-3e9a4c6379b1/scratchpad/build/assets/home.png">
            <a:hlinkClick r:id="rId5" tooltip="فهرست مطالب" action="ppaction://hlinksldjump"/>
          </p:cNvPr>
          <p:cNvPicPr>
            <a:picLocks noChangeAspect="1"/>
          </p:cNvPicPr>
          <p:nvPr/>
        </p:nvPicPr>
        <p:blipFill>
          <a:blip r:embed="rId4"/>
          <a:stretch>
            <a:fillRect/>
          </a:stretch>
        </p:blipFill>
        <p:spPr>
          <a:xfrm>
            <a:off x="11274552" y="6126480"/>
            <a:ext cx="457200" cy="457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Text 2"/>
          <p:cNvSpPr txBox="1"/>
          <p:nvPr/>
        </p:nvSpPr>
        <p:spPr>
          <a:xfrm>
            <a:off x="10543032" y="2377440"/>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تعاریف</a:t>
            </a:r>
            <a:endParaRPr lang="fa-IR" sz="1250" dirty="0"/>
          </a:p>
        </p:txBody>
      </p:sp>
      <p:sp>
        <p:nvSpPr>
          <p:cNvPr id="8" name="Shape 3">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9" name="Shape 4"/>
          <p:cNvSpPr/>
          <p:nvPr/>
        </p:nvSpPr>
        <p:spPr>
          <a:xfrm>
            <a:off x="10543032" y="2980944"/>
            <a:ext cx="1481328" cy="402336"/>
          </a:xfrm>
          <a:prstGeom prst="roundRect">
            <a:avLst>
              <a:gd name="adj" fmla="val 18182"/>
            </a:avLst>
          </a:prstGeom>
          <a:solidFill>
            <a:srgbClr val="FFC107"/>
          </a:solidFill>
          <a:ln w="12700">
            <a:solidFill>
              <a:srgbClr val="FFC107"/>
            </a:solidFill>
            <a:prstDash val="solid"/>
          </a:ln>
        </p:spPr>
      </p:sp>
      <p:sp>
        <p:nvSpPr>
          <p:cNvPr id="10" name="Text 5"/>
          <p:cNvSpPr txBox="1"/>
          <p:nvPr/>
        </p:nvSpPr>
        <p:spPr>
          <a:xfrm>
            <a:off x="10543032" y="2980944"/>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کلیات</a:t>
            </a:r>
            <a:endParaRPr lang="fa-IR" sz="1250" dirty="0"/>
          </a:p>
        </p:txBody>
      </p:sp>
      <p:sp>
        <p:nvSpPr>
          <p:cNvPr id="11" name="Shape 6">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2" name="Text 7"/>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3" name="Shape 8">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4" name="Text 9"/>
          <p:cNvSpPr txBox="1"/>
          <p:nvPr/>
        </p:nvSpPr>
        <p:spPr>
          <a:xfrm>
            <a:off x="10543032" y="4187952"/>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وظایف</a:t>
            </a:r>
            <a:endParaRPr lang="fa-IR" sz="1250" dirty="0"/>
          </a:p>
        </p:txBody>
      </p:sp>
      <p:sp>
        <p:nvSpPr>
          <p:cNvPr id="15" name="Shape 10">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۱۹</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بازرسان و اختیارات وزارت</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General Provisions — Articles 2-16</a:t>
            </a:r>
            <a:endParaRPr lang="en-US" sz="1550" dirty="0"/>
          </a:p>
        </p:txBody>
      </p:sp>
      <p:sp>
        <p:nvSpPr>
          <p:cNvPr id="25" name="Shape 18"/>
          <p:cNvSpPr/>
          <p:nvPr/>
        </p:nvSpPr>
        <p:spPr>
          <a:xfrm>
            <a:off x="548640" y="1572768"/>
            <a:ext cx="9418320" cy="1415676"/>
          </a:xfrm>
          <a:prstGeom prst="roundRect">
            <a:avLst>
              <a:gd name="adj" fmla="val 7751"/>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26" name="Shape 19"/>
          <p:cNvSpPr/>
          <p:nvPr/>
        </p:nvSpPr>
        <p:spPr>
          <a:xfrm>
            <a:off x="9098280" y="1755648"/>
            <a:ext cx="658368" cy="658368"/>
          </a:xfrm>
          <a:prstGeom prst="ellipse">
            <a:avLst/>
          </a:prstGeom>
          <a:solidFill>
            <a:srgbClr val="0D3B8C"/>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27" name="Text 20"/>
          <p:cNvSpPr txBox="1"/>
          <p:nvPr/>
        </p:nvSpPr>
        <p:spPr>
          <a:xfrm>
            <a:off x="90525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۲</a:t>
            </a:r>
            <a:endParaRPr lang="fa-IR" sz="1500" dirty="0"/>
          </a:p>
        </p:txBody>
      </p:sp>
      <p:sp>
        <p:nvSpPr>
          <p:cNvPr id="28" name="Text 21"/>
          <p:cNvSpPr txBox="1"/>
          <p:nvPr/>
        </p:nvSpPr>
        <p:spPr>
          <a:xfrm>
            <a:off x="822960" y="1737360"/>
            <a:ext cx="8092440" cy="1141356"/>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00" b="1" dirty="0">
                <a:solidFill>
                  <a:srgbClr val="0D3B8C"/>
                </a:solidFill>
                <a:latin typeface="B Nazanin" pitchFamily="34" charset="0"/>
                <a:ea typeface="B Nazanin" pitchFamily="34" charset="-122"/>
                <a:cs typeface="B Nazanin" pitchFamily="34" charset="-120"/>
              </a:rPr>
              <a:t>ماده ۲ — ضابط قضایی بودن بازرسان</a:t>
            </a:r>
            <a:endParaRPr lang="fa-IR" sz="1800" dirty="0"/>
          </a:p>
          <a:p>
            <a:pPr rtl="1" algn="r" indent="0" marL="0">
              <a:lnSpc>
                <a:spcPct val="112000"/>
              </a:lnSpc>
              <a:spcAft>
                <a:spcPts val="300"/>
              </a:spcAft>
              <a:buNone/>
            </a:pPr>
            <a:r>
              <a:rPr lang="fa-IR" altLang="en-US" sz="1550" dirty="0">
                <a:solidFill>
                  <a:srgbClr val="37474F"/>
                </a:solidFill>
                <a:latin typeface="B Nazanin" pitchFamily="34" charset="0"/>
                <a:ea typeface="B Nazanin" pitchFamily="34" charset="-122"/>
                <a:cs typeface="B Nazanin" pitchFamily="34" charset="-120"/>
              </a:rPr>
              <a:t>بازرسین در اجرای وظایف این آیین نامه پس از طی دوره آموزشی مورد نظر قوه قضاییه به عنوان ضابط قضایی (ضابط خاص) تلقی و هر گونه تعرض به آن ها بخاطر انجام وظیفه مشمول قوانین و مقررات مربوط خواهد بود.</a:t>
            </a:r>
            <a:endParaRPr lang="fa-IR" sz="1800" dirty="0"/>
          </a:p>
        </p:txBody>
      </p:sp>
      <p:sp>
        <p:nvSpPr>
          <p:cNvPr id="29" name="Shape 22"/>
          <p:cNvSpPr/>
          <p:nvPr/>
        </p:nvSpPr>
        <p:spPr>
          <a:xfrm>
            <a:off x="548640" y="3171324"/>
            <a:ext cx="9418320" cy="1459081"/>
          </a:xfrm>
          <a:prstGeom prst="roundRect">
            <a:avLst>
              <a:gd name="adj" fmla="val 7520"/>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0" name="Shape 23"/>
          <p:cNvSpPr/>
          <p:nvPr/>
        </p:nvSpPr>
        <p:spPr>
          <a:xfrm>
            <a:off x="9098280" y="3354204"/>
            <a:ext cx="658368" cy="658368"/>
          </a:xfrm>
          <a:prstGeom prst="ellipse">
            <a:avLst/>
          </a:prstGeom>
          <a:solidFill>
            <a:srgbClr val="1E88E5"/>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1" name="Text 24"/>
          <p:cNvSpPr txBox="1"/>
          <p:nvPr/>
        </p:nvSpPr>
        <p:spPr>
          <a:xfrm>
            <a:off x="9052560" y="3354204"/>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۳</a:t>
            </a:r>
            <a:endParaRPr lang="fa-IR" sz="1500" dirty="0"/>
          </a:p>
        </p:txBody>
      </p:sp>
      <p:sp>
        <p:nvSpPr>
          <p:cNvPr id="32" name="Text 25"/>
          <p:cNvSpPr txBox="1"/>
          <p:nvPr/>
        </p:nvSpPr>
        <p:spPr>
          <a:xfrm>
            <a:off x="822960" y="3335916"/>
            <a:ext cx="8092440" cy="1184761"/>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00" b="1" dirty="0">
                <a:solidFill>
                  <a:srgbClr val="1E88E5"/>
                </a:solidFill>
                <a:latin typeface="B Nazanin" pitchFamily="34" charset="0"/>
                <a:ea typeface="B Nazanin" pitchFamily="34" charset="-122"/>
                <a:cs typeface="B Nazanin" pitchFamily="34" charset="-120"/>
              </a:rPr>
              <a:t>ماده ۳ — اعزام بازرس و تکلیف به همکاری</a:t>
            </a:r>
            <a:endParaRPr lang="fa-IR" sz="1800" dirty="0"/>
          </a:p>
          <a:p>
            <a:pPr rtl="1" algn="r" indent="0" marL="0">
              <a:lnSpc>
                <a:spcPct val="112000"/>
              </a:lnSpc>
              <a:spcAft>
                <a:spcPts val="300"/>
              </a:spcAft>
              <a:buNone/>
            </a:pPr>
            <a:r>
              <a:rPr lang="fa-IR" altLang="en-US" sz="1550" dirty="0">
                <a:solidFill>
                  <a:srgbClr val="37474F"/>
                </a:solidFill>
                <a:latin typeface="B Nazanin" pitchFamily="34" charset="0"/>
                <a:ea typeface="B Nazanin" pitchFamily="34" charset="-122"/>
                <a:cs typeface="B Nazanin" pitchFamily="34" charset="-120"/>
              </a:rPr>
              <a:t>وزارت مجاز است بازرسین خود را در اجرای وظایف تعیین شده در هر زمان به مراکز و اماکن مشمول این آیین نامه اعزام نماید. مالکین، مدیران، متصدیان و نمایندگان آن ها در مراکز و اماکن ذکر شده مکلف به همکاری می باشند.</a:t>
            </a:r>
            <a:endParaRPr lang="fa-IR" sz="1800" dirty="0"/>
          </a:p>
        </p:txBody>
      </p:sp>
      <p:sp>
        <p:nvSpPr>
          <p:cNvPr id="33" name="Shape 26"/>
          <p:cNvSpPr/>
          <p:nvPr/>
        </p:nvSpPr>
        <p:spPr>
          <a:xfrm>
            <a:off x="548640" y="4813285"/>
            <a:ext cx="9418320" cy="1358915"/>
          </a:xfrm>
          <a:prstGeom prst="roundRect">
            <a:avLst>
              <a:gd name="adj" fmla="val 8075"/>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4" name="Shape 27"/>
          <p:cNvSpPr/>
          <p:nvPr/>
        </p:nvSpPr>
        <p:spPr>
          <a:xfrm>
            <a:off x="9098280" y="4996165"/>
            <a:ext cx="658368" cy="658368"/>
          </a:xfrm>
          <a:prstGeom prst="ellipse">
            <a:avLst/>
          </a:prstGeom>
          <a:solidFill>
            <a:srgbClr val="43A047"/>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5" name="Text 28"/>
          <p:cNvSpPr txBox="1"/>
          <p:nvPr/>
        </p:nvSpPr>
        <p:spPr>
          <a:xfrm>
            <a:off x="9052560" y="4996165"/>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۴</a:t>
            </a:r>
            <a:endParaRPr lang="fa-IR" sz="1500" dirty="0"/>
          </a:p>
        </p:txBody>
      </p:sp>
      <p:sp>
        <p:nvSpPr>
          <p:cNvPr id="36" name="Text 29"/>
          <p:cNvSpPr txBox="1"/>
          <p:nvPr/>
        </p:nvSpPr>
        <p:spPr>
          <a:xfrm>
            <a:off x="822960" y="4977877"/>
            <a:ext cx="8092440" cy="1084595"/>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00" b="1" dirty="0">
                <a:solidFill>
                  <a:srgbClr val="43A047"/>
                </a:solidFill>
                <a:latin typeface="B Nazanin" pitchFamily="34" charset="0"/>
                <a:ea typeface="B Nazanin" pitchFamily="34" charset="-122"/>
                <a:cs typeface="B Nazanin" pitchFamily="34" charset="-120"/>
              </a:rPr>
              <a:t>ماده ۴ — تجهیز بازرسان</a:t>
            </a:r>
            <a:endParaRPr lang="fa-IR" sz="1800" dirty="0"/>
          </a:p>
          <a:p>
            <a:pPr rtl="1" algn="r" indent="0" marL="0">
              <a:lnSpc>
                <a:spcPct val="112000"/>
              </a:lnSpc>
              <a:spcAft>
                <a:spcPts val="300"/>
              </a:spcAft>
              <a:buNone/>
            </a:pPr>
            <a:r>
              <a:rPr lang="fa-IR" altLang="en-US" sz="1550" dirty="0">
                <a:solidFill>
                  <a:srgbClr val="37474F"/>
                </a:solidFill>
                <a:latin typeface="B Nazanin" pitchFamily="34" charset="0"/>
                <a:ea typeface="B Nazanin" pitchFamily="34" charset="-122"/>
                <a:cs typeface="B Nazanin" pitchFamily="34" charset="-120"/>
              </a:rPr>
              <a:t>وزارت موظف است به منظور کنترل مواد مشمول این آیین نامه از سطح مراکز و اماکن، نسبت به مجهز نمودن بازرسان خود به تجهیزات سنجش و سایر ابزارها متناسب با فن آوری های روز اقدام نماید.</a:t>
            </a:r>
            <a:endParaRPr lang="fa-IR"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Text 2"/>
          <p:cNvSpPr txBox="1"/>
          <p:nvPr/>
        </p:nvSpPr>
        <p:spPr>
          <a:xfrm>
            <a:off x="10543032" y="2377440"/>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تعاریف</a:t>
            </a:r>
            <a:endParaRPr lang="fa-IR" sz="1250" dirty="0"/>
          </a:p>
        </p:txBody>
      </p:sp>
      <p:sp>
        <p:nvSpPr>
          <p:cNvPr id="8" name="Shape 3">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9" name="Shape 4"/>
          <p:cNvSpPr/>
          <p:nvPr/>
        </p:nvSpPr>
        <p:spPr>
          <a:xfrm>
            <a:off x="10543032" y="2980944"/>
            <a:ext cx="1481328" cy="402336"/>
          </a:xfrm>
          <a:prstGeom prst="roundRect">
            <a:avLst>
              <a:gd name="adj" fmla="val 18182"/>
            </a:avLst>
          </a:prstGeom>
          <a:solidFill>
            <a:srgbClr val="FFC107"/>
          </a:solidFill>
          <a:ln w="12700">
            <a:solidFill>
              <a:srgbClr val="FFC107"/>
            </a:solidFill>
            <a:prstDash val="solid"/>
          </a:ln>
        </p:spPr>
      </p:sp>
      <p:sp>
        <p:nvSpPr>
          <p:cNvPr id="10" name="Text 5"/>
          <p:cNvSpPr txBox="1"/>
          <p:nvPr/>
        </p:nvSpPr>
        <p:spPr>
          <a:xfrm>
            <a:off x="10543032" y="2980944"/>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کلیات</a:t>
            </a:r>
            <a:endParaRPr lang="fa-IR" sz="1250" dirty="0"/>
          </a:p>
        </p:txBody>
      </p:sp>
      <p:sp>
        <p:nvSpPr>
          <p:cNvPr id="11" name="Shape 6">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2" name="Text 7"/>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3" name="Shape 8">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4" name="Text 9"/>
          <p:cNvSpPr txBox="1"/>
          <p:nvPr/>
        </p:nvSpPr>
        <p:spPr>
          <a:xfrm>
            <a:off x="10543032" y="4187952"/>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وظایف</a:t>
            </a:r>
            <a:endParaRPr lang="fa-IR" sz="1250" dirty="0"/>
          </a:p>
        </p:txBody>
      </p:sp>
      <p:sp>
        <p:nvSpPr>
          <p:cNvPr id="15" name="Shape 10">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۲۰</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ارائه اطلاعات و مراکز نظامی</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General Provisions — Articles 2-16</a:t>
            </a:r>
            <a:endParaRPr lang="en-US" sz="1550" dirty="0"/>
          </a:p>
        </p:txBody>
      </p:sp>
      <p:sp>
        <p:nvSpPr>
          <p:cNvPr id="25" name="Shape 18"/>
          <p:cNvSpPr/>
          <p:nvPr/>
        </p:nvSpPr>
        <p:spPr>
          <a:xfrm>
            <a:off x="548640" y="1572768"/>
            <a:ext cx="9418320" cy="1686471"/>
          </a:xfrm>
          <a:prstGeom prst="roundRect">
            <a:avLst>
              <a:gd name="adj" fmla="val 6506"/>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26" name="Shape 19"/>
          <p:cNvSpPr/>
          <p:nvPr/>
        </p:nvSpPr>
        <p:spPr>
          <a:xfrm>
            <a:off x="9098280" y="1755648"/>
            <a:ext cx="658368" cy="658368"/>
          </a:xfrm>
          <a:prstGeom prst="ellipse">
            <a:avLst/>
          </a:prstGeom>
          <a:solidFill>
            <a:srgbClr val="0D3B8C"/>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27" name="Text 20"/>
          <p:cNvSpPr txBox="1"/>
          <p:nvPr/>
        </p:nvSpPr>
        <p:spPr>
          <a:xfrm>
            <a:off x="90525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۵</a:t>
            </a:r>
            <a:endParaRPr lang="fa-IR" sz="1500" dirty="0"/>
          </a:p>
        </p:txBody>
      </p:sp>
      <p:sp>
        <p:nvSpPr>
          <p:cNvPr id="28" name="Text 21"/>
          <p:cNvSpPr txBox="1"/>
          <p:nvPr/>
        </p:nvSpPr>
        <p:spPr>
          <a:xfrm>
            <a:off x="822960" y="1737360"/>
            <a:ext cx="8092440" cy="1412151"/>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00" b="1" dirty="0">
                <a:solidFill>
                  <a:srgbClr val="0D3B8C"/>
                </a:solidFill>
                <a:latin typeface="B Nazanin" pitchFamily="34" charset="0"/>
                <a:ea typeface="B Nazanin" pitchFamily="34" charset="-122"/>
                <a:cs typeface="B Nazanin" pitchFamily="34" charset="-120"/>
              </a:rPr>
              <a:t>ماده ۵ — ارائه اطلاعات به بازرسان</a:t>
            </a:r>
            <a:endParaRPr lang="fa-IR" sz="1800" dirty="0"/>
          </a:p>
          <a:p>
            <a:pPr rtl="1" algn="r" indent="0" marL="0">
              <a:lnSpc>
                <a:spcPct val="112000"/>
              </a:lnSpc>
              <a:spcAft>
                <a:spcPts val="300"/>
              </a:spcAft>
              <a:buNone/>
            </a:pPr>
            <a:r>
              <a:rPr lang="fa-IR" altLang="en-US" sz="1550" dirty="0">
                <a:solidFill>
                  <a:srgbClr val="37474F"/>
                </a:solidFill>
                <a:latin typeface="B Nazanin" pitchFamily="34" charset="0"/>
                <a:ea typeface="B Nazanin" pitchFamily="34" charset="-122"/>
                <a:cs typeface="B Nazanin" pitchFamily="34" charset="-120"/>
              </a:rPr>
              <a:t>مراکز و اماکن مشمول این آئین نامه، وزارتخانه ها، سازمان ها، مؤسسات و مراکز دولتی، خصوصی و عمومی، مراکز نظامی و انتظامی، همچنین شرکت ها و مؤسسات و اشخاص حقیقی و حقوقی موظفند ضمن رعایت این آئین نامه، اطلاعات درخواستی مرتبط را در اختیار بازرسان قرار دهند.</a:t>
            </a:r>
            <a:endParaRPr lang="fa-IR" sz="1800" dirty="0"/>
          </a:p>
        </p:txBody>
      </p:sp>
      <p:sp>
        <p:nvSpPr>
          <p:cNvPr id="29" name="Shape 22"/>
          <p:cNvSpPr/>
          <p:nvPr/>
        </p:nvSpPr>
        <p:spPr>
          <a:xfrm>
            <a:off x="548640" y="3442119"/>
            <a:ext cx="9418320" cy="1259605"/>
          </a:xfrm>
          <a:prstGeom prst="roundRect">
            <a:avLst>
              <a:gd name="adj" fmla="val 8711"/>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0" name="Shape 23"/>
          <p:cNvSpPr/>
          <p:nvPr/>
        </p:nvSpPr>
        <p:spPr>
          <a:xfrm>
            <a:off x="9098280" y="3624999"/>
            <a:ext cx="658368" cy="658368"/>
          </a:xfrm>
          <a:prstGeom prst="ellipse">
            <a:avLst/>
          </a:prstGeom>
          <a:solidFill>
            <a:srgbClr val="1E88E5"/>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1" name="Text 24"/>
          <p:cNvSpPr txBox="1"/>
          <p:nvPr/>
        </p:nvSpPr>
        <p:spPr>
          <a:xfrm>
            <a:off x="9052560" y="3624999"/>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۶</a:t>
            </a:r>
            <a:endParaRPr lang="fa-IR" sz="1500" dirty="0"/>
          </a:p>
        </p:txBody>
      </p:sp>
      <p:sp>
        <p:nvSpPr>
          <p:cNvPr id="32" name="Text 25"/>
          <p:cNvSpPr txBox="1"/>
          <p:nvPr/>
        </p:nvSpPr>
        <p:spPr>
          <a:xfrm>
            <a:off x="822960" y="3606711"/>
            <a:ext cx="8092440" cy="985285"/>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00" b="1" dirty="0">
                <a:solidFill>
                  <a:srgbClr val="1E88E5"/>
                </a:solidFill>
                <a:latin typeface="B Nazanin" pitchFamily="34" charset="0"/>
                <a:ea typeface="B Nazanin" pitchFamily="34" charset="-122"/>
                <a:cs typeface="B Nazanin" pitchFamily="34" charset="-120"/>
              </a:rPr>
              <a:t>ماده ۶ — مراکز نظامی و انتظامی</a:t>
            </a:r>
            <a:endParaRPr lang="fa-IR" sz="1800" dirty="0"/>
          </a:p>
          <a:p>
            <a:pPr rtl="1" algn="r" indent="0" marL="0">
              <a:lnSpc>
                <a:spcPct val="112000"/>
              </a:lnSpc>
              <a:spcAft>
                <a:spcPts val="300"/>
              </a:spcAft>
              <a:buNone/>
            </a:pPr>
            <a:r>
              <a:rPr lang="fa-IR" altLang="en-US" sz="1550" dirty="0">
                <a:solidFill>
                  <a:srgbClr val="37474F"/>
                </a:solidFill>
                <a:latin typeface="B Nazanin" pitchFamily="34" charset="0"/>
                <a:ea typeface="B Nazanin" pitchFamily="34" charset="-122"/>
                <a:cs typeface="B Nazanin" pitchFamily="34" charset="-120"/>
              </a:rPr>
              <a:t>مراکز نظامی و انتظامی (پادگان ها، مراکز نظامی و انتظامی حساس) موظفند با اخذ تمهیدات لازم نسبت به رعایت این آیین نامه اقدام نمایند.</a:t>
            </a:r>
            <a:endParaRPr lang="fa-IR" sz="1800" dirty="0"/>
          </a:p>
        </p:txBody>
      </p:sp>
      <p:sp>
        <p:nvSpPr>
          <p:cNvPr id="33" name="Shape 26"/>
          <p:cNvSpPr/>
          <p:nvPr/>
        </p:nvSpPr>
        <p:spPr>
          <a:xfrm>
            <a:off x="548640" y="4884604"/>
            <a:ext cx="9418320" cy="1287596"/>
          </a:xfrm>
          <a:prstGeom prst="roundRect">
            <a:avLst>
              <a:gd name="adj" fmla="val 8522"/>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4" name="Shape 27"/>
          <p:cNvSpPr/>
          <p:nvPr/>
        </p:nvSpPr>
        <p:spPr>
          <a:xfrm>
            <a:off x="9098280" y="5067484"/>
            <a:ext cx="658368" cy="658368"/>
          </a:xfrm>
          <a:prstGeom prst="ellipse">
            <a:avLst/>
          </a:prstGeom>
          <a:solidFill>
            <a:srgbClr val="43A047"/>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5" name="Text 28"/>
          <p:cNvSpPr txBox="1"/>
          <p:nvPr/>
        </p:nvSpPr>
        <p:spPr>
          <a:xfrm>
            <a:off x="9052560" y="5067484"/>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۷</a:t>
            </a:r>
            <a:endParaRPr lang="fa-IR" sz="1500" dirty="0"/>
          </a:p>
        </p:txBody>
      </p:sp>
      <p:sp>
        <p:nvSpPr>
          <p:cNvPr id="36" name="Text 29"/>
          <p:cNvSpPr txBox="1"/>
          <p:nvPr/>
        </p:nvSpPr>
        <p:spPr>
          <a:xfrm>
            <a:off x="822960" y="5049196"/>
            <a:ext cx="8092440" cy="1013276"/>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00" b="1" dirty="0">
                <a:solidFill>
                  <a:srgbClr val="43A047"/>
                </a:solidFill>
                <a:latin typeface="B Nazanin" pitchFamily="34" charset="0"/>
                <a:ea typeface="B Nazanin" pitchFamily="34" charset="-122"/>
                <a:cs typeface="B Nazanin" pitchFamily="34" charset="-120"/>
              </a:rPr>
              <a:t>ماده ۷ — هماهنگی بازرسی مراکز حساس</a:t>
            </a:r>
            <a:endParaRPr lang="fa-IR" sz="1800" dirty="0"/>
          </a:p>
          <a:p>
            <a:pPr rtl="1" algn="r" indent="0" marL="0">
              <a:lnSpc>
                <a:spcPct val="112000"/>
              </a:lnSpc>
              <a:spcAft>
                <a:spcPts val="300"/>
              </a:spcAft>
              <a:buNone/>
            </a:pPr>
            <a:r>
              <a:rPr lang="fa-IR" altLang="en-US" sz="1550" dirty="0">
                <a:solidFill>
                  <a:srgbClr val="37474F"/>
                </a:solidFill>
                <a:latin typeface="B Nazanin" pitchFamily="34" charset="0"/>
                <a:ea typeface="B Nazanin" pitchFamily="34" charset="-122"/>
                <a:cs typeface="B Nazanin" pitchFamily="34" charset="-120"/>
              </a:rPr>
              <a:t>وزارت موظف است جهت کنترل و بازرسی های بهداشتی از پادگان ها، مراکز نظامی و انتظامی حساس هماهنگی های لازم را با مسئولین مربوطه به عمل آورند.</a:t>
            </a:r>
            <a:endParaRPr lang="fa-IR"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Text 2"/>
          <p:cNvSpPr txBox="1"/>
          <p:nvPr/>
        </p:nvSpPr>
        <p:spPr>
          <a:xfrm>
            <a:off x="10543032" y="2377440"/>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تعاریف</a:t>
            </a:r>
            <a:endParaRPr lang="fa-IR" sz="1250" dirty="0"/>
          </a:p>
        </p:txBody>
      </p:sp>
      <p:sp>
        <p:nvSpPr>
          <p:cNvPr id="8" name="Shape 3">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9" name="Shape 4"/>
          <p:cNvSpPr/>
          <p:nvPr/>
        </p:nvSpPr>
        <p:spPr>
          <a:xfrm>
            <a:off x="10543032" y="2980944"/>
            <a:ext cx="1481328" cy="402336"/>
          </a:xfrm>
          <a:prstGeom prst="roundRect">
            <a:avLst>
              <a:gd name="adj" fmla="val 18182"/>
            </a:avLst>
          </a:prstGeom>
          <a:solidFill>
            <a:srgbClr val="FFC107"/>
          </a:solidFill>
          <a:ln w="12700">
            <a:solidFill>
              <a:srgbClr val="FFC107"/>
            </a:solidFill>
            <a:prstDash val="solid"/>
          </a:ln>
        </p:spPr>
      </p:sp>
      <p:sp>
        <p:nvSpPr>
          <p:cNvPr id="10" name="Text 5"/>
          <p:cNvSpPr txBox="1"/>
          <p:nvPr/>
        </p:nvSpPr>
        <p:spPr>
          <a:xfrm>
            <a:off x="10543032" y="2980944"/>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کلیات</a:t>
            </a:r>
            <a:endParaRPr lang="fa-IR" sz="1250" dirty="0"/>
          </a:p>
        </p:txBody>
      </p:sp>
      <p:sp>
        <p:nvSpPr>
          <p:cNvPr id="11" name="Shape 6">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2" name="Text 7"/>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3" name="Shape 8">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4" name="Text 9"/>
          <p:cNvSpPr txBox="1"/>
          <p:nvPr/>
        </p:nvSpPr>
        <p:spPr>
          <a:xfrm>
            <a:off x="10543032" y="4187952"/>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وظایف</a:t>
            </a:r>
            <a:endParaRPr lang="fa-IR" sz="1250" dirty="0"/>
          </a:p>
        </p:txBody>
      </p:sp>
      <p:sp>
        <p:nvSpPr>
          <p:cNvPr id="15" name="Shape 10">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۲۱</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آموزش اصناف، تبلیغات و رسانه‌ها</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General Provisions — Articles 2-16</a:t>
            </a:r>
            <a:endParaRPr lang="en-US" sz="1550" dirty="0"/>
          </a:p>
        </p:txBody>
      </p:sp>
      <p:sp>
        <p:nvSpPr>
          <p:cNvPr id="25" name="Shape 18"/>
          <p:cNvSpPr/>
          <p:nvPr/>
        </p:nvSpPr>
        <p:spPr>
          <a:xfrm>
            <a:off x="548640" y="1572768"/>
            <a:ext cx="9418320" cy="1335623"/>
          </a:xfrm>
          <a:prstGeom prst="roundRect">
            <a:avLst>
              <a:gd name="adj" fmla="val 8215"/>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26" name="Shape 19"/>
          <p:cNvSpPr/>
          <p:nvPr/>
        </p:nvSpPr>
        <p:spPr>
          <a:xfrm>
            <a:off x="9098280" y="1755648"/>
            <a:ext cx="658368" cy="658368"/>
          </a:xfrm>
          <a:prstGeom prst="ellipse">
            <a:avLst/>
          </a:prstGeom>
          <a:solidFill>
            <a:srgbClr val="0D3B8C"/>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27" name="Text 20"/>
          <p:cNvSpPr txBox="1"/>
          <p:nvPr/>
        </p:nvSpPr>
        <p:spPr>
          <a:xfrm>
            <a:off x="90525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۸</a:t>
            </a:r>
            <a:endParaRPr lang="fa-IR" sz="1500" dirty="0"/>
          </a:p>
        </p:txBody>
      </p:sp>
      <p:sp>
        <p:nvSpPr>
          <p:cNvPr id="28" name="Text 21"/>
          <p:cNvSpPr txBox="1"/>
          <p:nvPr/>
        </p:nvSpPr>
        <p:spPr>
          <a:xfrm>
            <a:off x="822960" y="1737360"/>
            <a:ext cx="8092440" cy="1061303"/>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00" b="1" dirty="0">
                <a:solidFill>
                  <a:srgbClr val="0D3B8C"/>
                </a:solidFill>
                <a:latin typeface="B Nazanin" pitchFamily="34" charset="0"/>
                <a:ea typeface="B Nazanin" pitchFamily="34" charset="-122"/>
                <a:cs typeface="B Nazanin" pitchFamily="34" charset="-120"/>
              </a:rPr>
              <a:t>ماده ۸ — دوره آموزشی بهداشت اصناف</a:t>
            </a:r>
            <a:endParaRPr lang="fa-IR" sz="1800" dirty="0"/>
          </a:p>
          <a:p>
            <a:pPr rtl="1" algn="r" indent="0" marL="0">
              <a:lnSpc>
                <a:spcPct val="112000"/>
              </a:lnSpc>
              <a:spcAft>
                <a:spcPts val="300"/>
              </a:spcAft>
              <a:buNone/>
            </a:pPr>
            <a:r>
              <a:rPr lang="fa-IR" altLang="en-US" sz="1550" dirty="0">
                <a:solidFill>
                  <a:srgbClr val="37474F"/>
                </a:solidFill>
                <a:latin typeface="B Nazanin" pitchFamily="34" charset="0"/>
                <a:ea typeface="B Nazanin" pitchFamily="34" charset="-122"/>
                <a:cs typeface="B Nazanin" pitchFamily="34" charset="-120"/>
              </a:rPr>
              <a:t>مدیران، متصدیان و شاغلین مشمول این آیین نامه ملزم به گذراندن دوره آموزشی در آموزشگاه بهداشت اصناف بوده و باید گواهینامه مربوطه را اخذ نمایند.</a:t>
            </a:r>
            <a:endParaRPr lang="fa-IR" sz="1800" dirty="0"/>
          </a:p>
        </p:txBody>
      </p:sp>
      <p:sp>
        <p:nvSpPr>
          <p:cNvPr id="29" name="Shape 22"/>
          <p:cNvSpPr/>
          <p:nvPr/>
        </p:nvSpPr>
        <p:spPr>
          <a:xfrm>
            <a:off x="548640" y="3091271"/>
            <a:ext cx="9418320" cy="1713629"/>
          </a:xfrm>
          <a:prstGeom prst="roundRect">
            <a:avLst>
              <a:gd name="adj" fmla="val 6403"/>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0" name="Shape 23"/>
          <p:cNvSpPr/>
          <p:nvPr/>
        </p:nvSpPr>
        <p:spPr>
          <a:xfrm>
            <a:off x="9098280" y="3274151"/>
            <a:ext cx="658368" cy="658368"/>
          </a:xfrm>
          <a:prstGeom prst="ellipse">
            <a:avLst/>
          </a:prstGeom>
          <a:solidFill>
            <a:srgbClr val="1E88E5"/>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1" name="Text 24"/>
          <p:cNvSpPr txBox="1"/>
          <p:nvPr/>
        </p:nvSpPr>
        <p:spPr>
          <a:xfrm>
            <a:off x="9052560" y="3274151"/>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۹</a:t>
            </a:r>
            <a:endParaRPr lang="fa-IR" sz="1500" dirty="0"/>
          </a:p>
        </p:txBody>
      </p:sp>
      <p:sp>
        <p:nvSpPr>
          <p:cNvPr id="32" name="Text 25"/>
          <p:cNvSpPr txBox="1"/>
          <p:nvPr/>
        </p:nvSpPr>
        <p:spPr>
          <a:xfrm>
            <a:off x="822960" y="3255863"/>
            <a:ext cx="8092440" cy="1439309"/>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00" b="1" dirty="0">
                <a:solidFill>
                  <a:srgbClr val="1E88E5"/>
                </a:solidFill>
                <a:latin typeface="B Nazanin" pitchFamily="34" charset="0"/>
                <a:ea typeface="B Nazanin" pitchFamily="34" charset="-122"/>
                <a:cs typeface="B Nazanin" pitchFamily="34" charset="-120"/>
              </a:rPr>
              <a:t>ماده ۹ — منع تبلیغات گمراه‌کننده</a:t>
            </a:r>
            <a:endParaRPr lang="fa-IR" sz="1800" dirty="0"/>
          </a:p>
          <a:p>
            <a:pPr rtl="1" algn="r" indent="0" marL="0">
              <a:lnSpc>
                <a:spcPct val="112000"/>
              </a:lnSpc>
              <a:spcAft>
                <a:spcPts val="300"/>
              </a:spcAft>
              <a:buNone/>
            </a:pPr>
            <a:r>
              <a:rPr lang="fa-IR" altLang="en-US" sz="1550" dirty="0">
                <a:solidFill>
                  <a:srgbClr val="37474F"/>
                </a:solidFill>
                <a:latin typeface="B Nazanin" pitchFamily="34" charset="0"/>
                <a:ea typeface="B Nazanin" pitchFamily="34" charset="-122"/>
                <a:cs typeface="B Nazanin" pitchFamily="34" charset="-120"/>
              </a:rPr>
              <a:t>مؤسسات ارائه خدمات بهداشت محیط حق انتشار آگهی تبلیغاتی که موجب گمراهی و فریب مردم شود و درج عناوین مجعول و خلاف واقع بر روی تابلو، سربرگ مؤسسه و یا طرق دیگر را ندارند و در صورت مشاهده وزارت مکلف است نسبت به معرفی متخلف به مراجع قضایی اقدام نماید.</a:t>
            </a:r>
            <a:endParaRPr lang="fa-IR" sz="1800" dirty="0"/>
          </a:p>
        </p:txBody>
      </p:sp>
      <p:sp>
        <p:nvSpPr>
          <p:cNvPr id="33" name="Shape 26"/>
          <p:cNvSpPr/>
          <p:nvPr/>
        </p:nvSpPr>
        <p:spPr>
          <a:xfrm>
            <a:off x="548640" y="4987780"/>
            <a:ext cx="9418320" cy="1184420"/>
          </a:xfrm>
          <a:prstGeom prst="roundRect">
            <a:avLst>
              <a:gd name="adj" fmla="val 9264"/>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4" name="Shape 27"/>
          <p:cNvSpPr/>
          <p:nvPr/>
        </p:nvSpPr>
        <p:spPr>
          <a:xfrm>
            <a:off x="9098280" y="5170660"/>
            <a:ext cx="658368" cy="658368"/>
          </a:xfrm>
          <a:prstGeom prst="ellipse">
            <a:avLst/>
          </a:prstGeom>
          <a:solidFill>
            <a:srgbClr val="43A047"/>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5" name="Text 28"/>
          <p:cNvSpPr txBox="1"/>
          <p:nvPr/>
        </p:nvSpPr>
        <p:spPr>
          <a:xfrm>
            <a:off x="9052560" y="5170660"/>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۱۰</a:t>
            </a:r>
            <a:endParaRPr lang="fa-IR" sz="1500" dirty="0"/>
          </a:p>
        </p:txBody>
      </p:sp>
      <p:sp>
        <p:nvSpPr>
          <p:cNvPr id="36" name="Text 29"/>
          <p:cNvSpPr txBox="1"/>
          <p:nvPr/>
        </p:nvSpPr>
        <p:spPr>
          <a:xfrm>
            <a:off x="822960" y="5152372"/>
            <a:ext cx="8092440" cy="910100"/>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00" b="1" dirty="0">
                <a:solidFill>
                  <a:srgbClr val="43A047"/>
                </a:solidFill>
                <a:latin typeface="B Nazanin" pitchFamily="34" charset="0"/>
                <a:ea typeface="B Nazanin" pitchFamily="34" charset="-122"/>
                <a:cs typeface="B Nazanin" pitchFamily="34" charset="-120"/>
              </a:rPr>
              <a:t>ماده ۱۰ — مجوز آگهی در رسانه‌ها</a:t>
            </a:r>
            <a:endParaRPr lang="fa-IR" sz="1800" dirty="0"/>
          </a:p>
          <a:p>
            <a:pPr rtl="1" algn="r" indent="0" marL="0">
              <a:lnSpc>
                <a:spcPct val="112000"/>
              </a:lnSpc>
              <a:spcAft>
                <a:spcPts val="300"/>
              </a:spcAft>
              <a:buNone/>
            </a:pPr>
            <a:r>
              <a:rPr lang="fa-IR" altLang="en-US" sz="1550" dirty="0">
                <a:solidFill>
                  <a:srgbClr val="37474F"/>
                </a:solidFill>
                <a:latin typeface="B Nazanin" pitchFamily="34" charset="0"/>
                <a:ea typeface="B Nazanin" pitchFamily="34" charset="-122"/>
                <a:cs typeface="B Nazanin" pitchFamily="34" charset="-120"/>
              </a:rPr>
              <a:t>کلیه رسانه های گروهی برای درج آگهی های مرتبط با خدمات بهداشت محیط باید از وزارت مجوز دریافت نمایند.</a:t>
            </a:r>
            <a:endParaRPr lang="fa-IR"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Text 2"/>
          <p:cNvSpPr txBox="1"/>
          <p:nvPr/>
        </p:nvSpPr>
        <p:spPr>
          <a:xfrm>
            <a:off x="10543032" y="2377440"/>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تعاریف</a:t>
            </a:r>
            <a:endParaRPr lang="fa-IR" sz="1250" dirty="0"/>
          </a:p>
        </p:txBody>
      </p:sp>
      <p:sp>
        <p:nvSpPr>
          <p:cNvPr id="8" name="Shape 3">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9" name="Shape 4"/>
          <p:cNvSpPr/>
          <p:nvPr/>
        </p:nvSpPr>
        <p:spPr>
          <a:xfrm>
            <a:off x="10543032" y="2980944"/>
            <a:ext cx="1481328" cy="402336"/>
          </a:xfrm>
          <a:prstGeom prst="roundRect">
            <a:avLst>
              <a:gd name="adj" fmla="val 18182"/>
            </a:avLst>
          </a:prstGeom>
          <a:solidFill>
            <a:srgbClr val="FFC107"/>
          </a:solidFill>
          <a:ln w="12700">
            <a:solidFill>
              <a:srgbClr val="FFC107"/>
            </a:solidFill>
            <a:prstDash val="solid"/>
          </a:ln>
        </p:spPr>
      </p:sp>
      <p:sp>
        <p:nvSpPr>
          <p:cNvPr id="10" name="Text 5"/>
          <p:cNvSpPr txBox="1"/>
          <p:nvPr/>
        </p:nvSpPr>
        <p:spPr>
          <a:xfrm>
            <a:off x="10543032" y="2980944"/>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کلیات</a:t>
            </a:r>
            <a:endParaRPr lang="fa-IR" sz="1250" dirty="0"/>
          </a:p>
        </p:txBody>
      </p:sp>
      <p:sp>
        <p:nvSpPr>
          <p:cNvPr id="11" name="Shape 6">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2" name="Text 7"/>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3" name="Shape 8">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4" name="Text 9"/>
          <p:cNvSpPr txBox="1"/>
          <p:nvPr/>
        </p:nvSpPr>
        <p:spPr>
          <a:xfrm>
            <a:off x="10543032" y="4187952"/>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وظایف</a:t>
            </a:r>
            <a:endParaRPr lang="fa-IR" sz="1250" dirty="0"/>
          </a:p>
        </p:txBody>
      </p:sp>
      <p:sp>
        <p:nvSpPr>
          <p:cNvPr id="15" name="Shape 10">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۲۲</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دوره‌گردی و انتشار نتایج بازرسی</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General Provisions — Articles 2-16</a:t>
            </a:r>
            <a:endParaRPr lang="en-US" sz="1550" dirty="0"/>
          </a:p>
        </p:txBody>
      </p:sp>
      <p:sp>
        <p:nvSpPr>
          <p:cNvPr id="25" name="Shape 18"/>
          <p:cNvSpPr/>
          <p:nvPr/>
        </p:nvSpPr>
        <p:spPr>
          <a:xfrm>
            <a:off x="548640" y="1572768"/>
            <a:ext cx="9418320" cy="1187925"/>
          </a:xfrm>
          <a:prstGeom prst="roundRect">
            <a:avLst>
              <a:gd name="adj" fmla="val 9237"/>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26" name="Shape 19"/>
          <p:cNvSpPr/>
          <p:nvPr/>
        </p:nvSpPr>
        <p:spPr>
          <a:xfrm>
            <a:off x="9098280" y="1755648"/>
            <a:ext cx="658368" cy="658368"/>
          </a:xfrm>
          <a:prstGeom prst="ellipse">
            <a:avLst/>
          </a:prstGeom>
          <a:solidFill>
            <a:srgbClr val="C62828"/>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27" name="Text 20"/>
          <p:cNvSpPr txBox="1"/>
          <p:nvPr/>
        </p:nvSpPr>
        <p:spPr>
          <a:xfrm>
            <a:off x="90525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۱۱</a:t>
            </a:r>
            <a:endParaRPr lang="fa-IR" sz="1500" dirty="0"/>
          </a:p>
        </p:txBody>
      </p:sp>
      <p:sp>
        <p:nvSpPr>
          <p:cNvPr id="28" name="Text 21"/>
          <p:cNvSpPr txBox="1"/>
          <p:nvPr/>
        </p:nvSpPr>
        <p:spPr>
          <a:xfrm>
            <a:off x="822960" y="1737360"/>
            <a:ext cx="8092440" cy="913605"/>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00" b="1" dirty="0">
                <a:solidFill>
                  <a:srgbClr val="C62828"/>
                </a:solidFill>
                <a:latin typeface="B Nazanin" pitchFamily="34" charset="0"/>
                <a:ea typeface="B Nazanin" pitchFamily="34" charset="-122"/>
                <a:cs typeface="B Nazanin" pitchFamily="34" charset="-120"/>
              </a:rPr>
              <a:t>ماده ۱۱ — منع دوره‌گردی</a:t>
            </a:r>
            <a:endParaRPr lang="fa-IR" sz="1800" dirty="0"/>
          </a:p>
          <a:p>
            <a:pPr rtl="1" algn="r" indent="0" marL="0">
              <a:lnSpc>
                <a:spcPct val="112000"/>
              </a:lnSpc>
              <a:spcAft>
                <a:spcPts val="300"/>
              </a:spcAft>
              <a:buNone/>
            </a:pPr>
            <a:r>
              <a:rPr lang="fa-IR" altLang="en-US" sz="1550" dirty="0">
                <a:solidFill>
                  <a:srgbClr val="37474F"/>
                </a:solidFill>
                <a:latin typeface="B Nazanin" pitchFamily="34" charset="0"/>
                <a:ea typeface="B Nazanin" pitchFamily="34" charset="-122"/>
                <a:cs typeface="B Nazanin" pitchFamily="34" charset="-120"/>
              </a:rPr>
              <a:t>عرضه و فروش مواد مشمول این آیین نامه که فهرست آن توسط وزارت اعلام می گردد به صورت دوره گردی ممنوع است.</a:t>
            </a:r>
            <a:endParaRPr lang="fa-IR" sz="1800" dirty="0"/>
          </a:p>
        </p:txBody>
      </p:sp>
      <p:sp>
        <p:nvSpPr>
          <p:cNvPr id="29" name="Shape 22"/>
          <p:cNvSpPr/>
          <p:nvPr/>
        </p:nvSpPr>
        <p:spPr>
          <a:xfrm>
            <a:off x="548640" y="2943573"/>
            <a:ext cx="9418320" cy="1692435"/>
          </a:xfrm>
          <a:prstGeom prst="roundRect">
            <a:avLst>
              <a:gd name="adj" fmla="val 6483"/>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0" name="Shape 23"/>
          <p:cNvSpPr/>
          <p:nvPr/>
        </p:nvSpPr>
        <p:spPr>
          <a:xfrm>
            <a:off x="9098280" y="3126453"/>
            <a:ext cx="658368" cy="658368"/>
          </a:xfrm>
          <a:prstGeom prst="ellipse">
            <a:avLst/>
          </a:prstGeom>
          <a:solidFill>
            <a:srgbClr val="0D3B8C"/>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1" name="Text 24"/>
          <p:cNvSpPr txBox="1"/>
          <p:nvPr/>
        </p:nvSpPr>
        <p:spPr>
          <a:xfrm>
            <a:off x="9052560" y="3126453"/>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۱۲</a:t>
            </a:r>
            <a:endParaRPr lang="fa-IR" sz="1500" dirty="0"/>
          </a:p>
        </p:txBody>
      </p:sp>
      <p:sp>
        <p:nvSpPr>
          <p:cNvPr id="32" name="Text 25"/>
          <p:cNvSpPr txBox="1"/>
          <p:nvPr/>
        </p:nvSpPr>
        <p:spPr>
          <a:xfrm>
            <a:off x="822960" y="3108165"/>
            <a:ext cx="8092440" cy="1418115"/>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00" b="1" dirty="0">
                <a:solidFill>
                  <a:srgbClr val="0D3B8C"/>
                </a:solidFill>
                <a:latin typeface="B Nazanin" pitchFamily="34" charset="0"/>
                <a:ea typeface="B Nazanin" pitchFamily="34" charset="-122"/>
                <a:cs typeface="B Nazanin" pitchFamily="34" charset="-120"/>
              </a:rPr>
              <a:t>ماده ۱۲ — انتشار نتایج و رتبه‌بندی بهداشتی</a:t>
            </a:r>
            <a:endParaRPr lang="fa-IR" sz="1800" dirty="0"/>
          </a:p>
          <a:p>
            <a:pPr rtl="1" algn="r" indent="0" marL="0">
              <a:lnSpc>
                <a:spcPct val="112000"/>
              </a:lnSpc>
              <a:spcAft>
                <a:spcPts val="300"/>
              </a:spcAft>
              <a:buNone/>
            </a:pPr>
            <a:r>
              <a:rPr lang="fa-IR" altLang="en-US" sz="1550" dirty="0">
                <a:solidFill>
                  <a:srgbClr val="37474F"/>
                </a:solidFill>
                <a:latin typeface="B Nazanin" pitchFamily="34" charset="0"/>
                <a:ea typeface="B Nazanin" pitchFamily="34" charset="-122"/>
                <a:cs typeface="B Nazanin" pitchFamily="34" charset="-120"/>
              </a:rPr>
              <a:t>وزارت حداکثر یکسال پس از تصویب این آیین نامه ترتیبی اتخاذ خواهد کرد تا حداقل سالی یکبار نتیجه سه بازرسی آخر انجام شده از مراکز و اماکن مشمول این آیین نامه را به نحو مقتضی برای اطلاع عموم مردم و انجام رتبه بندی بهداشتی از طرق مختلف منتشر نماید.</a:t>
            </a:r>
            <a:endParaRPr lang="fa-IR" sz="1800" dirty="0"/>
          </a:p>
        </p:txBody>
      </p:sp>
      <p:sp>
        <p:nvSpPr>
          <p:cNvPr id="33" name="Shape 26"/>
          <p:cNvSpPr/>
          <p:nvPr/>
        </p:nvSpPr>
        <p:spPr>
          <a:xfrm>
            <a:off x="548640" y="4846320"/>
            <a:ext cx="9418320" cy="1325880"/>
          </a:xfrm>
          <a:prstGeom prst="roundRect">
            <a:avLst>
              <a:gd name="adj" fmla="val 8276"/>
            </a:avLst>
          </a:prstGeom>
          <a:solidFill>
            <a:srgbClr val="FFF3C4"/>
          </a:solidFill>
          <a:ln w="15875">
            <a:solidFill>
              <a:srgbClr val="FFC107"/>
            </a:solidFill>
            <a:prstDash val="solid"/>
          </a:ln>
        </p:spPr>
      </p:sp>
      <p:sp>
        <p:nvSpPr>
          <p:cNvPr id="34" name="Shape 27"/>
          <p:cNvSpPr/>
          <p:nvPr/>
        </p:nvSpPr>
        <p:spPr>
          <a:xfrm>
            <a:off x="9198864" y="5029200"/>
            <a:ext cx="603504" cy="603504"/>
          </a:xfrm>
          <a:prstGeom prst="ellipse">
            <a:avLst/>
          </a:prstGeom>
          <a:solidFill>
            <a:srgbClr val="FFC107"/>
          </a:solidFill>
          <a:ln w="25400">
            <a:solidFill>
              <a:srgbClr val="FFFFFF"/>
            </a:solidFill>
            <a:prstDash val="solid"/>
          </a:ln>
        </p:spPr>
      </p:sp>
      <p:pic>
        <p:nvPicPr>
          <p:cNvPr id="35" name="Image 5" descr="/tmp/claude-0/-home-user-Waste/dcb1a03d-345b-5441-8898-3e9a4c6379b1/scratchpad/build/assets/ic-13-lightbulb-plain.png">    </p:cNvPr>
          <p:cNvPicPr>
            <a:picLocks noChangeAspect="1"/>
          </p:cNvPicPr>
          <p:nvPr/>
        </p:nvPicPr>
        <p:blipFill>
          <a:blip r:embed="rId16"/>
          <a:stretch>
            <a:fillRect/>
          </a:stretch>
        </p:blipFill>
        <p:spPr>
          <a:xfrm>
            <a:off x="9317736" y="5148072"/>
            <a:ext cx="365760" cy="365760"/>
          </a:xfrm>
          <a:prstGeom prst="rect">
            <a:avLst/>
          </a:prstGeom>
        </p:spPr>
      </p:pic>
      <p:sp>
        <p:nvSpPr>
          <p:cNvPr id="36" name="Text 28"/>
          <p:cNvSpPr txBox="1"/>
          <p:nvPr/>
        </p:nvSpPr>
        <p:spPr>
          <a:xfrm>
            <a:off x="777240" y="4937760"/>
            <a:ext cx="8275320" cy="1143000"/>
          </a:xfrm>
          <a:prstGeom prst="rect">
            <a:avLst/>
          </a:prstGeom>
          <a:noFill/>
          <a:ln/>
        </p:spPr>
        <p:txBody>
          <a:bodyPr wrap="square" lIns="0" tIns="0" rIns="0" bIns="0" rtlCol="0" anchor="ctr"/>
          <a:lstStyle/>
          <a:p>
            <a:pPr rtl="1" algn="r" indent="0" marL="0">
              <a:lnSpc>
                <a:spcPct val="112000"/>
              </a:lnSpc>
              <a:spcAft>
                <a:spcPts val="300"/>
              </a:spcAft>
              <a:buNone/>
            </a:pPr>
            <a:r>
              <a:rPr lang="fa-IR" altLang="en-US" sz="1600" b="1" dirty="0">
                <a:solidFill>
                  <a:srgbClr val="0D3B8C"/>
                </a:solidFill>
                <a:latin typeface="B Nazanin" pitchFamily="34" charset="0"/>
                <a:ea typeface="B Nazanin" pitchFamily="34" charset="-122"/>
                <a:cs typeface="B Nazanin" pitchFamily="34" charset="-120"/>
              </a:rPr>
              <a:t>تبصره: </a:t>
            </a:r>
            <a:pPr rtl="1" algn="r" indent="0" marL="0">
              <a:lnSpc>
                <a:spcPct val="112000"/>
              </a:lnSpc>
              <a:spcAft>
                <a:spcPts val="300"/>
              </a:spcAft>
              <a:buNone/>
            </a:pPr>
            <a:r>
              <a:rPr lang="fa-IR" altLang="en-US" sz="1600" dirty="0">
                <a:solidFill>
                  <a:srgbClr val="37474F"/>
                </a:solidFill>
                <a:latin typeface="B Nazanin" pitchFamily="34" charset="0"/>
                <a:ea typeface="B Nazanin" pitchFamily="34" charset="-122"/>
                <a:cs typeface="B Nazanin" pitchFamily="34" charset="-120"/>
              </a:rPr>
              <a:t>نحوه اطلاع رسانی، رتبه بندی بهداشتی و اعلام آخرین وضعیت بهداشتی را معاونت بهداشت وزارت تعیین می نماید.</a:t>
            </a:r>
            <a:endParaRPr lang="fa-IR"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Text 2"/>
          <p:cNvSpPr txBox="1"/>
          <p:nvPr/>
        </p:nvSpPr>
        <p:spPr>
          <a:xfrm>
            <a:off x="10543032" y="2377440"/>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تعاریف</a:t>
            </a:r>
            <a:endParaRPr lang="fa-IR" sz="1250" dirty="0"/>
          </a:p>
        </p:txBody>
      </p:sp>
      <p:sp>
        <p:nvSpPr>
          <p:cNvPr id="8" name="Shape 3">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9" name="Shape 4"/>
          <p:cNvSpPr/>
          <p:nvPr/>
        </p:nvSpPr>
        <p:spPr>
          <a:xfrm>
            <a:off x="10543032" y="2980944"/>
            <a:ext cx="1481328" cy="402336"/>
          </a:xfrm>
          <a:prstGeom prst="roundRect">
            <a:avLst>
              <a:gd name="adj" fmla="val 18182"/>
            </a:avLst>
          </a:prstGeom>
          <a:solidFill>
            <a:srgbClr val="FFC107"/>
          </a:solidFill>
          <a:ln w="12700">
            <a:solidFill>
              <a:srgbClr val="FFC107"/>
            </a:solidFill>
            <a:prstDash val="solid"/>
          </a:ln>
        </p:spPr>
      </p:sp>
      <p:sp>
        <p:nvSpPr>
          <p:cNvPr id="10" name="Text 5"/>
          <p:cNvSpPr txBox="1"/>
          <p:nvPr/>
        </p:nvSpPr>
        <p:spPr>
          <a:xfrm>
            <a:off x="10543032" y="2980944"/>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کلیات</a:t>
            </a:r>
            <a:endParaRPr lang="fa-IR" sz="1250" dirty="0"/>
          </a:p>
        </p:txBody>
      </p:sp>
      <p:sp>
        <p:nvSpPr>
          <p:cNvPr id="11" name="Shape 6">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2" name="Text 7"/>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3" name="Shape 8">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4" name="Text 9"/>
          <p:cNvSpPr txBox="1"/>
          <p:nvPr/>
        </p:nvSpPr>
        <p:spPr>
          <a:xfrm>
            <a:off x="10543032" y="4187952"/>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وظایف</a:t>
            </a:r>
            <a:endParaRPr lang="fa-IR" sz="1250" dirty="0"/>
          </a:p>
        </p:txBody>
      </p:sp>
      <p:sp>
        <p:nvSpPr>
          <p:cNvPr id="15" name="Shape 10">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۲۳</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دستورالعمل‌ها و چک لیست‌ها</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General Provisions — Articles 2-16</a:t>
            </a:r>
            <a:endParaRPr lang="en-US" sz="1550" dirty="0"/>
          </a:p>
        </p:txBody>
      </p:sp>
      <p:sp>
        <p:nvSpPr>
          <p:cNvPr id="25" name="Shape 18"/>
          <p:cNvSpPr/>
          <p:nvPr/>
        </p:nvSpPr>
        <p:spPr>
          <a:xfrm>
            <a:off x="548640" y="1572768"/>
            <a:ext cx="9418320" cy="957416"/>
          </a:xfrm>
          <a:prstGeom prst="roundRect">
            <a:avLst>
              <a:gd name="adj" fmla="val 11461"/>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26" name="Shape 19"/>
          <p:cNvSpPr/>
          <p:nvPr/>
        </p:nvSpPr>
        <p:spPr>
          <a:xfrm>
            <a:off x="9098280" y="1755648"/>
            <a:ext cx="658368" cy="658368"/>
          </a:xfrm>
          <a:prstGeom prst="ellipse">
            <a:avLst/>
          </a:prstGeom>
          <a:solidFill>
            <a:srgbClr val="0D3B8C"/>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27" name="Text 20"/>
          <p:cNvSpPr txBox="1"/>
          <p:nvPr/>
        </p:nvSpPr>
        <p:spPr>
          <a:xfrm>
            <a:off x="90525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۱۳</a:t>
            </a:r>
            <a:endParaRPr lang="fa-IR" sz="1500" dirty="0"/>
          </a:p>
        </p:txBody>
      </p:sp>
      <p:sp>
        <p:nvSpPr>
          <p:cNvPr id="28" name="Text 21"/>
          <p:cNvSpPr txBox="1"/>
          <p:nvPr/>
        </p:nvSpPr>
        <p:spPr>
          <a:xfrm>
            <a:off x="822960" y="1737360"/>
            <a:ext cx="8092440" cy="683096"/>
          </a:xfrm>
          <a:prstGeom prst="rect">
            <a:avLst/>
          </a:prstGeom>
          <a:noFill/>
          <a:ln/>
        </p:spPr>
        <p:txBody>
          <a:bodyPr wrap="square" lIns="0" tIns="0" rIns="0" bIns="0" rtlCol="0" anchor="t"/>
          <a:lstStyle/>
          <a:p>
            <a:pPr rtl="1" algn="r" indent="0" marL="0">
              <a:lnSpc>
                <a:spcPct val="112000"/>
              </a:lnSpc>
              <a:spcAft>
                <a:spcPts val="300"/>
              </a:spcAft>
              <a:buNone/>
            </a:pPr>
            <a:r>
              <a:rPr lang="fa-IR" altLang="en-US" sz="1650" b="1" dirty="0">
                <a:solidFill>
                  <a:srgbClr val="0D3B8C"/>
                </a:solidFill>
                <a:latin typeface="B Nazanin" pitchFamily="34" charset="0"/>
                <a:ea typeface="B Nazanin" pitchFamily="34" charset="-122"/>
                <a:cs typeface="B Nazanin" pitchFamily="34" charset="-120"/>
              </a:rPr>
              <a:t>ماده ۱۳ — مهلت تهیه دستورالعمل‌ها</a:t>
            </a:r>
            <a:endParaRPr lang="fa-IR" sz="1650" dirty="0"/>
          </a:p>
          <a:p>
            <a:pPr rtl="1" algn="r" indent="0" marL="0">
              <a:lnSpc>
                <a:spcPct val="112000"/>
              </a:lnSpc>
              <a:spcAft>
                <a:spcPts val="300"/>
              </a:spcAft>
              <a:buNone/>
            </a:pPr>
            <a:r>
              <a:rPr lang="fa-IR" altLang="en-US" sz="1400" dirty="0">
                <a:solidFill>
                  <a:srgbClr val="37474F"/>
                </a:solidFill>
                <a:latin typeface="B Nazanin" pitchFamily="34" charset="0"/>
                <a:ea typeface="B Nazanin" pitchFamily="34" charset="-122"/>
                <a:cs typeface="B Nazanin" pitchFamily="34" charset="-120"/>
              </a:rPr>
              <a:t>معاونت بهداشت وزارت موظف است حداکثر طی مدت سه ماه از تاریخ تصویب و ابلاغ این آیین نامه نسبت به تهیه دستورالعمل ها، چک لیست ها، ضوابط و راهنماهای اجرایی اقدام نماید.</a:t>
            </a:r>
            <a:endParaRPr lang="fa-IR" sz="1650" dirty="0"/>
          </a:p>
        </p:txBody>
      </p:sp>
      <p:sp>
        <p:nvSpPr>
          <p:cNvPr id="29" name="Shape 22"/>
          <p:cNvSpPr/>
          <p:nvPr/>
        </p:nvSpPr>
        <p:spPr>
          <a:xfrm>
            <a:off x="548640" y="2713064"/>
            <a:ext cx="9418320" cy="765447"/>
          </a:xfrm>
          <a:prstGeom prst="roundRect">
            <a:avLst>
              <a:gd name="adj" fmla="val 14335"/>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0" name="Shape 23"/>
          <p:cNvSpPr/>
          <p:nvPr/>
        </p:nvSpPr>
        <p:spPr>
          <a:xfrm>
            <a:off x="9098280" y="2895944"/>
            <a:ext cx="658368" cy="658368"/>
          </a:xfrm>
          <a:prstGeom prst="ellipse">
            <a:avLst/>
          </a:prstGeom>
          <a:solidFill>
            <a:srgbClr val="1E88E5"/>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1" name="Text 24"/>
          <p:cNvSpPr txBox="1"/>
          <p:nvPr/>
        </p:nvSpPr>
        <p:spPr>
          <a:xfrm>
            <a:off x="9052560" y="2895944"/>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۱۴</a:t>
            </a:r>
            <a:endParaRPr lang="fa-IR" sz="1500" dirty="0"/>
          </a:p>
        </p:txBody>
      </p:sp>
      <p:sp>
        <p:nvSpPr>
          <p:cNvPr id="32" name="Text 25"/>
          <p:cNvSpPr txBox="1"/>
          <p:nvPr/>
        </p:nvSpPr>
        <p:spPr>
          <a:xfrm>
            <a:off x="822960" y="2877656"/>
            <a:ext cx="8092440" cy="491127"/>
          </a:xfrm>
          <a:prstGeom prst="rect">
            <a:avLst/>
          </a:prstGeom>
          <a:noFill/>
          <a:ln/>
        </p:spPr>
        <p:txBody>
          <a:bodyPr wrap="square" lIns="0" tIns="0" rIns="0" bIns="0" rtlCol="0" anchor="t"/>
          <a:lstStyle/>
          <a:p>
            <a:pPr rtl="1" algn="r" indent="0" marL="0">
              <a:lnSpc>
                <a:spcPct val="112000"/>
              </a:lnSpc>
              <a:spcAft>
                <a:spcPts val="300"/>
              </a:spcAft>
              <a:buNone/>
            </a:pPr>
            <a:r>
              <a:rPr lang="fa-IR" altLang="en-US" sz="1650" b="1" dirty="0">
                <a:solidFill>
                  <a:srgbClr val="1E88E5"/>
                </a:solidFill>
                <a:latin typeface="B Nazanin" pitchFamily="34" charset="0"/>
                <a:ea typeface="B Nazanin" pitchFamily="34" charset="-122"/>
                <a:cs typeface="B Nazanin" pitchFamily="34" charset="-120"/>
              </a:rPr>
              <a:t>ماده ۱۴ — چک لیست واحدهای صنفی</a:t>
            </a:r>
            <a:endParaRPr lang="fa-IR" sz="1650" dirty="0"/>
          </a:p>
          <a:p>
            <a:pPr rtl="1" algn="r" indent="0" marL="0">
              <a:lnSpc>
                <a:spcPct val="112000"/>
              </a:lnSpc>
              <a:spcAft>
                <a:spcPts val="300"/>
              </a:spcAft>
              <a:buNone/>
            </a:pPr>
            <a:r>
              <a:rPr lang="fa-IR" altLang="en-US" sz="1400" dirty="0">
                <a:solidFill>
                  <a:srgbClr val="37474F"/>
                </a:solidFill>
                <a:latin typeface="B Nazanin" pitchFamily="34" charset="0"/>
                <a:ea typeface="B Nazanin" pitchFamily="34" charset="-122"/>
                <a:cs typeface="B Nazanin" pitchFamily="34" charset="-120"/>
              </a:rPr>
              <a:t>تهیه چک لیست های اختصاصی مرتبط با واحد های صنفی با همکاری شورای اصناف کشور خواهد بود.</a:t>
            </a:r>
            <a:endParaRPr lang="fa-IR" sz="1650" dirty="0"/>
          </a:p>
        </p:txBody>
      </p:sp>
      <p:sp>
        <p:nvSpPr>
          <p:cNvPr id="33" name="Shape 26"/>
          <p:cNvSpPr/>
          <p:nvPr/>
        </p:nvSpPr>
        <p:spPr>
          <a:xfrm>
            <a:off x="548640" y="3661390"/>
            <a:ext cx="9418320" cy="1040035"/>
          </a:xfrm>
          <a:prstGeom prst="roundRect">
            <a:avLst>
              <a:gd name="adj" fmla="val 10550"/>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4" name="Shape 27"/>
          <p:cNvSpPr/>
          <p:nvPr/>
        </p:nvSpPr>
        <p:spPr>
          <a:xfrm>
            <a:off x="9098280" y="3844270"/>
            <a:ext cx="658368" cy="658368"/>
          </a:xfrm>
          <a:prstGeom prst="ellipse">
            <a:avLst/>
          </a:prstGeom>
          <a:solidFill>
            <a:srgbClr val="43A047"/>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5" name="Text 28"/>
          <p:cNvSpPr txBox="1"/>
          <p:nvPr/>
        </p:nvSpPr>
        <p:spPr>
          <a:xfrm>
            <a:off x="9052560" y="3844270"/>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۱۵</a:t>
            </a:r>
            <a:endParaRPr lang="fa-IR" sz="1500" dirty="0"/>
          </a:p>
        </p:txBody>
      </p:sp>
      <p:sp>
        <p:nvSpPr>
          <p:cNvPr id="36" name="Text 29"/>
          <p:cNvSpPr txBox="1"/>
          <p:nvPr/>
        </p:nvSpPr>
        <p:spPr>
          <a:xfrm>
            <a:off x="822960" y="3825982"/>
            <a:ext cx="8092440" cy="765715"/>
          </a:xfrm>
          <a:prstGeom prst="rect">
            <a:avLst/>
          </a:prstGeom>
          <a:noFill/>
          <a:ln/>
        </p:spPr>
        <p:txBody>
          <a:bodyPr wrap="square" lIns="0" tIns="0" rIns="0" bIns="0" rtlCol="0" anchor="t"/>
          <a:lstStyle/>
          <a:p>
            <a:pPr rtl="1" algn="r" indent="0" marL="0">
              <a:lnSpc>
                <a:spcPct val="112000"/>
              </a:lnSpc>
              <a:spcAft>
                <a:spcPts val="300"/>
              </a:spcAft>
              <a:buNone/>
            </a:pPr>
            <a:r>
              <a:rPr lang="fa-IR" altLang="en-US" sz="1650" b="1" dirty="0">
                <a:solidFill>
                  <a:srgbClr val="43A047"/>
                </a:solidFill>
                <a:latin typeface="B Nazanin" pitchFamily="34" charset="0"/>
                <a:ea typeface="B Nazanin" pitchFamily="34" charset="-122"/>
                <a:cs typeface="B Nazanin" pitchFamily="34" charset="-120"/>
              </a:rPr>
              <a:t>ماده ۱۵ — چک لیست فروشگاه‌های گوشت، آبزیان و طیور</a:t>
            </a:r>
            <a:endParaRPr lang="fa-IR" sz="1650" dirty="0"/>
          </a:p>
          <a:p>
            <a:pPr rtl="1" algn="r" indent="0" marL="0">
              <a:lnSpc>
                <a:spcPct val="112000"/>
              </a:lnSpc>
              <a:spcAft>
                <a:spcPts val="300"/>
              </a:spcAft>
              <a:buNone/>
            </a:pPr>
            <a:r>
              <a:rPr lang="fa-IR" altLang="en-US" sz="1400" dirty="0">
                <a:solidFill>
                  <a:srgbClr val="37474F"/>
                </a:solidFill>
                <a:latin typeface="B Nazanin" pitchFamily="34" charset="0"/>
                <a:ea typeface="B Nazanin" pitchFamily="34" charset="-122"/>
                <a:cs typeface="B Nazanin" pitchFamily="34" charset="-120"/>
              </a:rPr>
              <a:t>تهیه چک لیست های اختصاصی مرتبط با فروشگاه های گوشت قرمز و سفید (عمده و خرده فروشی)، فرآورده های خوراکی آبزیان، میگو، طیور، آلایش خوراک دامی و مواد پروتئینی، با همکاری سازمان دامپزشکی کشور خواهد بود.</a:t>
            </a:r>
            <a:endParaRPr lang="fa-IR" sz="1650" dirty="0"/>
          </a:p>
        </p:txBody>
      </p:sp>
      <p:sp>
        <p:nvSpPr>
          <p:cNvPr id="37" name="Shape 30"/>
          <p:cNvSpPr/>
          <p:nvPr/>
        </p:nvSpPr>
        <p:spPr>
          <a:xfrm>
            <a:off x="548640" y="4884306"/>
            <a:ext cx="9418320" cy="1287894"/>
          </a:xfrm>
          <a:prstGeom prst="roundRect">
            <a:avLst>
              <a:gd name="adj" fmla="val 8520"/>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8" name="Shape 31"/>
          <p:cNvSpPr/>
          <p:nvPr/>
        </p:nvSpPr>
        <p:spPr>
          <a:xfrm>
            <a:off x="9098280" y="5067186"/>
            <a:ext cx="658368" cy="658368"/>
          </a:xfrm>
          <a:prstGeom prst="ellipse">
            <a:avLst/>
          </a:prstGeom>
          <a:solidFill>
            <a:srgbClr val="FFC107"/>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9" name="Text 32"/>
          <p:cNvSpPr txBox="1"/>
          <p:nvPr/>
        </p:nvSpPr>
        <p:spPr>
          <a:xfrm>
            <a:off x="9052560" y="5067186"/>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۱۶</a:t>
            </a:r>
            <a:endParaRPr lang="fa-IR" sz="1500" dirty="0"/>
          </a:p>
        </p:txBody>
      </p:sp>
      <p:sp>
        <p:nvSpPr>
          <p:cNvPr id="40" name="Text 33"/>
          <p:cNvSpPr txBox="1"/>
          <p:nvPr/>
        </p:nvSpPr>
        <p:spPr>
          <a:xfrm>
            <a:off x="822960" y="5048898"/>
            <a:ext cx="8092440" cy="1013574"/>
          </a:xfrm>
          <a:prstGeom prst="rect">
            <a:avLst/>
          </a:prstGeom>
          <a:noFill/>
          <a:ln/>
        </p:spPr>
        <p:txBody>
          <a:bodyPr wrap="square" lIns="0" tIns="0" rIns="0" bIns="0" rtlCol="0" anchor="t"/>
          <a:lstStyle/>
          <a:p>
            <a:pPr rtl="1" algn="r" indent="0" marL="0">
              <a:lnSpc>
                <a:spcPct val="112000"/>
              </a:lnSpc>
              <a:spcAft>
                <a:spcPts val="300"/>
              </a:spcAft>
              <a:buNone/>
            </a:pPr>
            <a:r>
              <a:rPr lang="fa-IR" altLang="en-US" sz="1650" b="1" dirty="0">
                <a:solidFill>
                  <a:srgbClr val="0D3B8C"/>
                </a:solidFill>
                <a:latin typeface="B Nazanin" pitchFamily="34" charset="0"/>
                <a:ea typeface="B Nazanin" pitchFamily="34" charset="-122"/>
                <a:cs typeface="B Nazanin" pitchFamily="34" charset="-120"/>
              </a:rPr>
              <a:t>ماده ۱۶ — چک لیست فرآورده‌های خام دامی</a:t>
            </a:r>
            <a:endParaRPr lang="fa-IR" sz="1650" dirty="0"/>
          </a:p>
          <a:p>
            <a:pPr rtl="1" algn="r" indent="0" marL="0">
              <a:lnSpc>
                <a:spcPct val="112000"/>
              </a:lnSpc>
              <a:spcAft>
                <a:spcPts val="300"/>
              </a:spcAft>
              <a:buNone/>
            </a:pPr>
            <a:r>
              <a:rPr lang="fa-IR" altLang="en-US" sz="1400" dirty="0">
                <a:solidFill>
                  <a:srgbClr val="37474F"/>
                </a:solidFill>
                <a:latin typeface="B Nazanin" pitchFamily="34" charset="0"/>
                <a:ea typeface="B Nazanin" pitchFamily="34" charset="-122"/>
                <a:cs typeface="B Nazanin" pitchFamily="34" charset="-120"/>
              </a:rPr>
              <a:t>تهیه چک لیست های اختصاصی مرتبط با محصولات و فرآورده های خام دامی به منظور اعمال کنترل و نظارت های بهداشتی در فروشگاه های گوشت قرمز و سفید (عمده و خرده فروشی)، فراورده های خوراکی آبزیان، میگو، طیور، آلایش خوراک دامی و مواد پروتئینی، توسط سازمان دامپزشکی کشور و با همکاری معاونت بهداشت وزارت خواهد بود.</a:t>
            </a:r>
            <a:endParaRPr lang="fa-IR" sz="1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65760"/>
            <a:ext cx="731520" cy="731520"/>
          </a:xfrm>
          <a:prstGeom prst="ellipse">
            <a:avLst/>
          </a:prstGeom>
          <a:solidFill>
            <a:srgbClr val="FFFFFF"/>
          </a:solidFill>
          <a:ln w="25400">
            <a:solidFill>
              <a:srgbClr val="FFC107"/>
            </a:solidFill>
            <a:prstDash val="solid"/>
          </a:ln>
        </p:spPr>
      </p:sp>
      <p:pic>
        <p:nvPicPr>
          <p:cNvPr id="3" name="Image 0" descr="/tmp/claude-0/-home-user-Waste/dcb1a03d-345b-5441-8898-3e9a4c6379b1/scratchpad/build/assets/logo.png">    </p:cNvPr>
          <p:cNvPicPr>
            <a:picLocks noChangeAspect="1"/>
          </p:cNvPicPr>
          <p:nvPr/>
        </p:nvPicPr>
        <p:blipFill>
          <a:blip r:embed="rId2"/>
          <a:stretch>
            <a:fillRect/>
          </a:stretch>
        </p:blipFill>
        <p:spPr>
          <a:xfrm>
            <a:off x="521208" y="475488"/>
            <a:ext cx="512064" cy="512064"/>
          </a:xfrm>
          <a:prstGeom prst="rect">
            <a:avLst/>
          </a:prstGeom>
        </p:spPr>
      </p:pic>
      <p:sp>
        <p:nvSpPr>
          <p:cNvPr id="4" name="Shape 1"/>
          <p:cNvSpPr/>
          <p:nvPr/>
        </p:nvSpPr>
        <p:spPr>
          <a:xfrm>
            <a:off x="4489704" y="822960"/>
            <a:ext cx="3200400" cy="2743200"/>
          </a:xfrm>
          <a:prstGeom prst="triangle">
            <a:avLst/>
          </a:prstGeom>
          <a:solidFill>
            <a:srgbClr val="FFC107"/>
          </a:solidFill>
          <a:ln w="12700">
            <a:solidFill>
              <a:srgbClr val="FFD54F"/>
            </a:solidFill>
            <a:prstDash val="solid"/>
          </a:ln>
          <a:effectLst>
            <a:outerShdw sx="100000" sy="100000" kx="0" ky="0" algn="bl" rotWithShape="0" blurRad="127000" dist="38100" dir="5400000">
              <a:srgbClr val="1B2A4A">
                <a:alpha val="18000"/>
              </a:srgbClr>
            </a:outerShdw>
          </a:effectLst>
        </p:spPr>
      </p:sp>
      <p:pic>
        <p:nvPicPr>
          <p:cNvPr id="5" name="Image 1" descr="/tmp/claude-0/-home-user-Waste/dcb1a03d-345b-5441-8898-3e9a4c6379b1/scratchpad/build/assets/ic-50-findinpage-plain.png">    </p:cNvPr>
          <p:cNvPicPr>
            <a:picLocks noChangeAspect="1"/>
          </p:cNvPicPr>
          <p:nvPr/>
        </p:nvPicPr>
        <p:blipFill>
          <a:blip r:embed="rId3"/>
          <a:stretch>
            <a:fillRect/>
          </a:stretch>
        </p:blipFill>
        <p:spPr>
          <a:xfrm>
            <a:off x="5431536" y="1920240"/>
            <a:ext cx="1316736" cy="1316736"/>
          </a:xfrm>
          <a:prstGeom prst="rect">
            <a:avLst/>
          </a:prstGeom>
        </p:spPr>
      </p:pic>
      <p:sp>
        <p:nvSpPr>
          <p:cNvPr id="6" name="Text 2"/>
          <p:cNvSpPr txBox="1"/>
          <p:nvPr/>
        </p:nvSpPr>
        <p:spPr>
          <a:xfrm>
            <a:off x="914400" y="3840480"/>
            <a:ext cx="10360152" cy="1371600"/>
          </a:xfrm>
          <a:prstGeom prst="rect">
            <a:avLst/>
          </a:prstGeom>
          <a:noFill/>
          <a:ln/>
        </p:spPr>
        <p:txBody>
          <a:bodyPr wrap="square" lIns="0" tIns="0" rIns="0" bIns="0" rtlCol="0" anchor="ctr"/>
          <a:lstStyle/>
          <a:p>
            <a:pPr rtl="1" algn="ctr" indent="0" marL="0">
              <a:buNone/>
            </a:pPr>
            <a:r>
              <a:rPr lang="fa-IR" altLang="en-US" sz="6000" b="1" dirty="0">
                <a:solidFill>
                  <a:srgbClr val="FFC107"/>
                </a:solidFill>
                <a:latin typeface="B Nazanin" pitchFamily="34" charset="0"/>
                <a:ea typeface="B Nazanin" pitchFamily="34" charset="-122"/>
                <a:cs typeface="B Nazanin" pitchFamily="34" charset="-120"/>
              </a:rPr>
              <a:t>شمول آیین نامه</a:t>
            </a:r>
            <a:endParaRPr lang="fa-IR" sz="6000" dirty="0"/>
          </a:p>
        </p:txBody>
      </p:sp>
      <p:sp>
        <p:nvSpPr>
          <p:cNvPr id="7" name="Text 3"/>
          <p:cNvSpPr txBox="1"/>
          <p:nvPr/>
        </p:nvSpPr>
        <p:spPr>
          <a:xfrm>
            <a:off x="914400" y="5212080"/>
            <a:ext cx="10360152" cy="457200"/>
          </a:xfrm>
          <a:prstGeom prst="rect">
            <a:avLst/>
          </a:prstGeom>
          <a:noFill/>
          <a:ln/>
        </p:spPr>
        <p:txBody>
          <a:bodyPr wrap="square" lIns="0" tIns="0" rIns="0" bIns="0" rtlCol="0" anchor="ctr"/>
          <a:lstStyle/>
          <a:p>
            <a:pPr rtl="1" algn="ctr" indent="0" marL="0">
              <a:buNone/>
            </a:pPr>
            <a:r>
              <a:rPr lang="fa-IR" altLang="en-US" sz="2200" dirty="0">
                <a:solidFill>
                  <a:srgbClr val="FFFFFF"/>
                </a:solidFill>
                <a:latin typeface="B Nazanin" pitchFamily="34" charset="0"/>
                <a:ea typeface="B Nazanin" pitchFamily="34" charset="-122"/>
                <a:cs typeface="B Nazanin" pitchFamily="34" charset="-120"/>
              </a:rPr>
              <a:t>فصل دوم — مواد ۱۷ تا ۲۱</a:t>
            </a:r>
            <a:endParaRPr lang="fa-IR" sz="2200" dirty="0"/>
          </a:p>
        </p:txBody>
      </p:sp>
      <p:pic>
        <p:nvPicPr>
          <p:cNvPr id="8" name="Image 2" descr="/tmp/claude-0/-home-user-Waste/dcb1a03d-345b-5441-8898-3e9a4c6379b1/scratchpad/build/assets/home.png">
            <a:hlinkClick r:id="rId5" tooltip="فهرست مطالب" action="ppaction://hlinksldjump"/>
          </p:cNvPr>
          <p:cNvPicPr>
            <a:picLocks noChangeAspect="1"/>
          </p:cNvPicPr>
          <p:nvPr/>
        </p:nvPicPr>
        <p:blipFill>
          <a:blip r:embed="rId4"/>
          <a:stretch>
            <a:fillRect/>
          </a:stretch>
        </p:blipFill>
        <p:spPr>
          <a:xfrm>
            <a:off x="11274552" y="6126480"/>
            <a:ext cx="457200" cy="4572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Text 2"/>
          <p:cNvSpPr txBox="1"/>
          <p:nvPr/>
        </p:nvSpPr>
        <p:spPr>
          <a:xfrm>
            <a:off x="10543032" y="2377440"/>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تعاریف</a:t>
            </a:r>
            <a:endParaRPr lang="fa-IR" sz="1250" dirty="0"/>
          </a:p>
        </p:txBody>
      </p:sp>
      <p:sp>
        <p:nvSpPr>
          <p:cNvPr id="8" name="Shape 3">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9" name="Text 4"/>
          <p:cNvSpPr txBox="1"/>
          <p:nvPr/>
        </p:nvSpPr>
        <p:spPr>
          <a:xfrm>
            <a:off x="10543032" y="2980944"/>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کلیات</a:t>
            </a:r>
            <a:endParaRPr lang="fa-IR" sz="1250" dirty="0"/>
          </a:p>
        </p:txBody>
      </p:sp>
      <p:sp>
        <p:nvSpPr>
          <p:cNvPr id="10" name="Shape 5">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1" name="Shape 6"/>
          <p:cNvSpPr/>
          <p:nvPr/>
        </p:nvSpPr>
        <p:spPr>
          <a:xfrm>
            <a:off x="10543032" y="3584448"/>
            <a:ext cx="1481328" cy="402336"/>
          </a:xfrm>
          <a:prstGeom prst="roundRect">
            <a:avLst>
              <a:gd name="adj" fmla="val 18182"/>
            </a:avLst>
          </a:prstGeom>
          <a:solidFill>
            <a:srgbClr val="FFC107"/>
          </a:solidFill>
          <a:ln w="12700">
            <a:solidFill>
              <a:srgbClr val="FFC107"/>
            </a:solidFill>
            <a:prstDash val="solid"/>
          </a:ln>
        </p:spPr>
      </p:sp>
      <p:sp>
        <p:nvSpPr>
          <p:cNvPr id="12" name="Text 7"/>
          <p:cNvSpPr txBox="1"/>
          <p:nvPr/>
        </p:nvSpPr>
        <p:spPr>
          <a:xfrm>
            <a:off x="10543032" y="3584448"/>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شمول</a:t>
            </a:r>
            <a:endParaRPr lang="fa-IR" sz="1250" dirty="0"/>
          </a:p>
        </p:txBody>
      </p:sp>
      <p:sp>
        <p:nvSpPr>
          <p:cNvPr id="13" name="Shape 8">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4" name="Text 9"/>
          <p:cNvSpPr txBox="1"/>
          <p:nvPr/>
        </p:nvSpPr>
        <p:spPr>
          <a:xfrm>
            <a:off x="10543032" y="4187952"/>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وظایف</a:t>
            </a:r>
            <a:endParaRPr lang="fa-IR" sz="1250" dirty="0"/>
          </a:p>
        </p:txBody>
      </p:sp>
      <p:sp>
        <p:nvSpPr>
          <p:cNvPr id="15" name="Shape 10">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۲۵</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قلمرو آیین نامه و نقش دامپزشکی</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Scope — Articles 17-21</a:t>
            </a:r>
            <a:endParaRPr lang="en-US" sz="1550" dirty="0"/>
          </a:p>
        </p:txBody>
      </p:sp>
      <p:sp>
        <p:nvSpPr>
          <p:cNvPr id="25" name="Shape 18"/>
          <p:cNvSpPr/>
          <p:nvPr/>
        </p:nvSpPr>
        <p:spPr>
          <a:xfrm>
            <a:off x="548640" y="1572768"/>
            <a:ext cx="9418320" cy="2345489"/>
          </a:xfrm>
          <a:prstGeom prst="roundRect">
            <a:avLst>
              <a:gd name="adj" fmla="val 4678"/>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26" name="Shape 19"/>
          <p:cNvSpPr/>
          <p:nvPr/>
        </p:nvSpPr>
        <p:spPr>
          <a:xfrm>
            <a:off x="9098280" y="1755648"/>
            <a:ext cx="658368" cy="658368"/>
          </a:xfrm>
          <a:prstGeom prst="ellipse">
            <a:avLst/>
          </a:prstGeom>
          <a:solidFill>
            <a:srgbClr val="0D3B8C"/>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27" name="Text 20"/>
          <p:cNvSpPr txBox="1"/>
          <p:nvPr/>
        </p:nvSpPr>
        <p:spPr>
          <a:xfrm>
            <a:off x="90525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۱۷</a:t>
            </a:r>
            <a:endParaRPr lang="fa-IR" sz="1500" dirty="0"/>
          </a:p>
        </p:txBody>
      </p:sp>
      <p:sp>
        <p:nvSpPr>
          <p:cNvPr id="28" name="Text 21"/>
          <p:cNvSpPr txBox="1"/>
          <p:nvPr/>
        </p:nvSpPr>
        <p:spPr>
          <a:xfrm>
            <a:off x="822960" y="1737360"/>
            <a:ext cx="8092440" cy="2071169"/>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50" b="1" dirty="0">
                <a:solidFill>
                  <a:srgbClr val="0D3B8C"/>
                </a:solidFill>
                <a:latin typeface="B Nazanin" pitchFamily="34" charset="0"/>
                <a:ea typeface="B Nazanin" pitchFamily="34" charset="-122"/>
                <a:cs typeface="B Nazanin" pitchFamily="34" charset="-120"/>
              </a:rPr>
              <a:t>ماده ۱۷ — موضوعات مشمول</a:t>
            </a:r>
            <a:endParaRPr lang="fa-IR" sz="1850" dirty="0"/>
          </a:p>
          <a:p>
            <a:pPr rtl="1" algn="r" indent="0" marL="0">
              <a:lnSpc>
                <a:spcPct val="112000"/>
              </a:lnSpc>
              <a:spcAft>
                <a:spcPts val="300"/>
              </a:spcAft>
              <a:buNone/>
            </a:pPr>
            <a:r>
              <a:rPr lang="fa-IR" altLang="en-US" sz="1600" dirty="0">
                <a:solidFill>
                  <a:srgbClr val="37474F"/>
                </a:solidFill>
                <a:latin typeface="B Nazanin" pitchFamily="34" charset="0"/>
                <a:ea typeface="B Nazanin" pitchFamily="34" charset="-122"/>
                <a:cs typeface="B Nazanin" pitchFamily="34" charset="-120"/>
              </a:rPr>
              <a:t>کلیه خدمات و عوامل محیطی، بهداشت فردی، بهداشت ساختمان و ابزار و تجهیزات کلیه مراکز و اماکن مشمول این آیین نامه موضوع بند های (۱۱) و (۱۲) ماده یک و همچنین بهداشت مواد خوردنی، آشامیدنی، آرایشی و بهداشتی بعد از تولید تا مصرف که بازرسین مکلف به بازرسی به منظور کنترل تأثیرات سوء آن می باشند، مشمول این آیین نامه می باشند.</a:t>
            </a:r>
            <a:endParaRPr lang="fa-IR" sz="1850" dirty="0"/>
          </a:p>
        </p:txBody>
      </p:sp>
      <p:sp>
        <p:nvSpPr>
          <p:cNvPr id="29" name="Shape 22"/>
          <p:cNvSpPr/>
          <p:nvPr/>
        </p:nvSpPr>
        <p:spPr>
          <a:xfrm>
            <a:off x="548640" y="4101137"/>
            <a:ext cx="9418320" cy="2071063"/>
          </a:xfrm>
          <a:prstGeom prst="roundRect">
            <a:avLst>
              <a:gd name="adj" fmla="val 5298"/>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0" name="Shape 23"/>
          <p:cNvSpPr/>
          <p:nvPr/>
        </p:nvSpPr>
        <p:spPr>
          <a:xfrm>
            <a:off x="9098280" y="4284017"/>
            <a:ext cx="658368" cy="658368"/>
          </a:xfrm>
          <a:prstGeom prst="ellipse">
            <a:avLst/>
          </a:prstGeom>
          <a:solidFill>
            <a:srgbClr val="43A047"/>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1" name="Text 24"/>
          <p:cNvSpPr txBox="1"/>
          <p:nvPr/>
        </p:nvSpPr>
        <p:spPr>
          <a:xfrm>
            <a:off x="9052560" y="4284017"/>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۱۸</a:t>
            </a:r>
            <a:endParaRPr lang="fa-IR" sz="1500" dirty="0"/>
          </a:p>
        </p:txBody>
      </p:sp>
      <p:sp>
        <p:nvSpPr>
          <p:cNvPr id="32" name="Text 25"/>
          <p:cNvSpPr txBox="1"/>
          <p:nvPr/>
        </p:nvSpPr>
        <p:spPr>
          <a:xfrm>
            <a:off x="822960" y="4265729"/>
            <a:ext cx="8092440" cy="1796743"/>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50" b="1" dirty="0">
                <a:solidFill>
                  <a:srgbClr val="43A047"/>
                </a:solidFill>
                <a:latin typeface="B Nazanin" pitchFamily="34" charset="0"/>
                <a:ea typeface="B Nazanin" pitchFamily="34" charset="-122"/>
                <a:cs typeface="B Nazanin" pitchFamily="34" charset="-120"/>
              </a:rPr>
              <a:t>ماده ۱۸ — اماکن دامی و صنایع وابسته به دام</a:t>
            </a:r>
            <a:endParaRPr lang="fa-IR" sz="1850" dirty="0"/>
          </a:p>
          <a:p>
            <a:pPr rtl="1" algn="r" indent="0" marL="0">
              <a:lnSpc>
                <a:spcPct val="112000"/>
              </a:lnSpc>
              <a:spcAft>
                <a:spcPts val="300"/>
              </a:spcAft>
              <a:buNone/>
            </a:pPr>
            <a:r>
              <a:rPr lang="fa-IR" altLang="en-US" sz="1600" dirty="0">
                <a:solidFill>
                  <a:srgbClr val="37474F"/>
                </a:solidFill>
                <a:latin typeface="B Nazanin" pitchFamily="34" charset="0"/>
                <a:ea typeface="B Nazanin" pitchFamily="34" charset="-122"/>
                <a:cs typeface="B Nazanin" pitchFamily="34" charset="-120"/>
              </a:rPr>
              <a:t>نظارت و کنترل اماکن دامی و صنایع وابسته به دام از نظر بهداشت فراورده، ساختمان و تجهیزات بر عهده سازمان دامپزشکی کشور است، وزارت موظف است ضوابط و مقررات عمومی بهداشت ساختمان و تجهیزات را جهت اعمال در چک لیست های مربوط به سازمان دامپزشکی کشور اعلام نماید.</a:t>
            </a:r>
            <a:endParaRPr lang="fa-IR" sz="1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Text 2"/>
          <p:cNvSpPr txBox="1"/>
          <p:nvPr/>
        </p:nvSpPr>
        <p:spPr>
          <a:xfrm>
            <a:off x="10543032" y="2377440"/>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تعاریف</a:t>
            </a:r>
            <a:endParaRPr lang="fa-IR" sz="1250" dirty="0"/>
          </a:p>
        </p:txBody>
      </p:sp>
      <p:sp>
        <p:nvSpPr>
          <p:cNvPr id="8" name="Shape 3">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9" name="Text 4"/>
          <p:cNvSpPr txBox="1"/>
          <p:nvPr/>
        </p:nvSpPr>
        <p:spPr>
          <a:xfrm>
            <a:off x="10543032" y="2980944"/>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کلیات</a:t>
            </a:r>
            <a:endParaRPr lang="fa-IR" sz="1250" dirty="0"/>
          </a:p>
        </p:txBody>
      </p:sp>
      <p:sp>
        <p:nvSpPr>
          <p:cNvPr id="10" name="Shape 5">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1" name="Shape 6"/>
          <p:cNvSpPr/>
          <p:nvPr/>
        </p:nvSpPr>
        <p:spPr>
          <a:xfrm>
            <a:off x="10543032" y="3584448"/>
            <a:ext cx="1481328" cy="402336"/>
          </a:xfrm>
          <a:prstGeom prst="roundRect">
            <a:avLst>
              <a:gd name="adj" fmla="val 18182"/>
            </a:avLst>
          </a:prstGeom>
          <a:solidFill>
            <a:srgbClr val="FFC107"/>
          </a:solidFill>
          <a:ln w="12700">
            <a:solidFill>
              <a:srgbClr val="FFC107"/>
            </a:solidFill>
            <a:prstDash val="solid"/>
          </a:ln>
        </p:spPr>
      </p:sp>
      <p:sp>
        <p:nvSpPr>
          <p:cNvPr id="12" name="Text 7"/>
          <p:cNvSpPr txBox="1"/>
          <p:nvPr/>
        </p:nvSpPr>
        <p:spPr>
          <a:xfrm>
            <a:off x="10543032" y="3584448"/>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شمول</a:t>
            </a:r>
            <a:endParaRPr lang="fa-IR" sz="1250" dirty="0"/>
          </a:p>
        </p:txBody>
      </p:sp>
      <p:sp>
        <p:nvSpPr>
          <p:cNvPr id="13" name="Shape 8">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4" name="Text 9"/>
          <p:cNvSpPr txBox="1"/>
          <p:nvPr/>
        </p:nvSpPr>
        <p:spPr>
          <a:xfrm>
            <a:off x="10543032" y="4187952"/>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وظایف</a:t>
            </a:r>
            <a:endParaRPr lang="fa-IR" sz="1250" dirty="0"/>
          </a:p>
        </p:txBody>
      </p:sp>
      <p:sp>
        <p:nvSpPr>
          <p:cNvPr id="15" name="Shape 10">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۲۶</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نظارت مشترک و مراکز بدون پروانه</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Scope — Articles 17-21</a:t>
            </a:r>
            <a:endParaRPr lang="en-US" sz="1550" dirty="0"/>
          </a:p>
        </p:txBody>
      </p:sp>
      <p:sp>
        <p:nvSpPr>
          <p:cNvPr id="25" name="Shape 18"/>
          <p:cNvSpPr/>
          <p:nvPr/>
        </p:nvSpPr>
        <p:spPr>
          <a:xfrm>
            <a:off x="548640" y="1572768"/>
            <a:ext cx="9418320" cy="1193778"/>
          </a:xfrm>
          <a:prstGeom prst="roundRect">
            <a:avLst>
              <a:gd name="adj" fmla="val 9192"/>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26" name="Shape 19"/>
          <p:cNvSpPr/>
          <p:nvPr/>
        </p:nvSpPr>
        <p:spPr>
          <a:xfrm>
            <a:off x="9098280" y="1755648"/>
            <a:ext cx="658368" cy="658368"/>
          </a:xfrm>
          <a:prstGeom prst="ellipse">
            <a:avLst/>
          </a:prstGeom>
          <a:solidFill>
            <a:srgbClr val="1E88E5"/>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27" name="Text 20"/>
          <p:cNvSpPr txBox="1"/>
          <p:nvPr/>
        </p:nvSpPr>
        <p:spPr>
          <a:xfrm>
            <a:off x="90525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۱۹</a:t>
            </a:r>
            <a:endParaRPr lang="fa-IR" sz="1500" dirty="0"/>
          </a:p>
        </p:txBody>
      </p:sp>
      <p:sp>
        <p:nvSpPr>
          <p:cNvPr id="28" name="Text 21"/>
          <p:cNvSpPr txBox="1"/>
          <p:nvPr/>
        </p:nvSpPr>
        <p:spPr>
          <a:xfrm>
            <a:off x="822960" y="1737360"/>
            <a:ext cx="8092440" cy="919458"/>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00" b="1" dirty="0">
                <a:solidFill>
                  <a:srgbClr val="1E88E5"/>
                </a:solidFill>
                <a:latin typeface="B Nazanin" pitchFamily="34" charset="0"/>
                <a:ea typeface="B Nazanin" pitchFamily="34" charset="-122"/>
                <a:cs typeface="B Nazanin" pitchFamily="34" charset="-120"/>
              </a:rPr>
              <a:t>ماده ۱۹ — نظارت وزارت در اماکن دامی</a:t>
            </a:r>
            <a:endParaRPr lang="fa-IR" sz="1800" dirty="0"/>
          </a:p>
          <a:p>
            <a:pPr rtl="1" algn="r" indent="0" marL="0">
              <a:lnSpc>
                <a:spcPct val="112000"/>
              </a:lnSpc>
              <a:spcAft>
                <a:spcPts val="300"/>
              </a:spcAft>
              <a:buNone/>
            </a:pPr>
            <a:r>
              <a:rPr lang="fa-IR" altLang="en-US" sz="1550" dirty="0">
                <a:solidFill>
                  <a:srgbClr val="37474F"/>
                </a:solidFill>
                <a:latin typeface="B Nazanin" pitchFamily="34" charset="0"/>
                <a:ea typeface="B Nazanin" pitchFamily="34" charset="-122"/>
                <a:cs typeface="B Nazanin" pitchFamily="34" charset="-120"/>
              </a:rPr>
              <a:t>وزارت موظف است بر رعایت بهداشت فردی و سایر موارد بهداشت محیطی جز موارد مندرج در ماده ۱۸ در اماکن دامی و صنایع وابسته به دام نظارت نماید.</a:t>
            </a:r>
            <a:endParaRPr lang="fa-IR" sz="1800" dirty="0"/>
          </a:p>
        </p:txBody>
      </p:sp>
      <p:sp>
        <p:nvSpPr>
          <p:cNvPr id="29" name="Shape 22"/>
          <p:cNvSpPr/>
          <p:nvPr/>
        </p:nvSpPr>
        <p:spPr>
          <a:xfrm>
            <a:off x="548640" y="2949426"/>
            <a:ext cx="9418320" cy="1588442"/>
          </a:xfrm>
          <a:prstGeom prst="roundRect">
            <a:avLst>
              <a:gd name="adj" fmla="val 6908"/>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0" name="Shape 23"/>
          <p:cNvSpPr/>
          <p:nvPr/>
        </p:nvSpPr>
        <p:spPr>
          <a:xfrm>
            <a:off x="9098280" y="3132306"/>
            <a:ext cx="658368" cy="658368"/>
          </a:xfrm>
          <a:prstGeom prst="ellipse">
            <a:avLst/>
          </a:prstGeom>
          <a:solidFill>
            <a:srgbClr val="43A047"/>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1" name="Text 24"/>
          <p:cNvSpPr txBox="1"/>
          <p:nvPr/>
        </p:nvSpPr>
        <p:spPr>
          <a:xfrm>
            <a:off x="9052560" y="3132306"/>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۲۰</a:t>
            </a:r>
            <a:endParaRPr lang="fa-IR" sz="1500" dirty="0"/>
          </a:p>
        </p:txBody>
      </p:sp>
      <p:sp>
        <p:nvSpPr>
          <p:cNvPr id="32" name="Text 25"/>
          <p:cNvSpPr txBox="1"/>
          <p:nvPr/>
        </p:nvSpPr>
        <p:spPr>
          <a:xfrm>
            <a:off x="822960" y="3114018"/>
            <a:ext cx="8092440" cy="1314122"/>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00" b="1" dirty="0">
                <a:solidFill>
                  <a:srgbClr val="43A047"/>
                </a:solidFill>
                <a:latin typeface="B Nazanin" pitchFamily="34" charset="0"/>
                <a:ea typeface="B Nazanin" pitchFamily="34" charset="-122"/>
                <a:cs typeface="B Nazanin" pitchFamily="34" charset="-120"/>
              </a:rPr>
              <a:t>ماده ۲۰ — مراکز عرضه فرآورده‌های خام دامی</a:t>
            </a:r>
            <a:endParaRPr lang="fa-IR" sz="1800" dirty="0"/>
          </a:p>
          <a:p>
            <a:pPr rtl="1" algn="r" indent="0" marL="0">
              <a:lnSpc>
                <a:spcPct val="112000"/>
              </a:lnSpc>
              <a:spcAft>
                <a:spcPts val="300"/>
              </a:spcAft>
              <a:buNone/>
            </a:pPr>
            <a:r>
              <a:rPr lang="fa-IR" altLang="en-US" sz="1550" dirty="0">
                <a:solidFill>
                  <a:srgbClr val="37474F"/>
                </a:solidFill>
                <a:latin typeface="B Nazanin" pitchFamily="34" charset="0"/>
                <a:ea typeface="B Nazanin" pitchFamily="34" charset="-122"/>
                <a:cs typeface="B Nazanin" pitchFamily="34" charset="-120"/>
              </a:rPr>
              <a:t>نظارت و کنترل فرآورده‌های خام دامی در مراکز عرضه، توزیع و طبخ این فرآورده‌ها بر عهده سازمان دامپزشکی کشور و نظارت و کنترل بهداشتی این مراکز بر عهده وزارت می‌باشد، وزارت و سازمان دامپزشکی کشور در تدوین ضوابط و مقررات بهداشتی مربوط با یکدیگر همکاری می نمایند.</a:t>
            </a:r>
            <a:endParaRPr lang="fa-IR" sz="1800" dirty="0"/>
          </a:p>
        </p:txBody>
      </p:sp>
      <p:sp>
        <p:nvSpPr>
          <p:cNvPr id="33" name="Shape 26"/>
          <p:cNvSpPr/>
          <p:nvPr/>
        </p:nvSpPr>
        <p:spPr>
          <a:xfrm>
            <a:off x="548640" y="4720749"/>
            <a:ext cx="9418320" cy="1451451"/>
          </a:xfrm>
          <a:prstGeom prst="roundRect">
            <a:avLst>
              <a:gd name="adj" fmla="val 7560"/>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4" name="Shape 27"/>
          <p:cNvSpPr/>
          <p:nvPr/>
        </p:nvSpPr>
        <p:spPr>
          <a:xfrm>
            <a:off x="9098280" y="4903629"/>
            <a:ext cx="658368" cy="658368"/>
          </a:xfrm>
          <a:prstGeom prst="ellipse">
            <a:avLst/>
          </a:prstGeom>
          <a:solidFill>
            <a:srgbClr val="0D3B8C"/>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5" name="Text 28"/>
          <p:cNvSpPr txBox="1"/>
          <p:nvPr/>
        </p:nvSpPr>
        <p:spPr>
          <a:xfrm>
            <a:off x="9052560" y="4903629"/>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۲۱</a:t>
            </a:r>
            <a:endParaRPr lang="fa-IR" sz="1500" dirty="0"/>
          </a:p>
        </p:txBody>
      </p:sp>
      <p:sp>
        <p:nvSpPr>
          <p:cNvPr id="36" name="Text 29"/>
          <p:cNvSpPr txBox="1"/>
          <p:nvPr/>
        </p:nvSpPr>
        <p:spPr>
          <a:xfrm>
            <a:off x="822960" y="4885341"/>
            <a:ext cx="8092440" cy="1177131"/>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00" b="1" dirty="0">
                <a:solidFill>
                  <a:srgbClr val="0D3B8C"/>
                </a:solidFill>
                <a:latin typeface="B Nazanin" pitchFamily="34" charset="0"/>
                <a:ea typeface="B Nazanin" pitchFamily="34" charset="-122"/>
                <a:cs typeface="B Nazanin" pitchFamily="34" charset="-120"/>
              </a:rPr>
              <a:t>ماده ۲۱ — مراکز واجد یا فاقد پروانه</a:t>
            </a:r>
            <a:endParaRPr lang="fa-IR" sz="1800" dirty="0"/>
          </a:p>
          <a:p>
            <a:pPr rtl="1" algn="r" indent="0" marL="0">
              <a:lnSpc>
                <a:spcPct val="112000"/>
              </a:lnSpc>
              <a:spcAft>
                <a:spcPts val="300"/>
              </a:spcAft>
              <a:buNone/>
            </a:pPr>
            <a:r>
              <a:rPr lang="fa-IR" altLang="en-US" sz="1550" dirty="0">
                <a:solidFill>
                  <a:srgbClr val="37474F"/>
                </a:solidFill>
                <a:latin typeface="B Nazanin" pitchFamily="34" charset="0"/>
                <a:ea typeface="B Nazanin" pitchFamily="34" charset="-122"/>
                <a:cs typeface="B Nazanin" pitchFamily="34" charset="-120"/>
              </a:rPr>
              <a:t>کلیه مراکز و اماکن موضوع بندهای (۱۱) و (۱۲) ماده یک که واجد یا فاقد پروانه بهره‌برداری، کسب و یا هرگونه مجوز دیگر در محدوده شهری، روستایی، حاشیه شهرها (سکونتگاه‌های غیررسمی) و بین راهی، مشمول این آیین نامه می باشند.</a:t>
            </a:r>
            <a:endParaRPr lang="fa-IR"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65760"/>
            <a:ext cx="731520" cy="731520"/>
          </a:xfrm>
          <a:prstGeom prst="ellipse">
            <a:avLst/>
          </a:prstGeom>
          <a:solidFill>
            <a:srgbClr val="FFFFFF"/>
          </a:solidFill>
          <a:ln w="25400">
            <a:solidFill>
              <a:srgbClr val="FFC107"/>
            </a:solidFill>
            <a:prstDash val="solid"/>
          </a:ln>
        </p:spPr>
      </p:sp>
      <p:pic>
        <p:nvPicPr>
          <p:cNvPr id="3" name="Image 0" descr="/tmp/claude-0/-home-user-Waste/dcb1a03d-345b-5441-8898-3e9a4c6379b1/scratchpad/build/assets/logo.png">    </p:cNvPr>
          <p:cNvPicPr>
            <a:picLocks noChangeAspect="1"/>
          </p:cNvPicPr>
          <p:nvPr/>
        </p:nvPicPr>
        <p:blipFill>
          <a:blip r:embed="rId2"/>
          <a:stretch>
            <a:fillRect/>
          </a:stretch>
        </p:blipFill>
        <p:spPr>
          <a:xfrm>
            <a:off x="521208" y="475488"/>
            <a:ext cx="512064" cy="512064"/>
          </a:xfrm>
          <a:prstGeom prst="rect">
            <a:avLst/>
          </a:prstGeom>
        </p:spPr>
      </p:pic>
      <p:sp>
        <p:nvSpPr>
          <p:cNvPr id="4" name="Shape 1"/>
          <p:cNvSpPr/>
          <p:nvPr/>
        </p:nvSpPr>
        <p:spPr>
          <a:xfrm>
            <a:off x="4489704" y="822960"/>
            <a:ext cx="3200400" cy="2743200"/>
          </a:xfrm>
          <a:prstGeom prst="triangle">
            <a:avLst/>
          </a:prstGeom>
          <a:solidFill>
            <a:srgbClr val="FFC107"/>
          </a:solidFill>
          <a:ln w="12700">
            <a:solidFill>
              <a:srgbClr val="FFD54F"/>
            </a:solidFill>
            <a:prstDash val="solid"/>
          </a:ln>
          <a:effectLst>
            <a:outerShdw sx="100000" sy="100000" kx="0" ky="0" algn="bl" rotWithShape="0" blurRad="127000" dist="38100" dir="5400000">
              <a:srgbClr val="1B2A4A">
                <a:alpha val="18000"/>
              </a:srgbClr>
            </a:outerShdw>
          </a:effectLst>
        </p:spPr>
      </p:sp>
      <p:pic>
        <p:nvPicPr>
          <p:cNvPr id="5" name="Image 1" descr="/tmp/claude-0/-home-user-Waste/dcb1a03d-345b-5441-8898-3e9a4c6379b1/scratchpad/build/assets/ic-4-balance-plain.png">    </p:cNvPr>
          <p:cNvPicPr>
            <a:picLocks noChangeAspect="1"/>
          </p:cNvPicPr>
          <p:nvPr/>
        </p:nvPicPr>
        <p:blipFill>
          <a:blip r:embed="rId3"/>
          <a:stretch>
            <a:fillRect/>
          </a:stretch>
        </p:blipFill>
        <p:spPr>
          <a:xfrm>
            <a:off x="5431536" y="1920240"/>
            <a:ext cx="1316736" cy="1316736"/>
          </a:xfrm>
          <a:prstGeom prst="rect">
            <a:avLst/>
          </a:prstGeom>
        </p:spPr>
      </p:pic>
      <p:sp>
        <p:nvSpPr>
          <p:cNvPr id="6" name="Text 2"/>
          <p:cNvSpPr txBox="1"/>
          <p:nvPr/>
        </p:nvSpPr>
        <p:spPr>
          <a:xfrm>
            <a:off x="914400" y="3840480"/>
            <a:ext cx="10360152" cy="1371600"/>
          </a:xfrm>
          <a:prstGeom prst="rect">
            <a:avLst/>
          </a:prstGeom>
          <a:noFill/>
          <a:ln/>
        </p:spPr>
        <p:txBody>
          <a:bodyPr wrap="square" lIns="0" tIns="0" rIns="0" bIns="0" rtlCol="0" anchor="ctr"/>
          <a:lstStyle/>
          <a:p>
            <a:pPr rtl="1" algn="ctr" indent="0" marL="0">
              <a:buNone/>
            </a:pPr>
            <a:r>
              <a:rPr lang="fa-IR" altLang="en-US" sz="6000" b="1" dirty="0">
                <a:solidFill>
                  <a:srgbClr val="FFC107"/>
                </a:solidFill>
                <a:latin typeface="B Nazanin" pitchFamily="34" charset="0"/>
                <a:ea typeface="B Nazanin" pitchFamily="34" charset="-122"/>
                <a:cs typeface="B Nazanin" pitchFamily="34" charset="-120"/>
              </a:rPr>
              <a:t>وظایف</a:t>
            </a:r>
            <a:endParaRPr lang="fa-IR" sz="6000" dirty="0"/>
          </a:p>
        </p:txBody>
      </p:sp>
      <p:sp>
        <p:nvSpPr>
          <p:cNvPr id="7" name="Text 3"/>
          <p:cNvSpPr txBox="1"/>
          <p:nvPr/>
        </p:nvSpPr>
        <p:spPr>
          <a:xfrm>
            <a:off x="914400" y="5212080"/>
            <a:ext cx="10360152" cy="457200"/>
          </a:xfrm>
          <a:prstGeom prst="rect">
            <a:avLst/>
          </a:prstGeom>
          <a:noFill/>
          <a:ln/>
        </p:spPr>
        <p:txBody>
          <a:bodyPr wrap="square" lIns="0" tIns="0" rIns="0" bIns="0" rtlCol="0" anchor="ctr"/>
          <a:lstStyle/>
          <a:p>
            <a:pPr rtl="1" algn="ctr" indent="0" marL="0">
              <a:buNone/>
            </a:pPr>
            <a:r>
              <a:rPr lang="fa-IR" altLang="en-US" sz="2200" dirty="0">
                <a:solidFill>
                  <a:srgbClr val="FFFFFF"/>
                </a:solidFill>
                <a:latin typeface="B Nazanin" pitchFamily="34" charset="0"/>
                <a:ea typeface="B Nazanin" pitchFamily="34" charset="-122"/>
                <a:cs typeface="B Nazanin" pitchFamily="34" charset="-120"/>
              </a:rPr>
              <a:t>فصل سوم — مواد ۲۲ تا ۴۰</a:t>
            </a:r>
            <a:endParaRPr lang="fa-IR" sz="2200" dirty="0"/>
          </a:p>
        </p:txBody>
      </p:sp>
      <p:pic>
        <p:nvPicPr>
          <p:cNvPr id="8" name="Image 2" descr="/tmp/claude-0/-home-user-Waste/dcb1a03d-345b-5441-8898-3e9a4c6379b1/scratchpad/build/assets/home.png">
            <a:hlinkClick r:id="rId5" tooltip="فهرست مطالب" action="ppaction://hlinksldjump"/>
          </p:cNvPr>
          <p:cNvPicPr>
            <a:picLocks noChangeAspect="1"/>
          </p:cNvPicPr>
          <p:nvPr/>
        </p:nvPicPr>
        <p:blipFill>
          <a:blip r:embed="rId4"/>
          <a:stretch>
            <a:fillRect/>
          </a:stretch>
        </p:blipFill>
        <p:spPr>
          <a:xfrm>
            <a:off x="11274552" y="6126480"/>
            <a:ext cx="457200" cy="4572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Text 2"/>
          <p:cNvSpPr txBox="1"/>
          <p:nvPr/>
        </p:nvSpPr>
        <p:spPr>
          <a:xfrm>
            <a:off x="10543032" y="2377440"/>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تعاریف</a:t>
            </a:r>
            <a:endParaRPr lang="fa-IR" sz="1250" dirty="0"/>
          </a:p>
        </p:txBody>
      </p:sp>
      <p:sp>
        <p:nvSpPr>
          <p:cNvPr id="8" name="Shape 3">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9" name="Text 4"/>
          <p:cNvSpPr txBox="1"/>
          <p:nvPr/>
        </p:nvSpPr>
        <p:spPr>
          <a:xfrm>
            <a:off x="10543032" y="2980944"/>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کلیات</a:t>
            </a:r>
            <a:endParaRPr lang="fa-IR" sz="1250" dirty="0"/>
          </a:p>
        </p:txBody>
      </p:sp>
      <p:sp>
        <p:nvSpPr>
          <p:cNvPr id="10" name="Shape 5">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1" name="Text 6"/>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2" name="Shape 7">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3" name="Shape 8"/>
          <p:cNvSpPr/>
          <p:nvPr/>
        </p:nvSpPr>
        <p:spPr>
          <a:xfrm>
            <a:off x="10543032" y="4187952"/>
            <a:ext cx="1481328" cy="402336"/>
          </a:xfrm>
          <a:prstGeom prst="roundRect">
            <a:avLst>
              <a:gd name="adj" fmla="val 18182"/>
            </a:avLst>
          </a:prstGeom>
          <a:solidFill>
            <a:srgbClr val="FFC107"/>
          </a:solidFill>
          <a:ln w="12700">
            <a:solidFill>
              <a:srgbClr val="FFC107"/>
            </a:solidFill>
            <a:prstDash val="solid"/>
          </a:ln>
        </p:spPr>
      </p:sp>
      <p:sp>
        <p:nvSpPr>
          <p:cNvPr id="14" name="Text 9"/>
          <p:cNvSpPr txBox="1"/>
          <p:nvPr/>
        </p:nvSpPr>
        <p:spPr>
          <a:xfrm>
            <a:off x="10543032" y="4187952"/>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وظایف</a:t>
            </a:r>
            <a:endParaRPr lang="fa-IR" sz="1250" dirty="0"/>
          </a:p>
        </p:txBody>
      </p:sp>
      <p:sp>
        <p:nvSpPr>
          <p:cNvPr id="15" name="Shape 10">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۲۸</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نظارت مستمر و مسئولیت رفع نواقص</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Duties — Articles 22-40</a:t>
            </a:r>
            <a:endParaRPr lang="en-US" sz="1550" dirty="0"/>
          </a:p>
        </p:txBody>
      </p:sp>
      <p:sp>
        <p:nvSpPr>
          <p:cNvPr id="25" name="Shape 18"/>
          <p:cNvSpPr/>
          <p:nvPr/>
        </p:nvSpPr>
        <p:spPr>
          <a:xfrm>
            <a:off x="548640" y="1572768"/>
            <a:ext cx="9418320" cy="2792962"/>
          </a:xfrm>
          <a:prstGeom prst="roundRect">
            <a:avLst>
              <a:gd name="adj" fmla="val 3929"/>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26" name="Shape 19"/>
          <p:cNvSpPr/>
          <p:nvPr/>
        </p:nvSpPr>
        <p:spPr>
          <a:xfrm>
            <a:off x="9098280" y="1755648"/>
            <a:ext cx="658368" cy="658368"/>
          </a:xfrm>
          <a:prstGeom prst="ellipse">
            <a:avLst/>
          </a:prstGeom>
          <a:solidFill>
            <a:srgbClr val="0D3B8C"/>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27" name="Text 20"/>
          <p:cNvSpPr txBox="1"/>
          <p:nvPr/>
        </p:nvSpPr>
        <p:spPr>
          <a:xfrm>
            <a:off x="90525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۲۲</a:t>
            </a:r>
            <a:endParaRPr lang="fa-IR" sz="1500" dirty="0"/>
          </a:p>
        </p:txBody>
      </p:sp>
      <p:sp>
        <p:nvSpPr>
          <p:cNvPr id="28" name="Text 21"/>
          <p:cNvSpPr txBox="1"/>
          <p:nvPr/>
        </p:nvSpPr>
        <p:spPr>
          <a:xfrm>
            <a:off x="822960" y="1737360"/>
            <a:ext cx="8092440" cy="2518642"/>
          </a:xfrm>
          <a:prstGeom prst="rect">
            <a:avLst/>
          </a:prstGeom>
          <a:noFill/>
          <a:ln/>
        </p:spPr>
        <p:txBody>
          <a:bodyPr wrap="square" lIns="0" tIns="0" rIns="0" bIns="0" rtlCol="0" anchor="t"/>
          <a:lstStyle/>
          <a:p>
            <a:pPr rtl="1" algn="r" indent="0" marL="0">
              <a:lnSpc>
                <a:spcPct val="112000"/>
              </a:lnSpc>
              <a:spcAft>
                <a:spcPts val="300"/>
              </a:spcAft>
              <a:buNone/>
            </a:pPr>
            <a:r>
              <a:rPr lang="fa-IR" altLang="en-US" sz="1900" b="1" dirty="0">
                <a:solidFill>
                  <a:srgbClr val="0D3B8C"/>
                </a:solidFill>
                <a:latin typeface="B Nazanin" pitchFamily="34" charset="0"/>
                <a:ea typeface="B Nazanin" pitchFamily="34" charset="-122"/>
                <a:cs typeface="B Nazanin" pitchFamily="34" charset="-120"/>
              </a:rPr>
              <a:t>ماده ۲۲ — نظارت مستمر وزارت</a:t>
            </a:r>
            <a:endParaRPr lang="fa-IR" sz="1900" dirty="0"/>
          </a:p>
          <a:p>
            <a:pPr rtl="1" algn="r" indent="0" marL="0">
              <a:lnSpc>
                <a:spcPct val="112000"/>
              </a:lnSpc>
              <a:spcAft>
                <a:spcPts val="300"/>
              </a:spcAft>
              <a:buNone/>
            </a:pPr>
            <a:r>
              <a:rPr lang="fa-IR" altLang="en-US" sz="1650" dirty="0">
                <a:solidFill>
                  <a:srgbClr val="37474F"/>
                </a:solidFill>
                <a:latin typeface="B Nazanin" pitchFamily="34" charset="0"/>
                <a:ea typeface="B Nazanin" pitchFamily="34" charset="-122"/>
                <a:cs typeface="B Nazanin" pitchFamily="34" charset="-120"/>
              </a:rPr>
              <a:t>وزارت به منظور حفظ سلامت عمومی مکلف است کلیه مراکز و اماکن مشمول این آئین نامه را از نظر تطبیق بهداشت فردی، بهداشت مواد غذایی، بهداشت ساختمانی و بهداشت ابزار و تجهیزات با موازین بهداشتی مربوط تحت نظارت مستمر قرار دهد و در صورت مشاهده نواقص و مشکلات بهداشتی، مراتب را به دستگاه اجرایی مرتبط، مدیران، مالکان و متصدیان مراکز و اماکن عمومی ابلاغ نماید.</a:t>
            </a:r>
            <a:endParaRPr lang="fa-IR" sz="1900" dirty="0"/>
          </a:p>
        </p:txBody>
      </p:sp>
      <p:sp>
        <p:nvSpPr>
          <p:cNvPr id="29" name="Shape 22"/>
          <p:cNvSpPr/>
          <p:nvPr/>
        </p:nvSpPr>
        <p:spPr>
          <a:xfrm>
            <a:off x="548640" y="4548610"/>
            <a:ext cx="9418320" cy="1623590"/>
          </a:xfrm>
          <a:prstGeom prst="roundRect">
            <a:avLst>
              <a:gd name="adj" fmla="val 6758"/>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0" name="Shape 23"/>
          <p:cNvSpPr/>
          <p:nvPr/>
        </p:nvSpPr>
        <p:spPr>
          <a:xfrm>
            <a:off x="9098280" y="4731490"/>
            <a:ext cx="658368" cy="658368"/>
          </a:xfrm>
          <a:prstGeom prst="ellipse">
            <a:avLst/>
          </a:prstGeom>
          <a:solidFill>
            <a:srgbClr val="FFC107"/>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1" name="Text 24"/>
          <p:cNvSpPr txBox="1"/>
          <p:nvPr/>
        </p:nvSpPr>
        <p:spPr>
          <a:xfrm>
            <a:off x="9052560" y="4731490"/>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۲۳</a:t>
            </a:r>
            <a:endParaRPr lang="fa-IR" sz="1500" dirty="0"/>
          </a:p>
        </p:txBody>
      </p:sp>
      <p:sp>
        <p:nvSpPr>
          <p:cNvPr id="32" name="Text 25"/>
          <p:cNvSpPr txBox="1"/>
          <p:nvPr/>
        </p:nvSpPr>
        <p:spPr>
          <a:xfrm>
            <a:off x="822960" y="4713202"/>
            <a:ext cx="8092440" cy="1349270"/>
          </a:xfrm>
          <a:prstGeom prst="rect">
            <a:avLst/>
          </a:prstGeom>
          <a:noFill/>
          <a:ln/>
        </p:spPr>
        <p:txBody>
          <a:bodyPr wrap="square" lIns="0" tIns="0" rIns="0" bIns="0" rtlCol="0" anchor="t"/>
          <a:lstStyle/>
          <a:p>
            <a:pPr rtl="1" algn="r" indent="0" marL="0">
              <a:lnSpc>
                <a:spcPct val="112000"/>
              </a:lnSpc>
              <a:spcAft>
                <a:spcPts val="300"/>
              </a:spcAft>
              <a:buNone/>
            </a:pPr>
            <a:r>
              <a:rPr lang="fa-IR" altLang="en-US" sz="1900" b="1" dirty="0">
                <a:solidFill>
                  <a:srgbClr val="0D3B8C"/>
                </a:solidFill>
                <a:latin typeface="B Nazanin" pitchFamily="34" charset="0"/>
                <a:ea typeface="B Nazanin" pitchFamily="34" charset="-122"/>
                <a:cs typeface="B Nazanin" pitchFamily="34" charset="-120"/>
              </a:rPr>
              <a:t>ماده ۲۳ — مسئولیت مالک/ مدیر/ متصدی</a:t>
            </a:r>
            <a:endParaRPr lang="fa-IR" sz="1900" dirty="0"/>
          </a:p>
          <a:p>
            <a:pPr rtl="1" algn="r" indent="0" marL="0">
              <a:lnSpc>
                <a:spcPct val="112000"/>
              </a:lnSpc>
              <a:spcAft>
                <a:spcPts val="300"/>
              </a:spcAft>
              <a:buNone/>
            </a:pPr>
            <a:r>
              <a:rPr lang="fa-IR" altLang="en-US" sz="1650" dirty="0">
                <a:solidFill>
                  <a:srgbClr val="37474F"/>
                </a:solidFill>
                <a:latin typeface="B Nazanin" pitchFamily="34" charset="0"/>
                <a:ea typeface="B Nazanin" pitchFamily="34" charset="-122"/>
                <a:cs typeface="B Nazanin" pitchFamily="34" charset="-120"/>
              </a:rPr>
              <a:t>مسئولیت پیگیری و اقدام تا رفع کامل نواقص بهداشتی بعهده مالک، مدیر یا متصدی مراکز و اماکن مربوطه خواهد بود.</a:t>
            </a:r>
            <a:endParaRPr lang="fa-IR" sz="1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Text 2"/>
          <p:cNvSpPr txBox="1"/>
          <p:nvPr/>
        </p:nvSpPr>
        <p:spPr>
          <a:xfrm>
            <a:off x="10543032" y="2377440"/>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تعاریف</a:t>
            </a:r>
            <a:endParaRPr lang="fa-IR" sz="1250" dirty="0"/>
          </a:p>
        </p:txBody>
      </p:sp>
      <p:sp>
        <p:nvSpPr>
          <p:cNvPr id="8" name="Shape 3">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9" name="Text 4"/>
          <p:cNvSpPr txBox="1"/>
          <p:nvPr/>
        </p:nvSpPr>
        <p:spPr>
          <a:xfrm>
            <a:off x="10543032" y="2980944"/>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کلیات</a:t>
            </a:r>
            <a:endParaRPr lang="fa-IR" sz="1250" dirty="0"/>
          </a:p>
        </p:txBody>
      </p:sp>
      <p:sp>
        <p:nvSpPr>
          <p:cNvPr id="10" name="Shape 5">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1" name="Text 6"/>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2" name="Shape 7">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3" name="Shape 8"/>
          <p:cNvSpPr/>
          <p:nvPr/>
        </p:nvSpPr>
        <p:spPr>
          <a:xfrm>
            <a:off x="10543032" y="4187952"/>
            <a:ext cx="1481328" cy="402336"/>
          </a:xfrm>
          <a:prstGeom prst="roundRect">
            <a:avLst>
              <a:gd name="adj" fmla="val 18182"/>
            </a:avLst>
          </a:prstGeom>
          <a:solidFill>
            <a:srgbClr val="FFC107"/>
          </a:solidFill>
          <a:ln w="12700">
            <a:solidFill>
              <a:srgbClr val="FFC107"/>
            </a:solidFill>
            <a:prstDash val="solid"/>
          </a:ln>
        </p:spPr>
      </p:sp>
      <p:sp>
        <p:nvSpPr>
          <p:cNvPr id="14" name="Text 9"/>
          <p:cNvSpPr txBox="1"/>
          <p:nvPr/>
        </p:nvSpPr>
        <p:spPr>
          <a:xfrm>
            <a:off x="10543032" y="4187952"/>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وظایف</a:t>
            </a:r>
            <a:endParaRPr lang="fa-IR" sz="1250" dirty="0"/>
          </a:p>
        </p:txBody>
      </p:sp>
      <p:sp>
        <p:nvSpPr>
          <p:cNvPr id="15" name="Shape 10">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۲۹</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خودکنترلی و خوداظهاری بهداشتی</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Duties — Articles 22-40</a:t>
            </a:r>
            <a:endParaRPr lang="en-US" sz="1550" dirty="0"/>
          </a:p>
        </p:txBody>
      </p:sp>
      <p:sp>
        <p:nvSpPr>
          <p:cNvPr id="25" name="Shape 18"/>
          <p:cNvSpPr/>
          <p:nvPr/>
        </p:nvSpPr>
        <p:spPr>
          <a:xfrm>
            <a:off x="548640" y="1572768"/>
            <a:ext cx="9418320" cy="2456635"/>
          </a:xfrm>
          <a:prstGeom prst="roundRect">
            <a:avLst>
              <a:gd name="adj" fmla="val 4467"/>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26" name="Shape 19"/>
          <p:cNvSpPr/>
          <p:nvPr/>
        </p:nvSpPr>
        <p:spPr>
          <a:xfrm>
            <a:off x="9098280" y="1755648"/>
            <a:ext cx="658368" cy="658368"/>
          </a:xfrm>
          <a:prstGeom prst="ellipse">
            <a:avLst/>
          </a:prstGeom>
          <a:solidFill>
            <a:srgbClr val="43A047"/>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27" name="Text 20"/>
          <p:cNvSpPr txBox="1"/>
          <p:nvPr/>
        </p:nvSpPr>
        <p:spPr>
          <a:xfrm>
            <a:off x="90525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۲۴</a:t>
            </a:r>
            <a:endParaRPr lang="fa-IR" sz="1500" dirty="0"/>
          </a:p>
        </p:txBody>
      </p:sp>
      <p:sp>
        <p:nvSpPr>
          <p:cNvPr id="28" name="Text 21"/>
          <p:cNvSpPr txBox="1"/>
          <p:nvPr/>
        </p:nvSpPr>
        <p:spPr>
          <a:xfrm>
            <a:off x="822960" y="1737360"/>
            <a:ext cx="8092440" cy="2182315"/>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00" b="1" dirty="0">
                <a:solidFill>
                  <a:srgbClr val="43A047"/>
                </a:solidFill>
                <a:latin typeface="B Nazanin" pitchFamily="34" charset="0"/>
                <a:ea typeface="B Nazanin" pitchFamily="34" charset="-122"/>
                <a:cs typeface="B Nazanin" pitchFamily="34" charset="-120"/>
              </a:rPr>
              <a:t>ماده ۲۴ — به‌کارگیری دانش‌آموختگان بهداشت محیط</a:t>
            </a:r>
            <a:endParaRPr lang="fa-IR" sz="1800" dirty="0"/>
          </a:p>
          <a:p>
            <a:pPr rtl="1" algn="r" indent="0" marL="0">
              <a:lnSpc>
                <a:spcPct val="112000"/>
              </a:lnSpc>
              <a:spcAft>
                <a:spcPts val="300"/>
              </a:spcAft>
              <a:buNone/>
            </a:pPr>
            <a:r>
              <a:rPr lang="fa-IR" altLang="en-US" sz="1550" dirty="0">
                <a:solidFill>
                  <a:srgbClr val="37474F"/>
                </a:solidFill>
                <a:latin typeface="B Nazanin" pitchFamily="34" charset="0"/>
                <a:ea typeface="B Nazanin" pitchFamily="34" charset="-122"/>
                <a:cs typeface="B Nazanin" pitchFamily="34" charset="-120"/>
              </a:rPr>
              <a:t>مالکین، مدیران و متصدیان اماکن و مراکز مشمول این آیین نامه موظفند از خدمات دانش آموختگان بهداشت محیط به منظور خود کنترلی بهداشتی در محل کار خود به ترتیبی که توسط معاونت بهداشت وزارت با همکاری دستگاه های ذیربط از جمله شورای اصناف کشور، سازمان دامپزشکی کشور، وزارت ورزش و جوانان، وزارت جهاد کشاورزی، وزارت تعاون، کار و رفاه اجتماعی، وزارت آموزش و پرورش و وزارت صنعت، معدن و تجارت مشخص خواهد شد، استفاده نمایند.</a:t>
            </a:r>
            <a:endParaRPr lang="fa-IR" sz="1800" dirty="0"/>
          </a:p>
        </p:txBody>
      </p:sp>
      <p:sp>
        <p:nvSpPr>
          <p:cNvPr id="29" name="Shape 22"/>
          <p:cNvSpPr/>
          <p:nvPr/>
        </p:nvSpPr>
        <p:spPr>
          <a:xfrm>
            <a:off x="548640" y="4212283"/>
            <a:ext cx="9418320" cy="1959917"/>
          </a:xfrm>
          <a:prstGeom prst="roundRect">
            <a:avLst>
              <a:gd name="adj" fmla="val 5599"/>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0" name="Shape 23"/>
          <p:cNvSpPr/>
          <p:nvPr/>
        </p:nvSpPr>
        <p:spPr>
          <a:xfrm>
            <a:off x="9098280" y="4395163"/>
            <a:ext cx="658368" cy="658368"/>
          </a:xfrm>
          <a:prstGeom prst="ellipse">
            <a:avLst/>
          </a:prstGeom>
          <a:solidFill>
            <a:srgbClr val="1E88E5"/>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1" name="Text 24"/>
          <p:cNvSpPr txBox="1"/>
          <p:nvPr/>
        </p:nvSpPr>
        <p:spPr>
          <a:xfrm>
            <a:off x="9052560" y="4395163"/>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۲۵</a:t>
            </a:r>
            <a:endParaRPr lang="fa-IR" sz="1500" dirty="0"/>
          </a:p>
        </p:txBody>
      </p:sp>
      <p:sp>
        <p:nvSpPr>
          <p:cNvPr id="32" name="Text 25"/>
          <p:cNvSpPr txBox="1"/>
          <p:nvPr/>
        </p:nvSpPr>
        <p:spPr>
          <a:xfrm>
            <a:off x="822960" y="4376875"/>
            <a:ext cx="8092440" cy="1685597"/>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00" b="1" dirty="0">
                <a:solidFill>
                  <a:srgbClr val="1E88E5"/>
                </a:solidFill>
                <a:latin typeface="B Nazanin" pitchFamily="34" charset="0"/>
                <a:ea typeface="B Nazanin" pitchFamily="34" charset="-122"/>
                <a:cs typeface="B Nazanin" pitchFamily="34" charset="-120"/>
              </a:rPr>
              <a:t>ماده ۲۵ — خوداظهاری شرایط بهداشتی</a:t>
            </a:r>
            <a:endParaRPr lang="fa-IR" sz="1800" dirty="0"/>
          </a:p>
          <a:p>
            <a:pPr rtl="1" algn="r" indent="0" marL="0">
              <a:lnSpc>
                <a:spcPct val="112000"/>
              </a:lnSpc>
              <a:spcAft>
                <a:spcPts val="300"/>
              </a:spcAft>
              <a:buNone/>
            </a:pPr>
            <a:r>
              <a:rPr lang="fa-IR" altLang="en-US" sz="1550" dirty="0">
                <a:solidFill>
                  <a:srgbClr val="37474F"/>
                </a:solidFill>
                <a:latin typeface="B Nazanin" pitchFamily="34" charset="0"/>
                <a:ea typeface="B Nazanin" pitchFamily="34" charset="-122"/>
                <a:cs typeface="B Nazanin" pitchFamily="34" charset="-120"/>
              </a:rPr>
              <a:t>مالکین، مدیران و متصدیان مراکز و اماکن مشمول این آیین نامه موظفند به ترتیبی که توسط معاونت بهداشت وزارت با همکاری شورای اصناف کشور و دستگاه‌های اجرایی نامبرده در ماده ۲۴ مشخص خواهد شد شرایط بهداشتی و بهسازی محل فعالیت خود را بر اساس ضوابط ابلاغی معاونت بهداشت وزارت اظهار نمایند.</a:t>
            </a:r>
            <a:endParaRPr lang="fa-IR"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Text 2"/>
          <p:cNvSpPr txBox="1"/>
          <p:nvPr/>
        </p:nvSpPr>
        <p:spPr>
          <a:xfrm>
            <a:off x="10543032" y="2377440"/>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تعاریف</a:t>
            </a:r>
            <a:endParaRPr lang="fa-IR" sz="1250" dirty="0"/>
          </a:p>
        </p:txBody>
      </p:sp>
      <p:sp>
        <p:nvSpPr>
          <p:cNvPr id="8" name="Shape 3">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9" name="Text 4"/>
          <p:cNvSpPr txBox="1"/>
          <p:nvPr/>
        </p:nvSpPr>
        <p:spPr>
          <a:xfrm>
            <a:off x="10543032" y="2980944"/>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کلیات</a:t>
            </a:r>
            <a:endParaRPr lang="fa-IR" sz="1250" dirty="0"/>
          </a:p>
        </p:txBody>
      </p:sp>
      <p:sp>
        <p:nvSpPr>
          <p:cNvPr id="10" name="Shape 5">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1" name="Text 6"/>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2" name="Shape 7">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3" name="Shape 8"/>
          <p:cNvSpPr/>
          <p:nvPr/>
        </p:nvSpPr>
        <p:spPr>
          <a:xfrm>
            <a:off x="10543032" y="4187952"/>
            <a:ext cx="1481328" cy="402336"/>
          </a:xfrm>
          <a:prstGeom prst="roundRect">
            <a:avLst>
              <a:gd name="adj" fmla="val 18182"/>
            </a:avLst>
          </a:prstGeom>
          <a:solidFill>
            <a:srgbClr val="FFC107"/>
          </a:solidFill>
          <a:ln w="12700">
            <a:solidFill>
              <a:srgbClr val="FFC107"/>
            </a:solidFill>
            <a:prstDash val="solid"/>
          </a:ln>
        </p:spPr>
      </p:sp>
      <p:sp>
        <p:nvSpPr>
          <p:cNvPr id="14" name="Text 9"/>
          <p:cNvSpPr txBox="1"/>
          <p:nvPr/>
        </p:nvSpPr>
        <p:spPr>
          <a:xfrm>
            <a:off x="10543032" y="4187952"/>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وظایف</a:t>
            </a:r>
            <a:endParaRPr lang="fa-IR" sz="1250" dirty="0"/>
          </a:p>
        </p:txBody>
      </p:sp>
      <p:sp>
        <p:nvSpPr>
          <p:cNvPr id="15" name="Shape 10">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۳۰</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نواقص بحرانی: تعطیل ۴۸ ساعته و پلمب</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Duties — Articles 22-40</a:t>
            </a:r>
            <a:endParaRPr lang="en-US" sz="1550" dirty="0"/>
          </a:p>
        </p:txBody>
      </p:sp>
      <p:sp>
        <p:nvSpPr>
          <p:cNvPr id="25" name="Shape 18"/>
          <p:cNvSpPr/>
          <p:nvPr/>
        </p:nvSpPr>
        <p:spPr>
          <a:xfrm>
            <a:off x="548640" y="1572768"/>
            <a:ext cx="9418320" cy="1887283"/>
          </a:xfrm>
          <a:prstGeom prst="roundRect">
            <a:avLst>
              <a:gd name="adj" fmla="val 5814"/>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26" name="Shape 19"/>
          <p:cNvSpPr/>
          <p:nvPr/>
        </p:nvSpPr>
        <p:spPr>
          <a:xfrm>
            <a:off x="9098280" y="1755648"/>
            <a:ext cx="658368" cy="658368"/>
          </a:xfrm>
          <a:prstGeom prst="ellipse">
            <a:avLst/>
          </a:prstGeom>
          <a:solidFill>
            <a:srgbClr val="C62828"/>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27" name="Text 20"/>
          <p:cNvSpPr txBox="1"/>
          <p:nvPr/>
        </p:nvSpPr>
        <p:spPr>
          <a:xfrm>
            <a:off x="90525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۲۶</a:t>
            </a:r>
            <a:endParaRPr lang="fa-IR" sz="1500" dirty="0"/>
          </a:p>
        </p:txBody>
      </p:sp>
      <p:sp>
        <p:nvSpPr>
          <p:cNvPr id="28" name="Text 21"/>
          <p:cNvSpPr txBox="1"/>
          <p:nvPr/>
        </p:nvSpPr>
        <p:spPr>
          <a:xfrm>
            <a:off x="822960" y="1737360"/>
            <a:ext cx="8092440" cy="1612963"/>
          </a:xfrm>
          <a:prstGeom prst="rect">
            <a:avLst/>
          </a:prstGeom>
          <a:noFill/>
          <a:ln/>
        </p:spPr>
        <p:txBody>
          <a:bodyPr wrap="square" lIns="0" tIns="0" rIns="0" bIns="0" rtlCol="0" anchor="t"/>
          <a:lstStyle/>
          <a:p>
            <a:pPr rtl="1" algn="r" indent="0" marL="0">
              <a:lnSpc>
                <a:spcPct val="112000"/>
              </a:lnSpc>
              <a:spcAft>
                <a:spcPts val="300"/>
              </a:spcAft>
              <a:buNone/>
            </a:pPr>
            <a:r>
              <a:rPr lang="fa-IR" altLang="en-US" sz="1750" b="1" dirty="0">
                <a:solidFill>
                  <a:srgbClr val="C62828"/>
                </a:solidFill>
                <a:latin typeface="B Nazanin" pitchFamily="34" charset="0"/>
                <a:ea typeface="B Nazanin" pitchFamily="34" charset="-122"/>
                <a:cs typeface="B Nazanin" pitchFamily="34" charset="-120"/>
              </a:rPr>
              <a:t>ماده ۲۶ — تعطیل موقت ۴۸ ساعته</a:t>
            </a:r>
            <a:endParaRPr lang="fa-IR" sz="1750" dirty="0"/>
          </a:p>
          <a:p>
            <a:pPr rtl="1" algn="r" indent="0" marL="0">
              <a:lnSpc>
                <a:spcPct val="112000"/>
              </a:lnSpc>
              <a:spcAft>
                <a:spcPts val="300"/>
              </a:spcAft>
              <a:buNone/>
            </a:pPr>
            <a:r>
              <a:rPr lang="fa-IR" altLang="en-US" sz="1500" dirty="0">
                <a:solidFill>
                  <a:srgbClr val="37474F"/>
                </a:solidFill>
                <a:latin typeface="B Nazanin" pitchFamily="34" charset="0"/>
                <a:ea typeface="B Nazanin" pitchFamily="34" charset="-122"/>
                <a:cs typeface="B Nazanin" pitchFamily="34" charset="-120"/>
              </a:rPr>
              <a:t>مراکز و اماکن مشمول این آیین نامه که دارای حداقل یک مورد نقص بحرانی بوده و طی انجام بازرسی در محل قابل رفع نمی باشد تا رفع کامل نواقص، قسمت مربوطه به مدت ۴۸ ساعت بطور موقت تعطیل خواهند شد.</a:t>
            </a:r>
            <a:endParaRPr lang="fa-IR" sz="1750" dirty="0"/>
          </a:p>
          <a:p>
            <a:pPr rtl="1" algn="r" indent="0" marL="0">
              <a:lnSpc>
                <a:spcPct val="112000"/>
              </a:lnSpc>
              <a:spcAft>
                <a:spcPts val="300"/>
              </a:spcAft>
              <a:buNone/>
            </a:pPr>
            <a:r>
              <a:rPr lang="fa-IR" altLang="en-US" sz="1400" dirty="0">
                <a:solidFill>
                  <a:srgbClr val="37474F"/>
                </a:solidFill>
                <a:latin typeface="B Nazanin" pitchFamily="34" charset="0"/>
                <a:ea typeface="B Nazanin" pitchFamily="34" charset="-122"/>
                <a:cs typeface="B Nazanin" pitchFamily="34" charset="-120"/>
              </a:rPr>
              <a:t>فرم‌های مرتبط (دستورالعمل ۱۸۰۳۹۲۰۶): </a:t>
            </a:r>
            <a:pPr rtl="1" algn="r" indent="0" marL="0">
              <a:lnSpc>
                <a:spcPct val="112000"/>
              </a:lnSpc>
              <a:spcAft>
                <a:spcPts val="300"/>
              </a:spcAft>
              <a:buNone/>
            </a:pPr>
            <a:r>
              <a:rPr lang="fa-IR" altLang="en-US" sz="1400" b="1" u="sng" dirty="0">
                <a:solidFill>
                  <a:srgbClr val="1565C0"/>
                </a:solidFill>
                <a:uFill>
                  <a:solidFill>
                    <a:srgbClr val="1565C0"/>
                  </a:solidFill>
                </a:uFill>
                <a:latin typeface="B Nazanin" pitchFamily="34" charset="0"/>
                <a:ea typeface="B Nazanin" pitchFamily="34" charset="-122"/>
                <a:cs typeface="B Nazanin" pitchFamily="34" charset="-120"/>
                <a:hlinkClick r:id="rId16" invalidUrl="" action="" tgtFrame="" tooltip="فرم ۳: اخطار تعطیل موقت واحد/ مکان/ قسمت دارای نواقص بحرانی" history="1" highlightClick="0" endSnd="0">
                  <a:extLst>
                    <a:ext uri="{A12FA001-AC4F-418D-AE19-62706E023703}">
                      <ahyp:hlinkClr xmlns:ahyp="http://schemas.microsoft.com/office/drawing/2018/hyperlinkcolor" val="tx"/>
                    </a:ext>
                  </a:extLst>
                </a:hlinkClick>
              </a:rPr>
              <a:t>۳-۱۸۰۳۹۲۰۶</a:t>
            </a:r>
            <a:endParaRPr lang="fa-IR" sz="1750" dirty="0"/>
          </a:p>
        </p:txBody>
      </p:sp>
      <p:sp>
        <p:nvSpPr>
          <p:cNvPr id="29" name="Shape 22"/>
          <p:cNvSpPr/>
          <p:nvPr/>
        </p:nvSpPr>
        <p:spPr>
          <a:xfrm>
            <a:off x="548640" y="3642931"/>
            <a:ext cx="9418320" cy="2529269"/>
          </a:xfrm>
          <a:prstGeom prst="roundRect">
            <a:avLst>
              <a:gd name="adj" fmla="val 4338"/>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0" name="Shape 23"/>
          <p:cNvSpPr/>
          <p:nvPr/>
        </p:nvSpPr>
        <p:spPr>
          <a:xfrm>
            <a:off x="9098280" y="3825811"/>
            <a:ext cx="658368" cy="658368"/>
          </a:xfrm>
          <a:prstGeom prst="ellipse">
            <a:avLst/>
          </a:prstGeom>
          <a:solidFill>
            <a:srgbClr val="C62828"/>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1" name="Text 24"/>
          <p:cNvSpPr txBox="1"/>
          <p:nvPr/>
        </p:nvSpPr>
        <p:spPr>
          <a:xfrm>
            <a:off x="9052560" y="3825811"/>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۲۷</a:t>
            </a:r>
            <a:endParaRPr lang="fa-IR" sz="1500" dirty="0"/>
          </a:p>
        </p:txBody>
      </p:sp>
      <p:sp>
        <p:nvSpPr>
          <p:cNvPr id="32" name="Text 25"/>
          <p:cNvSpPr txBox="1"/>
          <p:nvPr/>
        </p:nvSpPr>
        <p:spPr>
          <a:xfrm>
            <a:off x="822960" y="3807523"/>
            <a:ext cx="8092440" cy="2254949"/>
          </a:xfrm>
          <a:prstGeom prst="rect">
            <a:avLst/>
          </a:prstGeom>
          <a:noFill/>
          <a:ln/>
        </p:spPr>
        <p:txBody>
          <a:bodyPr wrap="square" lIns="0" tIns="0" rIns="0" bIns="0" rtlCol="0" anchor="t"/>
          <a:lstStyle/>
          <a:p>
            <a:pPr rtl="1" algn="r" indent="0" marL="0">
              <a:lnSpc>
                <a:spcPct val="112000"/>
              </a:lnSpc>
              <a:spcAft>
                <a:spcPts val="300"/>
              </a:spcAft>
              <a:buNone/>
            </a:pPr>
            <a:r>
              <a:rPr lang="fa-IR" altLang="en-US" sz="1750" b="1" dirty="0">
                <a:solidFill>
                  <a:srgbClr val="C62828"/>
                </a:solidFill>
                <a:latin typeface="B Nazanin" pitchFamily="34" charset="0"/>
                <a:ea typeface="B Nazanin" pitchFamily="34" charset="-122"/>
                <a:cs typeface="B Nazanin" pitchFamily="34" charset="-120"/>
              </a:rPr>
              <a:t>ماده ۲۷ — تعطیل تا رفع کامل نواقص</a:t>
            </a:r>
            <a:endParaRPr lang="fa-IR" sz="1750" dirty="0"/>
          </a:p>
          <a:p>
            <a:pPr rtl="1" algn="r" indent="0" marL="0">
              <a:lnSpc>
                <a:spcPct val="112000"/>
              </a:lnSpc>
              <a:spcAft>
                <a:spcPts val="300"/>
              </a:spcAft>
              <a:buNone/>
            </a:pPr>
            <a:r>
              <a:rPr lang="fa-IR" altLang="en-US" sz="1500" dirty="0">
                <a:solidFill>
                  <a:srgbClr val="37474F"/>
                </a:solidFill>
                <a:latin typeface="B Nazanin" pitchFamily="34" charset="0"/>
                <a:ea typeface="B Nazanin" pitchFamily="34" charset="-122"/>
                <a:cs typeface="B Nazanin" pitchFamily="34" charset="-120"/>
              </a:rPr>
              <a:t>در صورتی که نواقص بحرانی ظرف مدت ۴۸ ساعت برطرف نگردد، مکان مذکور تا رفع کامل نواقص تعطیل خواهند شد و پس از برطرف شدن نواقص و تایید مسئول بهداشت محل از واحد مربوطه رفع تعطیل و فک مهر و موم خواهد شد. مسئول بهداشت محل به منظور رفع نواقص بهداشتی با اخذ تعهد نامه محضری از مالک، مدیر یا متصدی اجازه فک پلمپ موقت را به منظور انجام اقدامات اصلاحی صادر می نماید.</a:t>
            </a:r>
            <a:endParaRPr lang="fa-IR" sz="1750" dirty="0"/>
          </a:p>
          <a:p>
            <a:pPr rtl="1" algn="r" indent="0" marL="0">
              <a:lnSpc>
                <a:spcPct val="112000"/>
              </a:lnSpc>
              <a:spcAft>
                <a:spcPts val="300"/>
              </a:spcAft>
              <a:buNone/>
            </a:pPr>
            <a:r>
              <a:rPr lang="fa-IR" altLang="en-US" sz="1400" dirty="0">
                <a:solidFill>
                  <a:srgbClr val="37474F"/>
                </a:solidFill>
                <a:latin typeface="B Nazanin" pitchFamily="34" charset="0"/>
                <a:ea typeface="B Nazanin" pitchFamily="34" charset="-122"/>
                <a:cs typeface="B Nazanin" pitchFamily="34" charset="-120"/>
              </a:rPr>
              <a:t>فرم‌های مرتبط (دستورالعمل ۱۸۰۳۹۲۰۶): </a:t>
            </a:r>
            <a:pPr rtl="1" algn="r" indent="0" marL="0">
              <a:lnSpc>
                <a:spcPct val="112000"/>
              </a:lnSpc>
              <a:spcAft>
                <a:spcPts val="300"/>
              </a:spcAft>
              <a:buNone/>
            </a:pPr>
            <a:r>
              <a:rPr lang="fa-IR" altLang="en-US" sz="1400" b="1" u="sng" dirty="0">
                <a:solidFill>
                  <a:srgbClr val="1565C0"/>
                </a:solidFill>
                <a:uFill>
                  <a:solidFill>
                    <a:srgbClr val="1565C0"/>
                  </a:solidFill>
                </a:uFill>
                <a:latin typeface="B Nazanin" pitchFamily="34" charset="0"/>
                <a:ea typeface="B Nazanin" pitchFamily="34" charset="-122"/>
                <a:cs typeface="B Nazanin" pitchFamily="34" charset="-120"/>
                <a:hlinkClick r:id="rId17" invalidUrl="" action="" tgtFrame="" tooltip="فرم ۹: صورت مجلس پلمب" history="1" highlightClick="0" endSnd="0">
                  <a:extLst>
                    <a:ext uri="{A12FA001-AC4F-418D-AE19-62706E023703}">
                      <ahyp:hlinkClr xmlns:ahyp="http://schemas.microsoft.com/office/drawing/2018/hyperlinkcolor" val="tx"/>
                    </a:ext>
                  </a:extLst>
                </a:hlinkClick>
              </a:rPr>
              <a:t>۹-۱۸۰۳۹۲۰۶</a:t>
            </a:r>
            <a:pPr rtl="1" algn="r" indent="0" marL="0">
              <a:lnSpc>
                <a:spcPct val="112000"/>
              </a:lnSpc>
              <a:spcAft>
                <a:spcPts val="300"/>
              </a:spcAft>
              <a:buNone/>
            </a:pPr>
            <a:r>
              <a:rPr lang="fa-IR" altLang="en-US" sz="1400" dirty="0">
                <a:solidFill>
                  <a:srgbClr val="37474F"/>
                </a:solidFill>
                <a:latin typeface="B Nazanin" pitchFamily="34" charset="0"/>
                <a:ea typeface="B Nazanin" pitchFamily="34" charset="-122"/>
                <a:cs typeface="B Nazanin" pitchFamily="34" charset="-120"/>
              </a:rPr>
              <a:t>  ،  </a:t>
            </a:r>
            <a:pPr rtl="1" algn="r" indent="0" marL="0">
              <a:lnSpc>
                <a:spcPct val="112000"/>
              </a:lnSpc>
              <a:spcAft>
                <a:spcPts val="300"/>
              </a:spcAft>
              <a:buNone/>
            </a:pPr>
            <a:r>
              <a:rPr lang="fa-IR" altLang="en-US" sz="1400" b="1" u="sng" dirty="0">
                <a:solidFill>
                  <a:srgbClr val="1565C0"/>
                </a:solidFill>
                <a:uFill>
                  <a:solidFill>
                    <a:srgbClr val="1565C0"/>
                  </a:solidFill>
                </a:uFill>
                <a:latin typeface="B Nazanin" pitchFamily="34" charset="0"/>
                <a:ea typeface="B Nazanin" pitchFamily="34" charset="-122"/>
                <a:cs typeface="B Nazanin" pitchFamily="34" charset="-120"/>
                <a:hlinkClick r:id="rId18" invalidUrl="" action="" tgtFrame="" tooltip="فرم ۱۰: ارجاع پرونده متخلف بهداشتی به دادگاه (نواقص بحرانی)" history="1" highlightClick="0" endSnd="0">
                  <a:extLst>
                    <a:ext uri="{A12FA001-AC4F-418D-AE19-62706E023703}">
                      <ahyp:hlinkClr xmlns:ahyp="http://schemas.microsoft.com/office/drawing/2018/hyperlinkcolor" val="tx"/>
                    </a:ext>
                  </a:extLst>
                </a:hlinkClick>
              </a:rPr>
              <a:t>۱۰-۱۸۰۳۹۲۰۶</a:t>
            </a:r>
            <a:pPr rtl="1" algn="r" indent="0" marL="0">
              <a:lnSpc>
                <a:spcPct val="112000"/>
              </a:lnSpc>
              <a:spcAft>
                <a:spcPts val="300"/>
              </a:spcAft>
              <a:buNone/>
            </a:pPr>
            <a:r>
              <a:rPr lang="fa-IR" altLang="en-US" sz="1400" dirty="0">
                <a:solidFill>
                  <a:srgbClr val="37474F"/>
                </a:solidFill>
                <a:latin typeface="B Nazanin" pitchFamily="34" charset="0"/>
                <a:ea typeface="B Nazanin" pitchFamily="34" charset="-122"/>
                <a:cs typeface="B Nazanin" pitchFamily="34" charset="-120"/>
              </a:rPr>
              <a:t>  ،  </a:t>
            </a:r>
            <a:pPr rtl="1" algn="r" indent="0" marL="0">
              <a:lnSpc>
                <a:spcPct val="112000"/>
              </a:lnSpc>
              <a:spcAft>
                <a:spcPts val="300"/>
              </a:spcAft>
              <a:buNone/>
            </a:pPr>
            <a:r>
              <a:rPr lang="fa-IR" altLang="en-US" sz="1400" b="1" u="sng" dirty="0">
                <a:solidFill>
                  <a:srgbClr val="1565C0"/>
                </a:solidFill>
                <a:uFill>
                  <a:solidFill>
                    <a:srgbClr val="1565C0"/>
                  </a:solidFill>
                </a:uFill>
                <a:latin typeface="B Nazanin" pitchFamily="34" charset="0"/>
                <a:ea typeface="B Nazanin" pitchFamily="34" charset="-122"/>
                <a:cs typeface="B Nazanin" pitchFamily="34" charset="-120"/>
                <a:hlinkClick r:id="rId19" invalidUrl="" action="" tgtFrame="" tooltip="فرم ۱۸: تعهد محضری" history="1" highlightClick="0" endSnd="0">
                  <a:extLst>
                    <a:ext uri="{A12FA001-AC4F-418D-AE19-62706E023703}">
                      <ahyp:hlinkClr xmlns:ahyp="http://schemas.microsoft.com/office/drawing/2018/hyperlinkcolor" val="tx"/>
                    </a:ext>
                  </a:extLst>
                </a:hlinkClick>
              </a:rPr>
              <a:t>۱۸-۱۸۰۳۹۲۰۶</a:t>
            </a:r>
            <a:pPr rtl="1" algn="r" indent="0" marL="0">
              <a:lnSpc>
                <a:spcPct val="112000"/>
              </a:lnSpc>
              <a:spcAft>
                <a:spcPts val="300"/>
              </a:spcAft>
              <a:buNone/>
            </a:pPr>
            <a:r>
              <a:rPr lang="fa-IR" altLang="en-US" sz="1400" dirty="0">
                <a:solidFill>
                  <a:srgbClr val="37474F"/>
                </a:solidFill>
                <a:latin typeface="B Nazanin" pitchFamily="34" charset="0"/>
                <a:ea typeface="B Nazanin" pitchFamily="34" charset="-122"/>
                <a:cs typeface="B Nazanin" pitchFamily="34" charset="-120"/>
              </a:rPr>
              <a:t>  ،  </a:t>
            </a:r>
            <a:pPr rtl="1" algn="r" indent="0" marL="0">
              <a:lnSpc>
                <a:spcPct val="112000"/>
              </a:lnSpc>
              <a:spcAft>
                <a:spcPts val="300"/>
              </a:spcAft>
              <a:buNone/>
            </a:pPr>
            <a:r>
              <a:rPr lang="fa-IR" altLang="en-US" sz="1400" b="1" u="sng" dirty="0">
                <a:solidFill>
                  <a:srgbClr val="1565C0"/>
                </a:solidFill>
                <a:uFill>
                  <a:solidFill>
                    <a:srgbClr val="1565C0"/>
                  </a:solidFill>
                </a:uFill>
                <a:latin typeface="B Nazanin" pitchFamily="34" charset="0"/>
                <a:ea typeface="B Nazanin" pitchFamily="34" charset="-122"/>
                <a:cs typeface="B Nazanin" pitchFamily="34" charset="-120"/>
                <a:hlinkClick r:id="rId20" invalidUrl="" action="" tgtFrame="" tooltip="فرم ۱۹: صورت مجلس فک پلمب به منظور رفع نواقص بهداشتی" history="1" highlightClick="0" endSnd="0">
                  <a:extLst>
                    <a:ext uri="{A12FA001-AC4F-418D-AE19-62706E023703}">
                      <ahyp:hlinkClr xmlns:ahyp="http://schemas.microsoft.com/office/drawing/2018/hyperlinkcolor" val="tx"/>
                    </a:ext>
                  </a:extLst>
                </a:hlinkClick>
              </a:rPr>
              <a:t>۱۹-۱۸۰۳۹۲۰۶</a:t>
            </a:r>
            <a:endParaRPr lang="fa-IR" sz="1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Text 2"/>
          <p:cNvSpPr txBox="1"/>
          <p:nvPr/>
        </p:nvSpPr>
        <p:spPr>
          <a:xfrm>
            <a:off x="10543032" y="2377440"/>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تعاریف</a:t>
            </a:r>
            <a:endParaRPr lang="fa-IR" sz="1250" dirty="0"/>
          </a:p>
        </p:txBody>
      </p:sp>
      <p:sp>
        <p:nvSpPr>
          <p:cNvPr id="8" name="Shape 3">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9" name="Text 4"/>
          <p:cNvSpPr txBox="1"/>
          <p:nvPr/>
        </p:nvSpPr>
        <p:spPr>
          <a:xfrm>
            <a:off x="10543032" y="2980944"/>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کلیات</a:t>
            </a:r>
            <a:endParaRPr lang="fa-IR" sz="1250" dirty="0"/>
          </a:p>
        </p:txBody>
      </p:sp>
      <p:sp>
        <p:nvSpPr>
          <p:cNvPr id="10" name="Shape 5">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1" name="Text 6"/>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2" name="Shape 7">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3" name="Shape 8"/>
          <p:cNvSpPr/>
          <p:nvPr/>
        </p:nvSpPr>
        <p:spPr>
          <a:xfrm>
            <a:off x="10543032" y="4187952"/>
            <a:ext cx="1481328" cy="402336"/>
          </a:xfrm>
          <a:prstGeom prst="roundRect">
            <a:avLst>
              <a:gd name="adj" fmla="val 18182"/>
            </a:avLst>
          </a:prstGeom>
          <a:solidFill>
            <a:srgbClr val="FFC107"/>
          </a:solidFill>
          <a:ln w="12700">
            <a:solidFill>
              <a:srgbClr val="FFC107"/>
            </a:solidFill>
            <a:prstDash val="solid"/>
          </a:ln>
        </p:spPr>
      </p:sp>
      <p:sp>
        <p:nvSpPr>
          <p:cNvPr id="14" name="Text 9"/>
          <p:cNvSpPr txBox="1"/>
          <p:nvPr/>
        </p:nvSpPr>
        <p:spPr>
          <a:xfrm>
            <a:off x="10543032" y="4187952"/>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وظایف</a:t>
            </a:r>
            <a:endParaRPr lang="fa-IR" sz="1250" dirty="0"/>
          </a:p>
        </p:txBody>
      </p:sp>
      <p:sp>
        <p:nvSpPr>
          <p:cNvPr id="15" name="Shape 10">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۳۱</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نواقص غیربحرانی و همکاری ماموران انتظامی</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Duties — Articles 22-40</a:t>
            </a:r>
            <a:endParaRPr lang="en-US" sz="1550" dirty="0"/>
          </a:p>
        </p:txBody>
      </p:sp>
      <p:sp>
        <p:nvSpPr>
          <p:cNvPr id="25" name="Shape 18"/>
          <p:cNvSpPr/>
          <p:nvPr/>
        </p:nvSpPr>
        <p:spPr>
          <a:xfrm>
            <a:off x="548640" y="1572768"/>
            <a:ext cx="9418320" cy="2085594"/>
          </a:xfrm>
          <a:prstGeom prst="roundRect">
            <a:avLst>
              <a:gd name="adj" fmla="val 5261"/>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26" name="Shape 19"/>
          <p:cNvSpPr/>
          <p:nvPr/>
        </p:nvSpPr>
        <p:spPr>
          <a:xfrm>
            <a:off x="9098280" y="1755648"/>
            <a:ext cx="658368" cy="658368"/>
          </a:xfrm>
          <a:prstGeom prst="ellipse">
            <a:avLst/>
          </a:prstGeom>
          <a:solidFill>
            <a:srgbClr val="FFC107"/>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27" name="Text 20"/>
          <p:cNvSpPr txBox="1"/>
          <p:nvPr/>
        </p:nvSpPr>
        <p:spPr>
          <a:xfrm>
            <a:off x="90525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۲۸</a:t>
            </a:r>
            <a:endParaRPr lang="fa-IR" sz="1500" dirty="0"/>
          </a:p>
        </p:txBody>
      </p:sp>
      <p:sp>
        <p:nvSpPr>
          <p:cNvPr id="28" name="Text 21"/>
          <p:cNvSpPr txBox="1"/>
          <p:nvPr/>
        </p:nvSpPr>
        <p:spPr>
          <a:xfrm>
            <a:off x="822960" y="1737360"/>
            <a:ext cx="8092440" cy="1811274"/>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50" b="1" dirty="0">
                <a:solidFill>
                  <a:srgbClr val="0D3B8C"/>
                </a:solidFill>
                <a:latin typeface="B Nazanin" pitchFamily="34" charset="0"/>
                <a:ea typeface="B Nazanin" pitchFamily="34" charset="-122"/>
                <a:cs typeface="B Nazanin" pitchFamily="34" charset="-120"/>
              </a:rPr>
              <a:t>ماده ۲۸ — مهلت ۶۰ روزه نواقص غیربحرانی</a:t>
            </a:r>
            <a:endParaRPr lang="fa-IR" sz="1850" dirty="0"/>
          </a:p>
          <a:p>
            <a:pPr rtl="1" algn="r" indent="0" marL="0">
              <a:lnSpc>
                <a:spcPct val="112000"/>
              </a:lnSpc>
              <a:spcAft>
                <a:spcPts val="300"/>
              </a:spcAft>
              <a:buNone/>
            </a:pPr>
            <a:r>
              <a:rPr lang="fa-IR" altLang="en-US" sz="1600" dirty="0">
                <a:solidFill>
                  <a:srgbClr val="37474F"/>
                </a:solidFill>
                <a:latin typeface="B Nazanin" pitchFamily="34" charset="0"/>
                <a:ea typeface="B Nazanin" pitchFamily="34" charset="-122"/>
                <a:cs typeface="B Nazanin" pitchFamily="34" charset="-120"/>
              </a:rPr>
              <a:t>در رابطه با نواقص غیر بحرانی در صورتی که این نواقص حداکثر تا ۶۰ روز برطرف نگردد، مکان مذکور تا رفع کامل نواقص تعطیل خواهد شد.</a:t>
            </a:r>
            <a:endParaRPr lang="fa-IR" sz="1850" dirty="0"/>
          </a:p>
          <a:p>
            <a:pPr rtl="1" algn="r" indent="0" marL="0">
              <a:lnSpc>
                <a:spcPct val="112000"/>
              </a:lnSpc>
              <a:spcAft>
                <a:spcPts val="300"/>
              </a:spcAft>
              <a:buNone/>
            </a:pPr>
            <a:r>
              <a:rPr lang="fa-IR" altLang="en-US" sz="1500" dirty="0">
                <a:solidFill>
                  <a:srgbClr val="37474F"/>
                </a:solidFill>
                <a:latin typeface="B Nazanin" pitchFamily="34" charset="0"/>
                <a:ea typeface="B Nazanin" pitchFamily="34" charset="-122"/>
                <a:cs typeface="B Nazanin" pitchFamily="34" charset="-120"/>
              </a:rPr>
              <a:t>فرم‌های مرتبط (دستورالعمل ۱۸۰۳۹۲۰۶): </a:t>
            </a:r>
            <a:pPr rtl="1" algn="r" indent="0" marL="0">
              <a:lnSpc>
                <a:spcPct val="112000"/>
              </a:lnSpc>
              <a:spcAft>
                <a:spcPts val="300"/>
              </a:spcAft>
              <a:buNone/>
            </a:pPr>
            <a:r>
              <a:rPr lang="fa-IR" altLang="en-US" sz="1500" b="1" u="sng" dirty="0">
                <a:solidFill>
                  <a:srgbClr val="1565C0"/>
                </a:solidFill>
                <a:uFill>
                  <a:solidFill>
                    <a:srgbClr val="1565C0"/>
                  </a:solidFill>
                </a:uFill>
                <a:latin typeface="B Nazanin" pitchFamily="34" charset="0"/>
                <a:ea typeface="B Nazanin" pitchFamily="34" charset="-122"/>
                <a:cs typeface="B Nazanin" pitchFamily="34" charset="-120"/>
                <a:hlinkClick r:id="rId16" invalidUrl="" action="" tgtFrame="" tooltip="فرم ۴: اخطار برای رفع نواقص غیر بحرانی" history="1" highlightClick="0" endSnd="0">
                  <a:extLst>
                    <a:ext uri="{A12FA001-AC4F-418D-AE19-62706E023703}">
                      <ahyp:hlinkClr xmlns:ahyp="http://schemas.microsoft.com/office/drawing/2018/hyperlinkcolor" val="tx"/>
                    </a:ext>
                  </a:extLst>
                </a:hlinkClick>
              </a:rPr>
              <a:t>۴-۱۸۰۳۹۲۰۶</a:t>
            </a:r>
            <a:endParaRPr lang="fa-IR" sz="1850" dirty="0"/>
          </a:p>
        </p:txBody>
      </p:sp>
      <p:sp>
        <p:nvSpPr>
          <p:cNvPr id="29" name="Shape 22"/>
          <p:cNvSpPr/>
          <p:nvPr/>
        </p:nvSpPr>
        <p:spPr>
          <a:xfrm>
            <a:off x="548640" y="3841242"/>
            <a:ext cx="9418320" cy="2330958"/>
          </a:xfrm>
          <a:prstGeom prst="roundRect">
            <a:avLst>
              <a:gd name="adj" fmla="val 4707"/>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0" name="Shape 23"/>
          <p:cNvSpPr/>
          <p:nvPr/>
        </p:nvSpPr>
        <p:spPr>
          <a:xfrm>
            <a:off x="9098280" y="4024122"/>
            <a:ext cx="658368" cy="658368"/>
          </a:xfrm>
          <a:prstGeom prst="ellipse">
            <a:avLst/>
          </a:prstGeom>
          <a:solidFill>
            <a:srgbClr val="0D3B8C"/>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1" name="Text 24"/>
          <p:cNvSpPr txBox="1"/>
          <p:nvPr/>
        </p:nvSpPr>
        <p:spPr>
          <a:xfrm>
            <a:off x="9052560" y="4024122"/>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۲۹</a:t>
            </a:r>
            <a:endParaRPr lang="fa-IR" sz="1500" dirty="0"/>
          </a:p>
        </p:txBody>
      </p:sp>
      <p:sp>
        <p:nvSpPr>
          <p:cNvPr id="32" name="Text 25"/>
          <p:cNvSpPr txBox="1"/>
          <p:nvPr/>
        </p:nvSpPr>
        <p:spPr>
          <a:xfrm>
            <a:off x="822960" y="4005834"/>
            <a:ext cx="8092440" cy="2056638"/>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50" b="1" dirty="0">
                <a:solidFill>
                  <a:srgbClr val="0D3B8C"/>
                </a:solidFill>
                <a:latin typeface="B Nazanin" pitchFamily="34" charset="0"/>
                <a:ea typeface="B Nazanin" pitchFamily="34" charset="-122"/>
                <a:cs typeface="B Nazanin" pitchFamily="34" charset="-120"/>
              </a:rPr>
              <a:t>ماده ۲۹ — همکاری ماموران انتظامی</a:t>
            </a:r>
            <a:endParaRPr lang="fa-IR" sz="1850" dirty="0"/>
          </a:p>
          <a:p>
            <a:pPr rtl="1" algn="r" indent="0" marL="0">
              <a:lnSpc>
                <a:spcPct val="112000"/>
              </a:lnSpc>
              <a:spcAft>
                <a:spcPts val="300"/>
              </a:spcAft>
              <a:buNone/>
            </a:pPr>
            <a:r>
              <a:rPr lang="fa-IR" altLang="en-US" sz="1600" dirty="0">
                <a:solidFill>
                  <a:srgbClr val="37474F"/>
                </a:solidFill>
                <a:latin typeface="B Nazanin" pitchFamily="34" charset="0"/>
                <a:ea typeface="B Nazanin" pitchFamily="34" charset="-122"/>
                <a:cs typeface="B Nazanin" pitchFamily="34" charset="-120"/>
              </a:rPr>
              <a:t>مامورین انتظامی موظفند در تمام مراحل اجرای عملیات بازرسی، تعطیل و مهر و موم یا لاک و مهر کردن محل، مطابق قانون همکاری لازم را با بازرسین وزارت به عمل آورند و در صورت تشخیص و درخواست مسئول بهداشت محل مکان غیر بهداشتی را با حضور بازرس تعطیل نماید.</a:t>
            </a:r>
            <a:endParaRPr lang="fa-IR" sz="1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Text 2"/>
          <p:cNvSpPr txBox="1"/>
          <p:nvPr/>
        </p:nvSpPr>
        <p:spPr>
          <a:xfrm>
            <a:off x="10543032" y="2377440"/>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تعاریف</a:t>
            </a:r>
            <a:endParaRPr lang="fa-IR" sz="1250" dirty="0"/>
          </a:p>
        </p:txBody>
      </p:sp>
      <p:sp>
        <p:nvSpPr>
          <p:cNvPr id="8" name="Shape 3">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9" name="Text 4"/>
          <p:cNvSpPr txBox="1"/>
          <p:nvPr/>
        </p:nvSpPr>
        <p:spPr>
          <a:xfrm>
            <a:off x="10543032" y="2980944"/>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کلیات</a:t>
            </a:r>
            <a:endParaRPr lang="fa-IR" sz="1250" dirty="0"/>
          </a:p>
        </p:txBody>
      </p:sp>
      <p:sp>
        <p:nvSpPr>
          <p:cNvPr id="10" name="Shape 5">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1" name="Text 6"/>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2" name="Shape 7">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3" name="Shape 8"/>
          <p:cNvSpPr/>
          <p:nvPr/>
        </p:nvSpPr>
        <p:spPr>
          <a:xfrm>
            <a:off x="10543032" y="4187952"/>
            <a:ext cx="1481328" cy="402336"/>
          </a:xfrm>
          <a:prstGeom prst="roundRect">
            <a:avLst>
              <a:gd name="adj" fmla="val 18182"/>
            </a:avLst>
          </a:prstGeom>
          <a:solidFill>
            <a:srgbClr val="FFC107"/>
          </a:solidFill>
          <a:ln w="12700">
            <a:solidFill>
              <a:srgbClr val="FFC107"/>
            </a:solidFill>
            <a:prstDash val="solid"/>
          </a:ln>
        </p:spPr>
      </p:sp>
      <p:sp>
        <p:nvSpPr>
          <p:cNvPr id="14" name="Text 9"/>
          <p:cNvSpPr txBox="1"/>
          <p:nvPr/>
        </p:nvSpPr>
        <p:spPr>
          <a:xfrm>
            <a:off x="10543032" y="4187952"/>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وظایف</a:t>
            </a:r>
            <a:endParaRPr lang="fa-IR" sz="1250" dirty="0"/>
          </a:p>
        </p:txBody>
      </p:sp>
      <p:sp>
        <p:nvSpPr>
          <p:cNvPr id="15" name="Shape 10">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۳۲</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ماده ۳۰: فرایند رسیدگی به نواقص غیربحرانی</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Duties — Articles 22-40</a:t>
            </a:r>
            <a:endParaRPr lang="en-US" sz="1550" dirty="0"/>
          </a:p>
        </p:txBody>
      </p:sp>
      <p:sp>
        <p:nvSpPr>
          <p:cNvPr id="25" name="Shape 18"/>
          <p:cNvSpPr/>
          <p:nvPr/>
        </p:nvSpPr>
        <p:spPr>
          <a:xfrm>
            <a:off x="548640" y="1572768"/>
            <a:ext cx="9418320" cy="4599432"/>
          </a:xfrm>
          <a:prstGeom prst="roundRect">
            <a:avLst>
              <a:gd name="adj" fmla="val 2386"/>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26" name="Shape 19"/>
          <p:cNvSpPr/>
          <p:nvPr/>
        </p:nvSpPr>
        <p:spPr>
          <a:xfrm>
            <a:off x="9098280" y="1755648"/>
            <a:ext cx="658368" cy="658368"/>
          </a:xfrm>
          <a:prstGeom prst="ellipse">
            <a:avLst/>
          </a:prstGeom>
          <a:solidFill>
            <a:srgbClr val="FFC107"/>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27" name="Text 20"/>
          <p:cNvSpPr txBox="1"/>
          <p:nvPr/>
        </p:nvSpPr>
        <p:spPr>
          <a:xfrm>
            <a:off x="90525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۳۰</a:t>
            </a:r>
            <a:endParaRPr lang="fa-IR" sz="1500" dirty="0"/>
          </a:p>
        </p:txBody>
      </p:sp>
      <p:sp>
        <p:nvSpPr>
          <p:cNvPr id="28" name="Text 21"/>
          <p:cNvSpPr txBox="1"/>
          <p:nvPr/>
        </p:nvSpPr>
        <p:spPr>
          <a:xfrm>
            <a:off x="822960" y="1737360"/>
            <a:ext cx="8092440" cy="4325112"/>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50" b="1" dirty="0">
                <a:solidFill>
                  <a:srgbClr val="0D3B8C"/>
                </a:solidFill>
                <a:latin typeface="B Nazanin" pitchFamily="34" charset="0"/>
                <a:ea typeface="B Nazanin" pitchFamily="34" charset="-122"/>
                <a:cs typeface="B Nazanin" pitchFamily="34" charset="-120"/>
              </a:rPr>
              <a:t>معرفی متخلف، اخطار ۶۰ روزه، تعطیل و فک پلمب موقت</a:t>
            </a:r>
            <a:endParaRPr lang="fa-IR" sz="1850" dirty="0"/>
          </a:p>
          <a:p>
            <a:pPr rtl="1" algn="r" indent="0" marL="0">
              <a:lnSpc>
                <a:spcPct val="112000"/>
              </a:lnSpc>
              <a:spcAft>
                <a:spcPts val="300"/>
              </a:spcAft>
              <a:buNone/>
            </a:pPr>
            <a:r>
              <a:rPr lang="fa-IR" altLang="en-US" sz="1600" dirty="0">
                <a:solidFill>
                  <a:srgbClr val="37474F"/>
                </a:solidFill>
                <a:latin typeface="B Nazanin" pitchFamily="34" charset="0"/>
                <a:ea typeface="B Nazanin" pitchFamily="34" charset="-122"/>
                <a:cs typeface="B Nazanin" pitchFamily="34" charset="-120"/>
              </a:rPr>
              <a:t>بازرسینی که برای نظارت بهداشتی اماکن و مراکز مشمول این آیین نامه تعیین و اعزام می شوند مکلفند متخلفین از مقررات بهداشتی غیر بحرانی را با ذکر موارد تخلف با تنظیم گزارش به مسئول بهداشت محل معرفی نمایند. مسئول بهداشت محل در صورت تایید گزارش به صاحب مرکز و یا مسئولین مربوطه اخطار می نماید تا حداکثر ظرف مدت ۶۰ روز نسبت به رفع نواقص بهداشتی در مهلت تعیین شده اقدام کنند و در صورت عدم رفع موارد تخلف، بعد از صدور اخطار تعطیل ۴۸ ساعته، دستور تعطیلی محل و مهر و موم و یا لاک و مهر آن را بدون حکم مراجع قضایی صادر می نماید و پس از برطرف شدن نواقص و تایید مسئول بهداشت محل از واحد مربوطه رفع تعطیل و فک مهر و موم خواهد شد. مسئول بهداشت محل به منظور رفع نواقص بهداشتی با اخذ تعهدنامه محضری از مالک، مدیر یا متصدی اجازه فک پلمپ موقت را به منظور انجام اقدامات اصلاحی صادر می نماید.</a:t>
            </a:r>
            <a:endParaRPr lang="fa-IR" sz="1850" dirty="0"/>
          </a:p>
          <a:p>
            <a:pPr rtl="1" algn="r" indent="0" marL="0">
              <a:lnSpc>
                <a:spcPct val="112000"/>
              </a:lnSpc>
              <a:spcAft>
                <a:spcPts val="300"/>
              </a:spcAft>
              <a:buNone/>
            </a:pPr>
            <a:r>
              <a:rPr lang="fa-IR" altLang="en-US" sz="1500" dirty="0">
                <a:solidFill>
                  <a:srgbClr val="37474F"/>
                </a:solidFill>
                <a:latin typeface="B Nazanin" pitchFamily="34" charset="0"/>
                <a:ea typeface="B Nazanin" pitchFamily="34" charset="-122"/>
                <a:cs typeface="B Nazanin" pitchFamily="34" charset="-120"/>
              </a:rPr>
              <a:t>فرم‌های مرتبط (دستورالعمل ۱۸۰۳۹۲۰۶): </a:t>
            </a:r>
            <a:pPr rtl="1" algn="r" indent="0" marL="0">
              <a:lnSpc>
                <a:spcPct val="112000"/>
              </a:lnSpc>
              <a:spcAft>
                <a:spcPts val="300"/>
              </a:spcAft>
              <a:buNone/>
            </a:pPr>
            <a:r>
              <a:rPr lang="fa-IR" altLang="en-US" sz="1500" b="1" u="sng" dirty="0">
                <a:solidFill>
                  <a:srgbClr val="1565C0"/>
                </a:solidFill>
                <a:uFill>
                  <a:solidFill>
                    <a:srgbClr val="1565C0"/>
                  </a:solidFill>
                </a:uFill>
                <a:latin typeface="B Nazanin" pitchFamily="34" charset="0"/>
                <a:ea typeface="B Nazanin" pitchFamily="34" charset="-122"/>
                <a:cs typeface="B Nazanin" pitchFamily="34" charset="-120"/>
                <a:hlinkClick r:id="rId16" invalidUrl="" action="" tgtFrame="" tooltip="فرم ۴: اخطار برای رفع نواقص غیر بحرانی" history="1" highlightClick="0" endSnd="0">
                  <a:extLst>
                    <a:ext uri="{A12FA001-AC4F-418D-AE19-62706E023703}">
                      <ahyp:hlinkClr xmlns:ahyp="http://schemas.microsoft.com/office/drawing/2018/hyperlinkcolor" val="tx"/>
                    </a:ext>
                  </a:extLst>
                </a:hlinkClick>
              </a:rPr>
              <a:t>۴-۱۸۰۳۹۲۰۶</a:t>
            </a:r>
            <a:pPr rtl="1" algn="r" indent="0" marL="0">
              <a:lnSpc>
                <a:spcPct val="112000"/>
              </a:lnSpc>
              <a:spcAft>
                <a:spcPts val="300"/>
              </a:spcAft>
              <a:buNone/>
            </a:pPr>
            <a:r>
              <a:rPr lang="fa-IR" altLang="en-US" sz="1500" dirty="0">
                <a:solidFill>
                  <a:srgbClr val="37474F"/>
                </a:solidFill>
                <a:latin typeface="B Nazanin" pitchFamily="34" charset="0"/>
                <a:ea typeface="B Nazanin" pitchFamily="34" charset="-122"/>
                <a:cs typeface="B Nazanin" pitchFamily="34" charset="-120"/>
              </a:rPr>
              <a:t>  ،  </a:t>
            </a:r>
            <a:pPr rtl="1" algn="r" indent="0" marL="0">
              <a:lnSpc>
                <a:spcPct val="112000"/>
              </a:lnSpc>
              <a:spcAft>
                <a:spcPts val="300"/>
              </a:spcAft>
              <a:buNone/>
            </a:pPr>
            <a:r>
              <a:rPr lang="fa-IR" altLang="en-US" sz="1500" b="1" u="sng" dirty="0">
                <a:solidFill>
                  <a:srgbClr val="1565C0"/>
                </a:solidFill>
                <a:uFill>
                  <a:solidFill>
                    <a:srgbClr val="1565C0"/>
                  </a:solidFill>
                </a:uFill>
                <a:latin typeface="B Nazanin" pitchFamily="34" charset="0"/>
                <a:ea typeface="B Nazanin" pitchFamily="34" charset="-122"/>
                <a:cs typeface="B Nazanin" pitchFamily="34" charset="-120"/>
                <a:hlinkClick r:id="rId17" invalidUrl="" action="" tgtFrame="" tooltip="فرم ۱۲: گزارش کتبی عدم رفع نواقص غیربحرانی در مهلت مقرر" history="1" highlightClick="0" endSnd="0">
                  <a:extLst>
                    <a:ext uri="{A12FA001-AC4F-418D-AE19-62706E023703}">
                      <ahyp:hlinkClr xmlns:ahyp="http://schemas.microsoft.com/office/drawing/2018/hyperlinkcolor" val="tx"/>
                    </a:ext>
                  </a:extLst>
                </a:hlinkClick>
              </a:rPr>
              <a:t>۱۲-۱۸۰۳۹۲۰۶</a:t>
            </a:r>
            <a:pPr rtl="1" algn="r" indent="0" marL="0">
              <a:lnSpc>
                <a:spcPct val="112000"/>
              </a:lnSpc>
              <a:spcAft>
                <a:spcPts val="300"/>
              </a:spcAft>
              <a:buNone/>
            </a:pPr>
            <a:r>
              <a:rPr lang="fa-IR" altLang="en-US" sz="1500" dirty="0">
                <a:solidFill>
                  <a:srgbClr val="37474F"/>
                </a:solidFill>
                <a:latin typeface="B Nazanin" pitchFamily="34" charset="0"/>
                <a:ea typeface="B Nazanin" pitchFamily="34" charset="-122"/>
                <a:cs typeface="B Nazanin" pitchFamily="34" charset="-120"/>
              </a:rPr>
              <a:t>  ،  </a:t>
            </a:r>
            <a:pPr rtl="1" algn="r" indent="0" marL="0">
              <a:lnSpc>
                <a:spcPct val="112000"/>
              </a:lnSpc>
              <a:spcAft>
                <a:spcPts val="300"/>
              </a:spcAft>
              <a:buNone/>
            </a:pPr>
            <a:r>
              <a:rPr lang="fa-IR" altLang="en-US" sz="1500" b="1" u="sng" dirty="0">
                <a:solidFill>
                  <a:srgbClr val="1565C0"/>
                </a:solidFill>
                <a:uFill>
                  <a:solidFill>
                    <a:srgbClr val="1565C0"/>
                  </a:solidFill>
                </a:uFill>
                <a:latin typeface="B Nazanin" pitchFamily="34" charset="0"/>
                <a:ea typeface="B Nazanin" pitchFamily="34" charset="-122"/>
                <a:cs typeface="B Nazanin" pitchFamily="34" charset="-120"/>
                <a:hlinkClick r:id="rId18" invalidUrl="" action="" tgtFrame="" tooltip="فرم ۱۳: گزارش کتبی عدم رفع نواقص غیربحرانی در مهلت مقرر" history="1" highlightClick="0" endSnd="0">
                  <a:extLst>
                    <a:ext uri="{A12FA001-AC4F-418D-AE19-62706E023703}">
                      <ahyp:hlinkClr xmlns:ahyp="http://schemas.microsoft.com/office/drawing/2018/hyperlinkcolor" val="tx"/>
                    </a:ext>
                  </a:extLst>
                </a:hlinkClick>
              </a:rPr>
              <a:t>۱۳-۱۸۰۳۹۲۰۶</a:t>
            </a:r>
            <a:pPr rtl="1" algn="r" indent="0" marL="0">
              <a:lnSpc>
                <a:spcPct val="112000"/>
              </a:lnSpc>
              <a:spcAft>
                <a:spcPts val="300"/>
              </a:spcAft>
              <a:buNone/>
            </a:pPr>
            <a:r>
              <a:rPr lang="fa-IR" altLang="en-US" sz="1500" dirty="0">
                <a:solidFill>
                  <a:srgbClr val="37474F"/>
                </a:solidFill>
                <a:latin typeface="B Nazanin" pitchFamily="34" charset="0"/>
                <a:ea typeface="B Nazanin" pitchFamily="34" charset="-122"/>
                <a:cs typeface="B Nazanin" pitchFamily="34" charset="-120"/>
              </a:rPr>
              <a:t>  ،  </a:t>
            </a:r>
            <a:pPr rtl="1" algn="r" indent="0" marL="0">
              <a:lnSpc>
                <a:spcPct val="112000"/>
              </a:lnSpc>
              <a:spcAft>
                <a:spcPts val="300"/>
              </a:spcAft>
              <a:buNone/>
            </a:pPr>
            <a:r>
              <a:rPr lang="fa-IR" altLang="en-US" sz="1500" b="1" u="sng" dirty="0">
                <a:solidFill>
                  <a:srgbClr val="1565C0"/>
                </a:solidFill>
                <a:uFill>
                  <a:solidFill>
                    <a:srgbClr val="1565C0"/>
                  </a:solidFill>
                </a:uFill>
                <a:latin typeface="B Nazanin" pitchFamily="34" charset="0"/>
                <a:ea typeface="B Nazanin" pitchFamily="34" charset="-122"/>
                <a:cs typeface="B Nazanin" pitchFamily="34" charset="-120"/>
                <a:hlinkClick r:id="rId19" invalidUrl="" action="" tgtFrame="" tooltip="فرم ۱۴: اخطار ۴۸ ساعته جهت پلمب" history="1" highlightClick="0" endSnd="0">
                  <a:extLst>
                    <a:ext uri="{A12FA001-AC4F-418D-AE19-62706E023703}">
                      <ahyp:hlinkClr xmlns:ahyp="http://schemas.microsoft.com/office/drawing/2018/hyperlinkcolor" val="tx"/>
                    </a:ext>
                  </a:extLst>
                </a:hlinkClick>
              </a:rPr>
              <a:t>۱۴-۱۸۰۳۹۲۰۶</a:t>
            </a:r>
            <a:pPr rtl="1" algn="r" indent="0" marL="0">
              <a:lnSpc>
                <a:spcPct val="112000"/>
              </a:lnSpc>
              <a:spcAft>
                <a:spcPts val="300"/>
              </a:spcAft>
              <a:buNone/>
            </a:pPr>
            <a:r>
              <a:rPr lang="fa-IR" altLang="en-US" sz="1500" dirty="0">
                <a:solidFill>
                  <a:srgbClr val="37474F"/>
                </a:solidFill>
                <a:latin typeface="B Nazanin" pitchFamily="34" charset="0"/>
                <a:ea typeface="B Nazanin" pitchFamily="34" charset="-122"/>
                <a:cs typeface="B Nazanin" pitchFamily="34" charset="-120"/>
              </a:rPr>
              <a:t>  ،  </a:t>
            </a:r>
            <a:pPr rtl="1" algn="r" indent="0" marL="0">
              <a:lnSpc>
                <a:spcPct val="112000"/>
              </a:lnSpc>
              <a:spcAft>
                <a:spcPts val="300"/>
              </a:spcAft>
              <a:buNone/>
            </a:pPr>
            <a:r>
              <a:rPr lang="fa-IR" altLang="en-US" sz="1500" b="1" u="sng" dirty="0">
                <a:solidFill>
                  <a:srgbClr val="1565C0"/>
                </a:solidFill>
                <a:uFill>
                  <a:solidFill>
                    <a:srgbClr val="1565C0"/>
                  </a:solidFill>
                </a:uFill>
                <a:latin typeface="B Nazanin" pitchFamily="34" charset="0"/>
                <a:ea typeface="B Nazanin" pitchFamily="34" charset="-122"/>
                <a:cs typeface="B Nazanin" pitchFamily="34" charset="-120"/>
                <a:hlinkClick r:id="rId20" invalidUrl="" action="" tgtFrame="" tooltip="فرم ۹: صورت مجلس پلمب" history="1" highlightClick="0" endSnd="0">
                  <a:extLst>
                    <a:ext uri="{A12FA001-AC4F-418D-AE19-62706E023703}">
                      <ahyp:hlinkClr xmlns:ahyp="http://schemas.microsoft.com/office/drawing/2018/hyperlinkcolor" val="tx"/>
                    </a:ext>
                  </a:extLst>
                </a:hlinkClick>
              </a:rPr>
              <a:t>۹-۱۸۰۳۹۲۰۶</a:t>
            </a:r>
            <a:pPr rtl="1" algn="r" indent="0" marL="0">
              <a:lnSpc>
                <a:spcPct val="112000"/>
              </a:lnSpc>
              <a:spcAft>
                <a:spcPts val="300"/>
              </a:spcAft>
              <a:buNone/>
            </a:pPr>
            <a:r>
              <a:rPr lang="fa-IR" altLang="en-US" sz="1500" dirty="0">
                <a:solidFill>
                  <a:srgbClr val="37474F"/>
                </a:solidFill>
                <a:latin typeface="B Nazanin" pitchFamily="34" charset="0"/>
                <a:ea typeface="B Nazanin" pitchFamily="34" charset="-122"/>
                <a:cs typeface="B Nazanin" pitchFamily="34" charset="-120"/>
              </a:rPr>
              <a:t>  ،  </a:t>
            </a:r>
            <a:pPr rtl="1" algn="r" indent="0" marL="0">
              <a:lnSpc>
                <a:spcPct val="112000"/>
              </a:lnSpc>
              <a:spcAft>
                <a:spcPts val="300"/>
              </a:spcAft>
              <a:buNone/>
            </a:pPr>
            <a:r>
              <a:rPr lang="fa-IR" altLang="en-US" sz="1500" b="1" u="sng" dirty="0">
                <a:solidFill>
                  <a:srgbClr val="1565C0"/>
                </a:solidFill>
                <a:uFill>
                  <a:solidFill>
                    <a:srgbClr val="1565C0"/>
                  </a:solidFill>
                </a:uFill>
                <a:latin typeface="B Nazanin" pitchFamily="34" charset="0"/>
                <a:ea typeface="B Nazanin" pitchFamily="34" charset="-122"/>
                <a:cs typeface="B Nazanin" pitchFamily="34" charset="-120"/>
                <a:hlinkClick r:id="rId21" invalidUrl="" action="" tgtFrame="" tooltip="فرم ۱۱: ارجاع پرونده متخلف بهداشتی به دادگاه (نواقص غیربحرانی)" history="1" highlightClick="0" endSnd="0">
                  <a:extLst>
                    <a:ext uri="{A12FA001-AC4F-418D-AE19-62706E023703}">
                      <ahyp:hlinkClr xmlns:ahyp="http://schemas.microsoft.com/office/drawing/2018/hyperlinkcolor" val="tx"/>
                    </a:ext>
                  </a:extLst>
                </a:hlinkClick>
              </a:rPr>
              <a:t>۱۱-۱۸۰۳۹۲۰۶</a:t>
            </a:r>
            <a:pPr rtl="1" algn="r" indent="0" marL="0">
              <a:lnSpc>
                <a:spcPct val="112000"/>
              </a:lnSpc>
              <a:spcAft>
                <a:spcPts val="300"/>
              </a:spcAft>
              <a:buNone/>
            </a:pPr>
            <a:r>
              <a:rPr lang="fa-IR" altLang="en-US" sz="1500" dirty="0">
                <a:solidFill>
                  <a:srgbClr val="37474F"/>
                </a:solidFill>
                <a:latin typeface="B Nazanin" pitchFamily="34" charset="0"/>
                <a:ea typeface="B Nazanin" pitchFamily="34" charset="-122"/>
                <a:cs typeface="B Nazanin" pitchFamily="34" charset="-120"/>
              </a:rPr>
              <a:t>  ،  </a:t>
            </a:r>
            <a:pPr rtl="1" algn="r" indent="0" marL="0">
              <a:lnSpc>
                <a:spcPct val="112000"/>
              </a:lnSpc>
              <a:spcAft>
                <a:spcPts val="300"/>
              </a:spcAft>
              <a:buNone/>
            </a:pPr>
            <a:r>
              <a:rPr lang="fa-IR" altLang="en-US" sz="1500" b="1" u="sng" dirty="0">
                <a:solidFill>
                  <a:srgbClr val="1565C0"/>
                </a:solidFill>
                <a:uFill>
                  <a:solidFill>
                    <a:srgbClr val="1565C0"/>
                  </a:solidFill>
                </a:uFill>
                <a:latin typeface="B Nazanin" pitchFamily="34" charset="0"/>
                <a:ea typeface="B Nazanin" pitchFamily="34" charset="-122"/>
                <a:cs typeface="B Nazanin" pitchFamily="34" charset="-120"/>
                <a:hlinkClick r:id="rId22" invalidUrl="" action="" tgtFrame="" tooltip="فرم ۱۸: تعهد محضری" history="1" highlightClick="0" endSnd="0">
                  <a:extLst>
                    <a:ext uri="{A12FA001-AC4F-418D-AE19-62706E023703}">
                      <ahyp:hlinkClr xmlns:ahyp="http://schemas.microsoft.com/office/drawing/2018/hyperlinkcolor" val="tx"/>
                    </a:ext>
                  </a:extLst>
                </a:hlinkClick>
              </a:rPr>
              <a:t>۱۸-۱۸۰۳۹۲۰۶</a:t>
            </a:r>
            <a:pPr rtl="1" algn="r" indent="0" marL="0">
              <a:lnSpc>
                <a:spcPct val="112000"/>
              </a:lnSpc>
              <a:spcAft>
                <a:spcPts val="300"/>
              </a:spcAft>
              <a:buNone/>
            </a:pPr>
            <a:r>
              <a:rPr lang="fa-IR" altLang="en-US" sz="1500" dirty="0">
                <a:solidFill>
                  <a:srgbClr val="37474F"/>
                </a:solidFill>
                <a:latin typeface="B Nazanin" pitchFamily="34" charset="0"/>
                <a:ea typeface="B Nazanin" pitchFamily="34" charset="-122"/>
                <a:cs typeface="B Nazanin" pitchFamily="34" charset="-120"/>
              </a:rPr>
              <a:t>  ،  </a:t>
            </a:r>
            <a:pPr rtl="1" algn="r" indent="0" marL="0">
              <a:lnSpc>
                <a:spcPct val="112000"/>
              </a:lnSpc>
              <a:spcAft>
                <a:spcPts val="300"/>
              </a:spcAft>
              <a:buNone/>
            </a:pPr>
            <a:r>
              <a:rPr lang="fa-IR" altLang="en-US" sz="1500" b="1" u="sng" dirty="0">
                <a:solidFill>
                  <a:srgbClr val="1565C0"/>
                </a:solidFill>
                <a:uFill>
                  <a:solidFill>
                    <a:srgbClr val="1565C0"/>
                  </a:solidFill>
                </a:uFill>
                <a:latin typeface="B Nazanin" pitchFamily="34" charset="0"/>
                <a:ea typeface="B Nazanin" pitchFamily="34" charset="-122"/>
                <a:cs typeface="B Nazanin" pitchFamily="34" charset="-120"/>
                <a:hlinkClick r:id="rId23" invalidUrl="" action="" tgtFrame="" tooltip="فرم ۱۹: صورت مجلس فک پلمب به منظور رفع نواقص بهداشتی" history="1" highlightClick="0" endSnd="0">
                  <a:extLst>
                    <a:ext uri="{A12FA001-AC4F-418D-AE19-62706E023703}">
                      <ahyp:hlinkClr xmlns:ahyp="http://schemas.microsoft.com/office/drawing/2018/hyperlinkcolor" val="tx"/>
                    </a:ext>
                  </a:extLst>
                </a:hlinkClick>
              </a:rPr>
              <a:t>۱۹-۱۸۰۳۹۲۰۶</a:t>
            </a:r>
            <a:endParaRPr lang="fa-IR" sz="1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Text 2"/>
          <p:cNvSpPr txBox="1"/>
          <p:nvPr/>
        </p:nvSpPr>
        <p:spPr>
          <a:xfrm>
            <a:off x="10543032" y="2377440"/>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تعاریف</a:t>
            </a:r>
            <a:endParaRPr lang="fa-IR" sz="1250" dirty="0"/>
          </a:p>
        </p:txBody>
      </p:sp>
      <p:sp>
        <p:nvSpPr>
          <p:cNvPr id="8" name="Shape 3">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9" name="Text 4"/>
          <p:cNvSpPr txBox="1"/>
          <p:nvPr/>
        </p:nvSpPr>
        <p:spPr>
          <a:xfrm>
            <a:off x="10543032" y="2980944"/>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کلیات</a:t>
            </a:r>
            <a:endParaRPr lang="fa-IR" sz="1250" dirty="0"/>
          </a:p>
        </p:txBody>
      </p:sp>
      <p:sp>
        <p:nvSpPr>
          <p:cNvPr id="10" name="Shape 5">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1" name="Text 6"/>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2" name="Shape 7">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3" name="Shape 8"/>
          <p:cNvSpPr/>
          <p:nvPr/>
        </p:nvSpPr>
        <p:spPr>
          <a:xfrm>
            <a:off x="10543032" y="4187952"/>
            <a:ext cx="1481328" cy="402336"/>
          </a:xfrm>
          <a:prstGeom prst="roundRect">
            <a:avLst>
              <a:gd name="adj" fmla="val 18182"/>
            </a:avLst>
          </a:prstGeom>
          <a:solidFill>
            <a:srgbClr val="FFC107"/>
          </a:solidFill>
          <a:ln w="12700">
            <a:solidFill>
              <a:srgbClr val="FFC107"/>
            </a:solidFill>
            <a:prstDash val="solid"/>
          </a:ln>
        </p:spPr>
      </p:sp>
      <p:sp>
        <p:nvSpPr>
          <p:cNvPr id="14" name="Text 9"/>
          <p:cNvSpPr txBox="1"/>
          <p:nvPr/>
        </p:nvSpPr>
        <p:spPr>
          <a:xfrm>
            <a:off x="10543032" y="4187952"/>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وظایف</a:t>
            </a:r>
            <a:endParaRPr lang="fa-IR" sz="1250" dirty="0"/>
          </a:p>
        </p:txBody>
      </p:sp>
      <p:sp>
        <p:nvSpPr>
          <p:cNvPr id="15" name="Shape 10">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۳۳</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ماده ۳۱: مواد تاریخ گذشته، فاسد یا فاقد مجوز</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Duties — Articles 22-40</a:t>
            </a:r>
            <a:endParaRPr lang="en-US" sz="1550" dirty="0"/>
          </a:p>
        </p:txBody>
      </p:sp>
      <p:sp>
        <p:nvSpPr>
          <p:cNvPr id="25" name="Shape 18"/>
          <p:cNvSpPr/>
          <p:nvPr/>
        </p:nvSpPr>
        <p:spPr>
          <a:xfrm>
            <a:off x="548640" y="1572768"/>
            <a:ext cx="9418320" cy="4599432"/>
          </a:xfrm>
          <a:prstGeom prst="roundRect">
            <a:avLst>
              <a:gd name="adj" fmla="val 2386"/>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26" name="Shape 19"/>
          <p:cNvSpPr/>
          <p:nvPr/>
        </p:nvSpPr>
        <p:spPr>
          <a:xfrm>
            <a:off x="9098280" y="1755648"/>
            <a:ext cx="658368" cy="658368"/>
          </a:xfrm>
          <a:prstGeom prst="ellipse">
            <a:avLst/>
          </a:prstGeom>
          <a:solidFill>
            <a:srgbClr val="C62828"/>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27" name="Text 20"/>
          <p:cNvSpPr txBox="1"/>
          <p:nvPr/>
        </p:nvSpPr>
        <p:spPr>
          <a:xfrm>
            <a:off x="90525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۳۱</a:t>
            </a:r>
            <a:endParaRPr lang="fa-IR" sz="1500" dirty="0"/>
          </a:p>
        </p:txBody>
      </p:sp>
      <p:sp>
        <p:nvSpPr>
          <p:cNvPr id="28" name="Text 21"/>
          <p:cNvSpPr txBox="1"/>
          <p:nvPr/>
        </p:nvSpPr>
        <p:spPr>
          <a:xfrm>
            <a:off x="822960" y="1737360"/>
            <a:ext cx="8092440" cy="4325112"/>
          </a:xfrm>
          <a:prstGeom prst="rect">
            <a:avLst/>
          </a:prstGeom>
          <a:noFill/>
          <a:ln/>
        </p:spPr>
        <p:txBody>
          <a:bodyPr wrap="square" lIns="0" tIns="0" rIns="0" bIns="0" rtlCol="0" anchor="t"/>
          <a:lstStyle/>
          <a:p>
            <a:pPr rtl="1" algn="r" indent="0" marL="0">
              <a:lnSpc>
                <a:spcPct val="112000"/>
              </a:lnSpc>
              <a:spcAft>
                <a:spcPts val="300"/>
              </a:spcAft>
              <a:buNone/>
            </a:pPr>
            <a:r>
              <a:rPr lang="fa-IR" altLang="en-US" sz="1950" b="1" dirty="0">
                <a:solidFill>
                  <a:srgbClr val="C62828"/>
                </a:solidFill>
                <a:latin typeface="B Nazanin" pitchFamily="34" charset="0"/>
                <a:ea typeface="B Nazanin" pitchFamily="34" charset="-122"/>
                <a:cs typeface="B Nazanin" pitchFamily="34" charset="-120"/>
              </a:rPr>
              <a:t>توقیف، جمع آوری، معدوم سازی یا ارجاع</a:t>
            </a:r>
            <a:endParaRPr lang="fa-IR" sz="1950" dirty="0"/>
          </a:p>
          <a:p>
            <a:pPr rtl="1" algn="r" indent="0" marL="0">
              <a:lnSpc>
                <a:spcPct val="112000"/>
              </a:lnSpc>
              <a:spcAft>
                <a:spcPts val="300"/>
              </a:spcAft>
              <a:buNone/>
            </a:pPr>
            <a:r>
              <a:rPr lang="fa-IR" altLang="en-US" sz="1700" dirty="0">
                <a:solidFill>
                  <a:srgbClr val="37474F"/>
                </a:solidFill>
                <a:latin typeface="B Nazanin" pitchFamily="34" charset="0"/>
                <a:ea typeface="B Nazanin" pitchFamily="34" charset="-122"/>
                <a:cs typeface="B Nazanin" pitchFamily="34" charset="-120"/>
              </a:rPr>
              <a:t>بازرسین در صورت مشاهده مواد تاریخ مصرف گذشته مشمول این آیین نامه، فاقد مجوزهای لازم از وزارت (مواد خوردنی، آشامیدنی، آرایشی و بهداشتی مشمول مجوز) و فاسد، مجاز خواهند بود ضمن معرفی متخلف به مراجع قضایی مواد مذکور را توقیف و جمع آوری نموده و در صورتی که مواد توقیف و جمع آوری شده دارای ارزش حداکثر تا پنج میلیون ریال باشند مطابق نظر کارشناسی رأساً با تهیه صورت مجلس و با رضایت صاحب کالا معدوم نمایند و یا با رعایت اصول بهداشتی برای مصارف دامی با مجوز سازمان دامپزشکی کشور و موارد مصارف غیر مستقیم انسانی با مجوز ارگان های ذیصلاح ارجاع دهند. و در صورت عدم رضایت صاحب کالا و یا ارزش بیش از پنج میلیون ریال، پرونده متخلف منضم به کلیه مستندات توسط مسئول بهداشت محل به مراجع قضایی جهت بررسی و اقدام مقتضی ارسال خواهد شد.</a:t>
            </a:r>
            <a:endParaRPr lang="fa-IR" sz="1950" dirty="0"/>
          </a:p>
          <a:p>
            <a:pPr rtl="1" algn="r" indent="0" marL="0">
              <a:lnSpc>
                <a:spcPct val="112000"/>
              </a:lnSpc>
              <a:spcAft>
                <a:spcPts val="300"/>
              </a:spcAft>
              <a:buNone/>
            </a:pPr>
            <a:r>
              <a:rPr lang="fa-IR" altLang="en-US" sz="1600" dirty="0">
                <a:solidFill>
                  <a:srgbClr val="37474F"/>
                </a:solidFill>
                <a:latin typeface="B Nazanin" pitchFamily="34" charset="0"/>
                <a:ea typeface="B Nazanin" pitchFamily="34" charset="-122"/>
                <a:cs typeface="B Nazanin" pitchFamily="34" charset="-120"/>
              </a:rPr>
              <a:t>فرم‌های مرتبط (دستورالعمل ۱۸۰۳۹۲۰۶): </a:t>
            </a:r>
            <a:pPr rtl="1" algn="r" indent="0" marL="0">
              <a:lnSpc>
                <a:spcPct val="112000"/>
              </a:lnSpc>
              <a:spcAft>
                <a:spcPts val="300"/>
              </a:spcAft>
              <a:buNone/>
            </a:pPr>
            <a:r>
              <a:rPr lang="fa-IR" altLang="en-US" sz="1600" b="1" u="sng" dirty="0">
                <a:solidFill>
                  <a:srgbClr val="1565C0"/>
                </a:solidFill>
                <a:uFill>
                  <a:solidFill>
                    <a:srgbClr val="1565C0"/>
                  </a:solidFill>
                </a:uFill>
                <a:latin typeface="B Nazanin" pitchFamily="34" charset="0"/>
                <a:ea typeface="B Nazanin" pitchFamily="34" charset="-122"/>
                <a:cs typeface="B Nazanin" pitchFamily="34" charset="-120"/>
                <a:hlinkClick r:id="rId16" invalidUrl="" action="" tgtFrame="" tooltip="فرم ۲۱: صورت مجلس جمع آوری/ توقیف مواد غذایی فاسد/ تاریخ مصرف گذشته/ فاقد مجوزهای بهداشتی (مشمول مجوز)" history="1" highlightClick="0" endSnd="0">
                  <a:extLst>
                    <a:ext uri="{A12FA001-AC4F-418D-AE19-62706E023703}">
                      <ahyp:hlinkClr xmlns:ahyp="http://schemas.microsoft.com/office/drawing/2018/hyperlinkcolor" val="tx"/>
                    </a:ext>
                  </a:extLst>
                </a:hlinkClick>
              </a:rPr>
              <a:t>۲۱-۱۸۰۳۹۲۰۶</a:t>
            </a:r>
            <a:pPr rtl="1" algn="r" indent="0" marL="0">
              <a:lnSpc>
                <a:spcPct val="112000"/>
              </a:lnSpc>
              <a:spcAft>
                <a:spcPts val="300"/>
              </a:spcAft>
              <a:buNone/>
            </a:pPr>
            <a:r>
              <a:rPr lang="fa-IR" altLang="en-US" sz="1600" dirty="0">
                <a:solidFill>
                  <a:srgbClr val="37474F"/>
                </a:solidFill>
                <a:latin typeface="B Nazanin" pitchFamily="34" charset="0"/>
                <a:ea typeface="B Nazanin" pitchFamily="34" charset="-122"/>
                <a:cs typeface="B Nazanin" pitchFamily="34" charset="-120"/>
              </a:rPr>
              <a:t>  ،  </a:t>
            </a:r>
            <a:pPr rtl="1" algn="r" indent="0" marL="0">
              <a:lnSpc>
                <a:spcPct val="112000"/>
              </a:lnSpc>
              <a:spcAft>
                <a:spcPts val="300"/>
              </a:spcAft>
              <a:buNone/>
            </a:pPr>
            <a:r>
              <a:rPr lang="fa-IR" altLang="en-US" sz="1600" b="1" u="sng" dirty="0">
                <a:solidFill>
                  <a:srgbClr val="1565C0"/>
                </a:solidFill>
                <a:uFill>
                  <a:solidFill>
                    <a:srgbClr val="1565C0"/>
                  </a:solidFill>
                </a:uFill>
                <a:latin typeface="B Nazanin" pitchFamily="34" charset="0"/>
                <a:ea typeface="B Nazanin" pitchFamily="34" charset="-122"/>
                <a:cs typeface="B Nazanin" pitchFamily="34" charset="-120"/>
                <a:hlinkClick r:id="rId17" invalidUrl="" action="" tgtFrame="" tooltip="فرم ۲۲: صورت مجلس معدوم سازی/ ارجاع مواد غذایی" history="1" highlightClick="0" endSnd="0">
                  <a:extLst>
                    <a:ext uri="{A12FA001-AC4F-418D-AE19-62706E023703}">
                      <ahyp:hlinkClr xmlns:ahyp="http://schemas.microsoft.com/office/drawing/2018/hyperlinkcolor" val="tx"/>
                    </a:ext>
                  </a:extLst>
                </a:hlinkClick>
              </a:rPr>
              <a:t>۲۲-۱۸۰۳۹۲۰۶</a:t>
            </a:r>
            <a:pPr rtl="1" algn="r" indent="0" marL="0">
              <a:lnSpc>
                <a:spcPct val="112000"/>
              </a:lnSpc>
              <a:spcAft>
                <a:spcPts val="300"/>
              </a:spcAft>
              <a:buNone/>
            </a:pPr>
            <a:r>
              <a:rPr lang="fa-IR" altLang="en-US" sz="1600" dirty="0">
                <a:solidFill>
                  <a:srgbClr val="37474F"/>
                </a:solidFill>
                <a:latin typeface="B Nazanin" pitchFamily="34" charset="0"/>
                <a:ea typeface="B Nazanin" pitchFamily="34" charset="-122"/>
                <a:cs typeface="B Nazanin" pitchFamily="34" charset="-120"/>
              </a:rPr>
              <a:t>  ،  </a:t>
            </a:r>
            <a:pPr rtl="1" algn="r" indent="0" marL="0">
              <a:lnSpc>
                <a:spcPct val="112000"/>
              </a:lnSpc>
              <a:spcAft>
                <a:spcPts val="300"/>
              </a:spcAft>
              <a:buNone/>
            </a:pPr>
            <a:r>
              <a:rPr lang="fa-IR" altLang="en-US" sz="1600" b="1" u="sng" dirty="0">
                <a:solidFill>
                  <a:srgbClr val="1565C0"/>
                </a:solidFill>
                <a:uFill>
                  <a:solidFill>
                    <a:srgbClr val="1565C0"/>
                  </a:solidFill>
                </a:uFill>
                <a:latin typeface="B Nazanin" pitchFamily="34" charset="0"/>
                <a:ea typeface="B Nazanin" pitchFamily="34" charset="-122"/>
                <a:cs typeface="B Nazanin" pitchFamily="34" charset="-120"/>
                <a:hlinkClick r:id="rId18" invalidUrl="" action="" tgtFrame="" tooltip="فرم ۲۳: ارجاع پرونده متخلف بهداشتی به دادگاه (به دلیل عرضه مواد غذایی فاسد، تاریخ مصرف گذشته و یا فاقد مجوزهای بهداشتی (مشمول مجوز))" history="1" highlightClick="0" endSnd="0">
                  <a:extLst>
                    <a:ext uri="{A12FA001-AC4F-418D-AE19-62706E023703}">
                      <ahyp:hlinkClr xmlns:ahyp="http://schemas.microsoft.com/office/drawing/2018/hyperlinkcolor" val="tx"/>
                    </a:ext>
                  </a:extLst>
                </a:hlinkClick>
              </a:rPr>
              <a:t>۲۳-۱۸۰۳۹۲۰۶</a:t>
            </a:r>
            <a:pPr rtl="1" algn="r" indent="0" marL="0">
              <a:lnSpc>
                <a:spcPct val="112000"/>
              </a:lnSpc>
              <a:spcAft>
                <a:spcPts val="300"/>
              </a:spcAft>
              <a:buNone/>
            </a:pPr>
            <a:r>
              <a:rPr lang="fa-IR" altLang="en-US" sz="1600" dirty="0">
                <a:solidFill>
                  <a:srgbClr val="37474F"/>
                </a:solidFill>
                <a:latin typeface="B Nazanin" pitchFamily="34" charset="0"/>
                <a:ea typeface="B Nazanin" pitchFamily="34" charset="-122"/>
                <a:cs typeface="B Nazanin" pitchFamily="34" charset="-120"/>
              </a:rPr>
              <a:t>  ،  </a:t>
            </a:r>
            <a:pPr rtl="1" algn="r" indent="0" marL="0">
              <a:lnSpc>
                <a:spcPct val="112000"/>
              </a:lnSpc>
              <a:spcAft>
                <a:spcPts val="300"/>
              </a:spcAft>
              <a:buNone/>
            </a:pPr>
            <a:r>
              <a:rPr lang="fa-IR" altLang="en-US" sz="1600" b="1" u="sng" dirty="0">
                <a:solidFill>
                  <a:srgbClr val="1565C0"/>
                </a:solidFill>
                <a:uFill>
                  <a:solidFill>
                    <a:srgbClr val="1565C0"/>
                  </a:solidFill>
                </a:uFill>
                <a:latin typeface="B Nazanin" pitchFamily="34" charset="0"/>
                <a:ea typeface="B Nazanin" pitchFamily="34" charset="-122"/>
                <a:cs typeface="B Nazanin" pitchFamily="34" charset="-120"/>
                <a:hlinkClick r:id="rId19" invalidUrl="" action="" tgtFrame="" tooltip="فرم ۲۴: درخواست اعلام نظر از سازمان های ذی ربط" history="1" highlightClick="0" endSnd="0">
                  <a:extLst>
                    <a:ext uri="{A12FA001-AC4F-418D-AE19-62706E023703}">
                      <ahyp:hlinkClr xmlns:ahyp="http://schemas.microsoft.com/office/drawing/2018/hyperlinkcolor" val="tx"/>
                    </a:ext>
                  </a:extLst>
                </a:hlinkClick>
              </a:rPr>
              <a:t>۲۴-۱۸۰۳۹۲۰۶</a:t>
            </a:r>
            <a:endParaRPr lang="fa-IR" sz="1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Text 2"/>
          <p:cNvSpPr txBox="1"/>
          <p:nvPr/>
        </p:nvSpPr>
        <p:spPr>
          <a:xfrm>
            <a:off x="10543032" y="2377440"/>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تعاریف</a:t>
            </a:r>
            <a:endParaRPr lang="fa-IR" sz="1250" dirty="0"/>
          </a:p>
        </p:txBody>
      </p:sp>
      <p:sp>
        <p:nvSpPr>
          <p:cNvPr id="8" name="Shape 3">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9" name="Text 4"/>
          <p:cNvSpPr txBox="1"/>
          <p:nvPr/>
        </p:nvSpPr>
        <p:spPr>
          <a:xfrm>
            <a:off x="10543032" y="2980944"/>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کلیات</a:t>
            </a:r>
            <a:endParaRPr lang="fa-IR" sz="1250" dirty="0"/>
          </a:p>
        </p:txBody>
      </p:sp>
      <p:sp>
        <p:nvSpPr>
          <p:cNvPr id="10" name="Shape 5">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1" name="Text 6"/>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2" name="Shape 7">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3" name="Shape 8"/>
          <p:cNvSpPr/>
          <p:nvPr/>
        </p:nvSpPr>
        <p:spPr>
          <a:xfrm>
            <a:off x="10543032" y="4187952"/>
            <a:ext cx="1481328" cy="402336"/>
          </a:xfrm>
          <a:prstGeom prst="roundRect">
            <a:avLst>
              <a:gd name="adj" fmla="val 18182"/>
            </a:avLst>
          </a:prstGeom>
          <a:solidFill>
            <a:srgbClr val="FFC107"/>
          </a:solidFill>
          <a:ln w="12700">
            <a:solidFill>
              <a:srgbClr val="FFC107"/>
            </a:solidFill>
            <a:prstDash val="solid"/>
          </a:ln>
        </p:spPr>
      </p:sp>
      <p:sp>
        <p:nvSpPr>
          <p:cNvPr id="14" name="Text 9"/>
          <p:cNvSpPr txBox="1"/>
          <p:nvPr/>
        </p:nvSpPr>
        <p:spPr>
          <a:xfrm>
            <a:off x="10543032" y="4187952"/>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وظایف</a:t>
            </a:r>
            <a:endParaRPr lang="fa-IR" sz="1250" dirty="0"/>
          </a:p>
        </p:txBody>
      </p:sp>
      <p:sp>
        <p:nvSpPr>
          <p:cNvPr id="15" name="Shape 10">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۳۴</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آب، فاضلاب، پسماند و آلودگی</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Duties — Articles 22-40</a:t>
            </a:r>
            <a:endParaRPr lang="en-US" sz="1550" dirty="0"/>
          </a:p>
        </p:txBody>
      </p:sp>
      <p:sp>
        <p:nvSpPr>
          <p:cNvPr id="25" name="Shape 18"/>
          <p:cNvSpPr/>
          <p:nvPr/>
        </p:nvSpPr>
        <p:spPr>
          <a:xfrm>
            <a:off x="5349240" y="1572768"/>
            <a:ext cx="4617720" cy="2208276"/>
          </a:xfrm>
          <a:prstGeom prst="roundRect">
            <a:avLst>
              <a:gd name="adj" fmla="val 4969"/>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26" name="Shape 19"/>
          <p:cNvSpPr/>
          <p:nvPr/>
        </p:nvSpPr>
        <p:spPr>
          <a:xfrm>
            <a:off x="9098280" y="1755648"/>
            <a:ext cx="658368" cy="658368"/>
          </a:xfrm>
          <a:prstGeom prst="ellipse">
            <a:avLst/>
          </a:prstGeom>
          <a:solidFill>
            <a:srgbClr val="1E88E5"/>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27" name="Text 20"/>
          <p:cNvSpPr txBox="1"/>
          <p:nvPr/>
        </p:nvSpPr>
        <p:spPr>
          <a:xfrm>
            <a:off x="90525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۳۲</a:t>
            </a:r>
            <a:endParaRPr lang="fa-IR" sz="1500" dirty="0"/>
          </a:p>
        </p:txBody>
      </p:sp>
      <p:sp>
        <p:nvSpPr>
          <p:cNvPr id="28" name="Text 21"/>
          <p:cNvSpPr txBox="1"/>
          <p:nvPr/>
        </p:nvSpPr>
        <p:spPr>
          <a:xfrm>
            <a:off x="5623560" y="1737360"/>
            <a:ext cx="3291840" cy="1933956"/>
          </a:xfrm>
          <a:prstGeom prst="rect">
            <a:avLst/>
          </a:prstGeom>
          <a:noFill/>
          <a:ln/>
        </p:spPr>
        <p:txBody>
          <a:bodyPr wrap="square" lIns="0" tIns="0" rIns="0" bIns="0" rtlCol="0" anchor="t"/>
          <a:lstStyle/>
          <a:p>
            <a:pPr rtl="1" algn="r" indent="0" marL="0">
              <a:lnSpc>
                <a:spcPct val="112000"/>
              </a:lnSpc>
              <a:spcAft>
                <a:spcPts val="300"/>
              </a:spcAft>
              <a:buNone/>
            </a:pPr>
            <a:r>
              <a:rPr lang="fa-IR" altLang="en-US" sz="1750" b="1" dirty="0">
                <a:solidFill>
                  <a:srgbClr val="1E88E5"/>
                </a:solidFill>
                <a:latin typeface="B Nazanin" pitchFamily="34" charset="0"/>
                <a:ea typeface="B Nazanin" pitchFamily="34" charset="-122"/>
                <a:cs typeface="B Nazanin" pitchFamily="34" charset="-120"/>
              </a:rPr>
              <a:t>ماده ۳۲ — آب آشامیدنی</a:t>
            </a:r>
            <a:endParaRPr lang="fa-IR" sz="1750" dirty="0"/>
          </a:p>
          <a:p>
            <a:pPr rtl="1" algn="r" indent="0" marL="0">
              <a:lnSpc>
                <a:spcPct val="112000"/>
              </a:lnSpc>
              <a:spcAft>
                <a:spcPts val="300"/>
              </a:spcAft>
              <a:buNone/>
            </a:pPr>
            <a:r>
              <a:rPr lang="fa-IR" altLang="en-US" sz="1500" dirty="0">
                <a:solidFill>
                  <a:srgbClr val="37474F"/>
                </a:solidFill>
                <a:latin typeface="B Nazanin" pitchFamily="34" charset="0"/>
                <a:ea typeface="B Nazanin" pitchFamily="34" charset="-122"/>
                <a:cs typeface="B Nazanin" pitchFamily="34" charset="-120"/>
              </a:rPr>
              <a:t>استفاده از آب آشامیدنی در مراکز و اماکن مشمول این آئین نامه الزامی است و آب مصرفی باید مورد تأیید وزارت باشد.</a:t>
            </a:r>
            <a:endParaRPr lang="fa-IR" sz="1750" dirty="0"/>
          </a:p>
        </p:txBody>
      </p:sp>
      <p:sp>
        <p:nvSpPr>
          <p:cNvPr id="29" name="Shape 22"/>
          <p:cNvSpPr/>
          <p:nvPr/>
        </p:nvSpPr>
        <p:spPr>
          <a:xfrm>
            <a:off x="548640" y="1572768"/>
            <a:ext cx="4617720" cy="2208276"/>
          </a:xfrm>
          <a:prstGeom prst="roundRect">
            <a:avLst>
              <a:gd name="adj" fmla="val 4969"/>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0" name="Shape 23"/>
          <p:cNvSpPr/>
          <p:nvPr/>
        </p:nvSpPr>
        <p:spPr>
          <a:xfrm>
            <a:off x="4297680" y="1755648"/>
            <a:ext cx="658368" cy="658368"/>
          </a:xfrm>
          <a:prstGeom prst="ellipse">
            <a:avLst/>
          </a:prstGeom>
          <a:solidFill>
            <a:srgbClr val="0D3B8C"/>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1" name="Text 24"/>
          <p:cNvSpPr txBox="1"/>
          <p:nvPr/>
        </p:nvSpPr>
        <p:spPr>
          <a:xfrm>
            <a:off x="42519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۳۳</a:t>
            </a:r>
            <a:endParaRPr lang="fa-IR" sz="1500" dirty="0"/>
          </a:p>
        </p:txBody>
      </p:sp>
      <p:sp>
        <p:nvSpPr>
          <p:cNvPr id="32" name="Text 25"/>
          <p:cNvSpPr txBox="1"/>
          <p:nvPr/>
        </p:nvSpPr>
        <p:spPr>
          <a:xfrm>
            <a:off x="822960" y="1737360"/>
            <a:ext cx="3291840" cy="1933956"/>
          </a:xfrm>
          <a:prstGeom prst="rect">
            <a:avLst/>
          </a:prstGeom>
          <a:noFill/>
          <a:ln/>
        </p:spPr>
        <p:txBody>
          <a:bodyPr wrap="square" lIns="0" tIns="0" rIns="0" bIns="0" rtlCol="0" anchor="t"/>
          <a:lstStyle/>
          <a:p>
            <a:pPr rtl="1" algn="r" indent="0" marL="0">
              <a:lnSpc>
                <a:spcPct val="112000"/>
              </a:lnSpc>
              <a:spcAft>
                <a:spcPts val="300"/>
              </a:spcAft>
              <a:buNone/>
            </a:pPr>
            <a:r>
              <a:rPr lang="fa-IR" altLang="en-US" sz="1750" b="1" dirty="0">
                <a:solidFill>
                  <a:srgbClr val="0D3B8C"/>
                </a:solidFill>
                <a:latin typeface="B Nazanin" pitchFamily="34" charset="0"/>
                <a:ea typeface="B Nazanin" pitchFamily="34" charset="-122"/>
                <a:cs typeface="B Nazanin" pitchFamily="34" charset="-120"/>
              </a:rPr>
              <a:t>ماده ۳۳ — دفع فاضلاب</a:t>
            </a:r>
            <a:endParaRPr lang="fa-IR" sz="1750" dirty="0"/>
          </a:p>
          <a:p>
            <a:pPr rtl="1" algn="r" indent="0" marL="0">
              <a:lnSpc>
                <a:spcPct val="112000"/>
              </a:lnSpc>
              <a:spcAft>
                <a:spcPts val="300"/>
              </a:spcAft>
              <a:buNone/>
            </a:pPr>
            <a:r>
              <a:rPr lang="fa-IR" altLang="en-US" sz="1500" dirty="0">
                <a:solidFill>
                  <a:srgbClr val="37474F"/>
                </a:solidFill>
                <a:latin typeface="B Nazanin" pitchFamily="34" charset="0"/>
                <a:ea typeface="B Nazanin" pitchFamily="34" charset="-122"/>
                <a:cs typeface="B Nazanin" pitchFamily="34" charset="-120"/>
              </a:rPr>
              <a:t>مالکین، مدیران و متصدیان کلیه مراکز و اماکن مشمول این آئین نامه مکلفند فاضلاب تولیدی واحد خود را به طریق بهداشتی مورد تأیید وزارت دفع نمایند.</a:t>
            </a:r>
            <a:endParaRPr lang="fa-IR" sz="1750" dirty="0"/>
          </a:p>
        </p:txBody>
      </p:sp>
      <p:sp>
        <p:nvSpPr>
          <p:cNvPr id="33" name="Shape 26"/>
          <p:cNvSpPr/>
          <p:nvPr/>
        </p:nvSpPr>
        <p:spPr>
          <a:xfrm>
            <a:off x="5349240" y="3963924"/>
            <a:ext cx="4617720" cy="2208276"/>
          </a:xfrm>
          <a:prstGeom prst="roundRect">
            <a:avLst>
              <a:gd name="adj" fmla="val 4969"/>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4" name="Shape 27"/>
          <p:cNvSpPr/>
          <p:nvPr/>
        </p:nvSpPr>
        <p:spPr>
          <a:xfrm>
            <a:off x="9098280" y="4146804"/>
            <a:ext cx="658368" cy="658368"/>
          </a:xfrm>
          <a:prstGeom prst="ellipse">
            <a:avLst/>
          </a:prstGeom>
          <a:solidFill>
            <a:srgbClr val="43A047"/>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5" name="Text 28"/>
          <p:cNvSpPr txBox="1"/>
          <p:nvPr/>
        </p:nvSpPr>
        <p:spPr>
          <a:xfrm>
            <a:off x="9052560" y="4146804"/>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۳۴</a:t>
            </a:r>
            <a:endParaRPr lang="fa-IR" sz="1500" dirty="0"/>
          </a:p>
        </p:txBody>
      </p:sp>
      <p:sp>
        <p:nvSpPr>
          <p:cNvPr id="36" name="Text 29"/>
          <p:cNvSpPr txBox="1"/>
          <p:nvPr/>
        </p:nvSpPr>
        <p:spPr>
          <a:xfrm>
            <a:off x="5623560" y="4128516"/>
            <a:ext cx="3291840" cy="1933956"/>
          </a:xfrm>
          <a:prstGeom prst="rect">
            <a:avLst/>
          </a:prstGeom>
          <a:noFill/>
          <a:ln/>
        </p:spPr>
        <p:txBody>
          <a:bodyPr wrap="square" lIns="0" tIns="0" rIns="0" bIns="0" rtlCol="0" anchor="t"/>
          <a:lstStyle/>
          <a:p>
            <a:pPr rtl="1" algn="r" indent="0" marL="0">
              <a:lnSpc>
                <a:spcPct val="112000"/>
              </a:lnSpc>
              <a:spcAft>
                <a:spcPts val="300"/>
              </a:spcAft>
              <a:buNone/>
            </a:pPr>
            <a:r>
              <a:rPr lang="fa-IR" altLang="en-US" sz="1750" b="1" dirty="0">
                <a:solidFill>
                  <a:srgbClr val="43A047"/>
                </a:solidFill>
                <a:latin typeface="B Nazanin" pitchFamily="34" charset="0"/>
                <a:ea typeface="B Nazanin" pitchFamily="34" charset="-122"/>
                <a:cs typeface="B Nazanin" pitchFamily="34" charset="-120"/>
              </a:rPr>
              <a:t>ماده ۳۴ — دفع پسماند</a:t>
            </a:r>
            <a:endParaRPr lang="fa-IR" sz="1750" dirty="0"/>
          </a:p>
          <a:p>
            <a:pPr rtl="1" algn="r" indent="0" marL="0">
              <a:lnSpc>
                <a:spcPct val="112000"/>
              </a:lnSpc>
              <a:spcAft>
                <a:spcPts val="300"/>
              </a:spcAft>
              <a:buNone/>
            </a:pPr>
            <a:r>
              <a:rPr lang="fa-IR" altLang="en-US" sz="1500" dirty="0">
                <a:solidFill>
                  <a:srgbClr val="37474F"/>
                </a:solidFill>
                <a:latin typeface="B Nazanin" pitchFamily="34" charset="0"/>
                <a:ea typeface="B Nazanin" pitchFamily="34" charset="-122"/>
                <a:cs typeface="B Nazanin" pitchFamily="34" charset="-120"/>
              </a:rPr>
              <a:t>مالکین، مدیران و متصدیان کلیه مراکز و اماکن مشمول این آئین نامه مکلفند پسماند تولیدی واحد خود را به طریق بهداشتی مورد تأیید وزارت دفع نمایند.</a:t>
            </a:r>
            <a:endParaRPr lang="fa-IR" sz="1750" dirty="0"/>
          </a:p>
        </p:txBody>
      </p:sp>
      <p:sp>
        <p:nvSpPr>
          <p:cNvPr id="37" name="Shape 30"/>
          <p:cNvSpPr/>
          <p:nvPr/>
        </p:nvSpPr>
        <p:spPr>
          <a:xfrm>
            <a:off x="548640" y="3963924"/>
            <a:ext cx="4617720" cy="2208276"/>
          </a:xfrm>
          <a:prstGeom prst="roundRect">
            <a:avLst>
              <a:gd name="adj" fmla="val 4969"/>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8" name="Shape 31"/>
          <p:cNvSpPr/>
          <p:nvPr/>
        </p:nvSpPr>
        <p:spPr>
          <a:xfrm>
            <a:off x="4297680" y="4146804"/>
            <a:ext cx="658368" cy="658368"/>
          </a:xfrm>
          <a:prstGeom prst="ellipse">
            <a:avLst/>
          </a:prstGeom>
          <a:solidFill>
            <a:srgbClr val="FFC107"/>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9" name="Text 32"/>
          <p:cNvSpPr txBox="1"/>
          <p:nvPr/>
        </p:nvSpPr>
        <p:spPr>
          <a:xfrm>
            <a:off x="4251960" y="4146804"/>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۳۵</a:t>
            </a:r>
            <a:endParaRPr lang="fa-IR" sz="1500" dirty="0"/>
          </a:p>
        </p:txBody>
      </p:sp>
      <p:sp>
        <p:nvSpPr>
          <p:cNvPr id="40" name="Text 33"/>
          <p:cNvSpPr txBox="1"/>
          <p:nvPr/>
        </p:nvSpPr>
        <p:spPr>
          <a:xfrm>
            <a:off x="822960" y="4128516"/>
            <a:ext cx="3291840" cy="1933956"/>
          </a:xfrm>
          <a:prstGeom prst="rect">
            <a:avLst/>
          </a:prstGeom>
          <a:noFill/>
          <a:ln/>
        </p:spPr>
        <p:txBody>
          <a:bodyPr wrap="square" lIns="0" tIns="0" rIns="0" bIns="0" rtlCol="0" anchor="t"/>
          <a:lstStyle/>
          <a:p>
            <a:pPr rtl="1" algn="r" indent="0" marL="0">
              <a:lnSpc>
                <a:spcPct val="112000"/>
              </a:lnSpc>
              <a:spcAft>
                <a:spcPts val="300"/>
              </a:spcAft>
              <a:buNone/>
            </a:pPr>
            <a:r>
              <a:rPr lang="fa-IR" altLang="en-US" sz="1750" b="1" dirty="0">
                <a:solidFill>
                  <a:srgbClr val="0D3B8C"/>
                </a:solidFill>
                <a:latin typeface="B Nazanin" pitchFamily="34" charset="0"/>
                <a:ea typeface="B Nazanin" pitchFamily="34" charset="-122"/>
                <a:cs typeface="B Nazanin" pitchFamily="34" charset="-120"/>
              </a:rPr>
              <a:t>ماده ۳۵ — آلودگی هوا و صوتی</a:t>
            </a:r>
            <a:endParaRPr lang="fa-IR" sz="1750" dirty="0"/>
          </a:p>
          <a:p>
            <a:pPr rtl="1" algn="r" indent="0" marL="0">
              <a:lnSpc>
                <a:spcPct val="112000"/>
              </a:lnSpc>
              <a:spcAft>
                <a:spcPts val="300"/>
              </a:spcAft>
              <a:buNone/>
            </a:pPr>
            <a:r>
              <a:rPr lang="fa-IR" altLang="en-US" sz="1500" dirty="0">
                <a:solidFill>
                  <a:srgbClr val="37474F"/>
                </a:solidFill>
                <a:latin typeface="B Nazanin" pitchFamily="34" charset="0"/>
                <a:ea typeface="B Nazanin" pitchFamily="34" charset="-122"/>
                <a:cs typeface="B Nazanin" pitchFamily="34" charset="-120"/>
              </a:rPr>
              <a:t>مالکین، مدیران و متصدیان کلیه مراکز و اماکن مشمول این آئین نامه مکلفند بنحوی فعالیت واحد خود را مدیریت نمایند که منجر به آلودگی هوا و آلودگی صوتی نشود.</a:t>
            </a:r>
            <a:endParaRPr lang="fa-IR" sz="17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Text 2"/>
          <p:cNvSpPr txBox="1"/>
          <p:nvPr/>
        </p:nvSpPr>
        <p:spPr>
          <a:xfrm>
            <a:off x="10543032" y="2377440"/>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تعاریف</a:t>
            </a:r>
            <a:endParaRPr lang="fa-IR" sz="1250" dirty="0"/>
          </a:p>
        </p:txBody>
      </p:sp>
      <p:sp>
        <p:nvSpPr>
          <p:cNvPr id="8" name="Shape 3">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9" name="Text 4"/>
          <p:cNvSpPr txBox="1"/>
          <p:nvPr/>
        </p:nvSpPr>
        <p:spPr>
          <a:xfrm>
            <a:off x="10543032" y="2980944"/>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کلیات</a:t>
            </a:r>
            <a:endParaRPr lang="fa-IR" sz="1250" dirty="0"/>
          </a:p>
        </p:txBody>
      </p:sp>
      <p:sp>
        <p:nvSpPr>
          <p:cNvPr id="10" name="Shape 5">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1" name="Text 6"/>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2" name="Shape 7">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3" name="Shape 8"/>
          <p:cNvSpPr/>
          <p:nvPr/>
        </p:nvSpPr>
        <p:spPr>
          <a:xfrm>
            <a:off x="10543032" y="4187952"/>
            <a:ext cx="1481328" cy="402336"/>
          </a:xfrm>
          <a:prstGeom prst="roundRect">
            <a:avLst>
              <a:gd name="adj" fmla="val 18182"/>
            </a:avLst>
          </a:prstGeom>
          <a:solidFill>
            <a:srgbClr val="FFC107"/>
          </a:solidFill>
          <a:ln w="12700">
            <a:solidFill>
              <a:srgbClr val="FFC107"/>
            </a:solidFill>
            <a:prstDash val="solid"/>
          </a:ln>
        </p:spPr>
      </p:sp>
      <p:sp>
        <p:nvSpPr>
          <p:cNvPr id="14" name="Text 9"/>
          <p:cNvSpPr txBox="1"/>
          <p:nvPr/>
        </p:nvSpPr>
        <p:spPr>
          <a:xfrm>
            <a:off x="10543032" y="4187952"/>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وظایف</a:t>
            </a:r>
            <a:endParaRPr lang="fa-IR" sz="1250" dirty="0"/>
          </a:p>
        </p:txBody>
      </p:sp>
      <p:sp>
        <p:nvSpPr>
          <p:cNvPr id="15" name="Shape 10">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۳۵</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دخانیات، جانوران موذی و نقشه ساختمان</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Duties — Articles 22-40</a:t>
            </a:r>
            <a:endParaRPr lang="en-US" sz="1550" dirty="0"/>
          </a:p>
        </p:txBody>
      </p:sp>
      <p:sp>
        <p:nvSpPr>
          <p:cNvPr id="25" name="Shape 18"/>
          <p:cNvSpPr/>
          <p:nvPr/>
        </p:nvSpPr>
        <p:spPr>
          <a:xfrm>
            <a:off x="548640" y="1572768"/>
            <a:ext cx="9418320" cy="1510771"/>
          </a:xfrm>
          <a:prstGeom prst="roundRect">
            <a:avLst>
              <a:gd name="adj" fmla="val 7263"/>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26" name="Shape 19"/>
          <p:cNvSpPr/>
          <p:nvPr/>
        </p:nvSpPr>
        <p:spPr>
          <a:xfrm>
            <a:off x="9098280" y="1755648"/>
            <a:ext cx="658368" cy="658368"/>
          </a:xfrm>
          <a:prstGeom prst="ellipse">
            <a:avLst/>
          </a:prstGeom>
          <a:solidFill>
            <a:srgbClr val="C62828"/>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27" name="Text 20"/>
          <p:cNvSpPr txBox="1"/>
          <p:nvPr/>
        </p:nvSpPr>
        <p:spPr>
          <a:xfrm>
            <a:off x="90525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۳۶</a:t>
            </a:r>
            <a:endParaRPr lang="fa-IR" sz="1500" dirty="0"/>
          </a:p>
        </p:txBody>
      </p:sp>
      <p:sp>
        <p:nvSpPr>
          <p:cNvPr id="28" name="Text 21"/>
          <p:cNvSpPr txBox="1"/>
          <p:nvPr/>
        </p:nvSpPr>
        <p:spPr>
          <a:xfrm>
            <a:off x="822960" y="1737360"/>
            <a:ext cx="8092440" cy="1236451"/>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00" b="1" dirty="0">
                <a:solidFill>
                  <a:srgbClr val="C62828"/>
                </a:solidFill>
                <a:latin typeface="B Nazanin" pitchFamily="34" charset="0"/>
                <a:ea typeface="B Nazanin" pitchFamily="34" charset="-122"/>
                <a:cs typeface="B Nazanin" pitchFamily="34" charset="-120"/>
              </a:rPr>
              <a:t>ماده ۳۶ — قوانین دخانیات</a:t>
            </a:r>
            <a:endParaRPr lang="fa-IR" sz="1800" dirty="0"/>
          </a:p>
          <a:p>
            <a:pPr rtl="1" algn="r" indent="0" marL="0">
              <a:lnSpc>
                <a:spcPct val="112000"/>
              </a:lnSpc>
              <a:spcAft>
                <a:spcPts val="300"/>
              </a:spcAft>
              <a:buNone/>
            </a:pPr>
            <a:r>
              <a:rPr lang="fa-IR" altLang="en-US" sz="1550" dirty="0">
                <a:solidFill>
                  <a:srgbClr val="37474F"/>
                </a:solidFill>
                <a:latin typeface="B Nazanin" pitchFamily="34" charset="0"/>
                <a:ea typeface="B Nazanin" pitchFamily="34" charset="-122"/>
                <a:cs typeface="B Nazanin" pitchFamily="34" charset="-120"/>
              </a:rPr>
              <a:t>مالکین، مدیران و متصدیان کلیه مراکز و اماکن مشمول این آئین نامه موظف به رعایت قوانین و مقررات مربوط به دخانیات از نظر شرایط فروش، ممنوعیت مصرف کارکنان، ممنوعیت مصرف عمومی و اطلاع رسانی مناسب می باشند.</a:t>
            </a:r>
            <a:endParaRPr lang="fa-IR" sz="1800" dirty="0"/>
          </a:p>
        </p:txBody>
      </p:sp>
      <p:sp>
        <p:nvSpPr>
          <p:cNvPr id="29" name="Shape 22"/>
          <p:cNvSpPr/>
          <p:nvPr/>
        </p:nvSpPr>
        <p:spPr>
          <a:xfrm>
            <a:off x="548640" y="3266419"/>
            <a:ext cx="9418320" cy="1331586"/>
          </a:xfrm>
          <a:prstGeom prst="roundRect">
            <a:avLst>
              <a:gd name="adj" fmla="val 8240"/>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0" name="Shape 23"/>
          <p:cNvSpPr/>
          <p:nvPr/>
        </p:nvSpPr>
        <p:spPr>
          <a:xfrm>
            <a:off x="9098280" y="3449299"/>
            <a:ext cx="658368" cy="658368"/>
          </a:xfrm>
          <a:prstGeom prst="ellipse">
            <a:avLst/>
          </a:prstGeom>
          <a:solidFill>
            <a:srgbClr val="43A047"/>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1" name="Text 24"/>
          <p:cNvSpPr txBox="1"/>
          <p:nvPr/>
        </p:nvSpPr>
        <p:spPr>
          <a:xfrm>
            <a:off x="9052560" y="3449299"/>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۳۷</a:t>
            </a:r>
            <a:endParaRPr lang="fa-IR" sz="1500" dirty="0"/>
          </a:p>
        </p:txBody>
      </p:sp>
      <p:sp>
        <p:nvSpPr>
          <p:cNvPr id="32" name="Text 25"/>
          <p:cNvSpPr txBox="1"/>
          <p:nvPr/>
        </p:nvSpPr>
        <p:spPr>
          <a:xfrm>
            <a:off x="822960" y="3431011"/>
            <a:ext cx="8092440" cy="1057266"/>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00" b="1" dirty="0">
                <a:solidFill>
                  <a:srgbClr val="43A047"/>
                </a:solidFill>
                <a:latin typeface="B Nazanin" pitchFamily="34" charset="0"/>
                <a:ea typeface="B Nazanin" pitchFamily="34" charset="-122"/>
                <a:cs typeface="B Nazanin" pitchFamily="34" charset="-120"/>
              </a:rPr>
              <a:t>ماده ۳۷ — مبارزه با حشرات و جوندگان</a:t>
            </a:r>
            <a:endParaRPr lang="fa-IR" sz="1800" dirty="0"/>
          </a:p>
          <a:p>
            <a:pPr rtl="1" algn="r" indent="0" marL="0">
              <a:lnSpc>
                <a:spcPct val="112000"/>
              </a:lnSpc>
              <a:spcAft>
                <a:spcPts val="300"/>
              </a:spcAft>
              <a:buNone/>
            </a:pPr>
            <a:r>
              <a:rPr lang="fa-IR" altLang="en-US" sz="1550" dirty="0">
                <a:solidFill>
                  <a:srgbClr val="37474F"/>
                </a:solidFill>
                <a:latin typeface="B Nazanin" pitchFamily="34" charset="0"/>
                <a:ea typeface="B Nazanin" pitchFamily="34" charset="-122"/>
                <a:cs typeface="B Nazanin" pitchFamily="34" charset="-120"/>
              </a:rPr>
              <a:t>مالکین، مدیران و متصدیان کلیه مراکز و اماکن مشمول این آئین نامه مکلفند تمهیدات لازم به منظور مبارزه با حشرات، جوندگان و جانوران موذی را اتخاذ نمایند.</a:t>
            </a:r>
            <a:endParaRPr lang="fa-IR" sz="1800" dirty="0"/>
          </a:p>
        </p:txBody>
      </p:sp>
      <p:sp>
        <p:nvSpPr>
          <p:cNvPr id="33" name="Shape 26"/>
          <p:cNvSpPr/>
          <p:nvPr/>
        </p:nvSpPr>
        <p:spPr>
          <a:xfrm>
            <a:off x="548640" y="4780885"/>
            <a:ext cx="9418320" cy="1391315"/>
          </a:xfrm>
          <a:prstGeom prst="roundRect">
            <a:avLst>
              <a:gd name="adj" fmla="val 7887"/>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4" name="Shape 27"/>
          <p:cNvSpPr/>
          <p:nvPr/>
        </p:nvSpPr>
        <p:spPr>
          <a:xfrm>
            <a:off x="9098280" y="4963765"/>
            <a:ext cx="658368" cy="658368"/>
          </a:xfrm>
          <a:prstGeom prst="ellipse">
            <a:avLst/>
          </a:prstGeom>
          <a:solidFill>
            <a:srgbClr val="0D3B8C"/>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5" name="Text 28"/>
          <p:cNvSpPr txBox="1"/>
          <p:nvPr/>
        </p:nvSpPr>
        <p:spPr>
          <a:xfrm>
            <a:off x="9052560" y="4963765"/>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۳۸</a:t>
            </a:r>
            <a:endParaRPr lang="fa-IR" sz="1500" dirty="0"/>
          </a:p>
        </p:txBody>
      </p:sp>
      <p:sp>
        <p:nvSpPr>
          <p:cNvPr id="36" name="Text 29"/>
          <p:cNvSpPr txBox="1"/>
          <p:nvPr/>
        </p:nvSpPr>
        <p:spPr>
          <a:xfrm>
            <a:off x="822960" y="4945477"/>
            <a:ext cx="8092440" cy="1116995"/>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00" b="1" dirty="0">
                <a:solidFill>
                  <a:srgbClr val="0D3B8C"/>
                </a:solidFill>
                <a:latin typeface="B Nazanin" pitchFamily="34" charset="0"/>
                <a:ea typeface="B Nazanin" pitchFamily="34" charset="-122"/>
                <a:cs typeface="B Nazanin" pitchFamily="34" charset="-120"/>
              </a:rPr>
              <a:t>ماده ۳۸ — تأیید نقشه ساختمان</a:t>
            </a:r>
            <a:endParaRPr lang="fa-IR" sz="1800" dirty="0"/>
          </a:p>
          <a:p>
            <a:pPr rtl="1" algn="r" indent="0" marL="0">
              <a:lnSpc>
                <a:spcPct val="112000"/>
              </a:lnSpc>
              <a:spcAft>
                <a:spcPts val="300"/>
              </a:spcAft>
              <a:buNone/>
            </a:pPr>
            <a:r>
              <a:rPr lang="fa-IR" altLang="en-US" sz="1550" dirty="0">
                <a:solidFill>
                  <a:srgbClr val="37474F"/>
                </a:solidFill>
                <a:latin typeface="B Nazanin" pitchFamily="34" charset="0"/>
                <a:ea typeface="B Nazanin" pitchFamily="34" charset="-122"/>
                <a:cs typeface="B Nazanin" pitchFamily="34" charset="-120"/>
              </a:rPr>
              <a:t>مالکین، مدیران و متصدیان کلیه مراکز و اماکن مشمول این آئین نامه مکلفند نقشه ساختمان واحد خود را به منظور انطباق با موازین بهداشتی قبل از اجراء به تأیید وزارت برسانند.</a:t>
            </a:r>
            <a:endParaRPr lang="fa-IR"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Text 2"/>
          <p:cNvSpPr txBox="1"/>
          <p:nvPr/>
        </p:nvSpPr>
        <p:spPr>
          <a:xfrm>
            <a:off x="10543032" y="2377440"/>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تعاریف</a:t>
            </a:r>
            <a:endParaRPr lang="fa-IR" sz="1250" dirty="0"/>
          </a:p>
        </p:txBody>
      </p:sp>
      <p:sp>
        <p:nvSpPr>
          <p:cNvPr id="8" name="Shape 3">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9" name="Text 4"/>
          <p:cNvSpPr txBox="1"/>
          <p:nvPr/>
        </p:nvSpPr>
        <p:spPr>
          <a:xfrm>
            <a:off x="10543032" y="2980944"/>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کلیات</a:t>
            </a:r>
            <a:endParaRPr lang="fa-IR" sz="1250" dirty="0"/>
          </a:p>
        </p:txBody>
      </p:sp>
      <p:sp>
        <p:nvSpPr>
          <p:cNvPr id="10" name="Shape 5">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1" name="Text 6"/>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2" name="Shape 7">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3" name="Shape 8"/>
          <p:cNvSpPr/>
          <p:nvPr/>
        </p:nvSpPr>
        <p:spPr>
          <a:xfrm>
            <a:off x="10543032" y="4187952"/>
            <a:ext cx="1481328" cy="402336"/>
          </a:xfrm>
          <a:prstGeom prst="roundRect">
            <a:avLst>
              <a:gd name="adj" fmla="val 18182"/>
            </a:avLst>
          </a:prstGeom>
          <a:solidFill>
            <a:srgbClr val="FFC107"/>
          </a:solidFill>
          <a:ln w="12700">
            <a:solidFill>
              <a:srgbClr val="FFC107"/>
            </a:solidFill>
            <a:prstDash val="solid"/>
          </a:ln>
        </p:spPr>
      </p:sp>
      <p:sp>
        <p:nvSpPr>
          <p:cNvPr id="14" name="Text 9"/>
          <p:cNvSpPr txBox="1"/>
          <p:nvPr/>
        </p:nvSpPr>
        <p:spPr>
          <a:xfrm>
            <a:off x="10543032" y="4187952"/>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وظایف</a:t>
            </a:r>
            <a:endParaRPr lang="fa-IR" sz="1250" dirty="0"/>
          </a:p>
        </p:txBody>
      </p:sp>
      <p:sp>
        <p:nvSpPr>
          <p:cNvPr id="15" name="Shape 10">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۳۶</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رعایت مقررات بهداشتی و نمونه‌برداری</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Duties — Articles 22-40</a:t>
            </a:r>
            <a:endParaRPr lang="en-US" sz="1550" dirty="0"/>
          </a:p>
        </p:txBody>
      </p:sp>
      <p:sp>
        <p:nvSpPr>
          <p:cNvPr id="25" name="Shape 18"/>
          <p:cNvSpPr/>
          <p:nvPr/>
        </p:nvSpPr>
        <p:spPr>
          <a:xfrm>
            <a:off x="548640" y="1572768"/>
            <a:ext cx="9418320" cy="1529509"/>
          </a:xfrm>
          <a:prstGeom prst="roundRect">
            <a:avLst>
              <a:gd name="adj" fmla="val 7174"/>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26" name="Shape 19"/>
          <p:cNvSpPr/>
          <p:nvPr/>
        </p:nvSpPr>
        <p:spPr>
          <a:xfrm>
            <a:off x="9098280" y="1755648"/>
            <a:ext cx="658368" cy="658368"/>
          </a:xfrm>
          <a:prstGeom prst="ellipse">
            <a:avLst/>
          </a:prstGeom>
          <a:solidFill>
            <a:srgbClr val="0D3B8C"/>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27" name="Text 20"/>
          <p:cNvSpPr txBox="1"/>
          <p:nvPr/>
        </p:nvSpPr>
        <p:spPr>
          <a:xfrm>
            <a:off x="90525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۳۹</a:t>
            </a:r>
            <a:endParaRPr lang="fa-IR" sz="1500" dirty="0"/>
          </a:p>
        </p:txBody>
      </p:sp>
      <p:sp>
        <p:nvSpPr>
          <p:cNvPr id="28" name="Text 21"/>
          <p:cNvSpPr txBox="1"/>
          <p:nvPr/>
        </p:nvSpPr>
        <p:spPr>
          <a:xfrm>
            <a:off x="822960" y="1737360"/>
            <a:ext cx="8092440" cy="1255189"/>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00" b="1" dirty="0">
                <a:solidFill>
                  <a:srgbClr val="0D3B8C"/>
                </a:solidFill>
                <a:latin typeface="B Nazanin" pitchFamily="34" charset="0"/>
                <a:ea typeface="B Nazanin" pitchFamily="34" charset="-122"/>
                <a:cs typeface="B Nazanin" pitchFamily="34" charset="-120"/>
              </a:rPr>
              <a:t>ماده ۳۹ — مقررات بهداشت محیط و ساختمان</a:t>
            </a:r>
            <a:endParaRPr lang="fa-IR" sz="1800" dirty="0"/>
          </a:p>
          <a:p>
            <a:pPr rtl="1" algn="r" indent="0" marL="0">
              <a:lnSpc>
                <a:spcPct val="112000"/>
              </a:lnSpc>
              <a:spcAft>
                <a:spcPts val="300"/>
              </a:spcAft>
              <a:buNone/>
            </a:pPr>
            <a:r>
              <a:rPr lang="fa-IR" altLang="en-US" sz="1550" dirty="0">
                <a:solidFill>
                  <a:srgbClr val="37474F"/>
                </a:solidFill>
                <a:latin typeface="B Nazanin" pitchFamily="34" charset="0"/>
                <a:ea typeface="B Nazanin" pitchFamily="34" charset="-122"/>
                <a:cs typeface="B Nazanin" pitchFamily="34" charset="-120"/>
              </a:rPr>
              <a:t>رعایت مقررات بهداشتی برای مراکز و اماکن مشمول این آئین نامه نظیر رعایت بهداشت محیط، بهداشت ساختمان، بهداشت ابزار و تجهیزات و وسایل حمل و نقل که توسط وزارت اعلام می شود الزامی است.</a:t>
            </a:r>
            <a:endParaRPr lang="fa-IR" sz="1800" dirty="0"/>
          </a:p>
        </p:txBody>
      </p:sp>
      <p:sp>
        <p:nvSpPr>
          <p:cNvPr id="29" name="Shape 22"/>
          <p:cNvSpPr/>
          <p:nvPr/>
        </p:nvSpPr>
        <p:spPr>
          <a:xfrm>
            <a:off x="548640" y="3285157"/>
            <a:ext cx="9418320" cy="1305131"/>
          </a:xfrm>
          <a:prstGeom prst="roundRect">
            <a:avLst>
              <a:gd name="adj" fmla="val 8407"/>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0" name="Shape 23"/>
          <p:cNvSpPr/>
          <p:nvPr/>
        </p:nvSpPr>
        <p:spPr>
          <a:xfrm>
            <a:off x="9098280" y="3468037"/>
            <a:ext cx="658368" cy="658368"/>
          </a:xfrm>
          <a:prstGeom prst="ellipse">
            <a:avLst/>
          </a:prstGeom>
          <a:solidFill>
            <a:srgbClr val="43A047"/>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1" name="Text 24"/>
          <p:cNvSpPr txBox="1"/>
          <p:nvPr/>
        </p:nvSpPr>
        <p:spPr>
          <a:xfrm>
            <a:off x="9052560" y="3468037"/>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۴۰</a:t>
            </a:r>
            <a:endParaRPr lang="fa-IR" sz="1500" dirty="0"/>
          </a:p>
        </p:txBody>
      </p:sp>
      <p:sp>
        <p:nvSpPr>
          <p:cNvPr id="32" name="Text 25"/>
          <p:cNvSpPr txBox="1"/>
          <p:nvPr/>
        </p:nvSpPr>
        <p:spPr>
          <a:xfrm>
            <a:off x="822960" y="3449749"/>
            <a:ext cx="8092440" cy="1030811"/>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00" b="1" dirty="0">
                <a:solidFill>
                  <a:srgbClr val="43A047"/>
                </a:solidFill>
                <a:latin typeface="B Nazanin" pitchFamily="34" charset="0"/>
                <a:ea typeface="B Nazanin" pitchFamily="34" charset="-122"/>
                <a:cs typeface="B Nazanin" pitchFamily="34" charset="-120"/>
              </a:rPr>
              <a:t>ماده ۴۰ — بهداشت مواد غذایی و فردی</a:t>
            </a:r>
            <a:endParaRPr lang="fa-IR" sz="1800" dirty="0"/>
          </a:p>
          <a:p>
            <a:pPr rtl="1" algn="r" indent="0" marL="0">
              <a:lnSpc>
                <a:spcPct val="112000"/>
              </a:lnSpc>
              <a:spcAft>
                <a:spcPts val="300"/>
              </a:spcAft>
              <a:buNone/>
            </a:pPr>
            <a:r>
              <a:rPr lang="fa-IR" altLang="en-US" sz="1550" dirty="0">
                <a:solidFill>
                  <a:srgbClr val="37474F"/>
                </a:solidFill>
                <a:latin typeface="B Nazanin" pitchFamily="34" charset="0"/>
                <a:ea typeface="B Nazanin" pitchFamily="34" charset="-122"/>
                <a:cs typeface="B Nazanin" pitchFamily="34" charset="-120"/>
              </a:rPr>
              <a:t>رعایت بهداشت مواد غذایی و بهداشت فردی برای مدیران، متصدیان و کارکنان کلیه مراکز و اماکن مشمول این آئین نامه الزامی است.</a:t>
            </a:r>
            <a:endParaRPr lang="fa-IR" sz="1800" dirty="0"/>
          </a:p>
        </p:txBody>
      </p:sp>
      <p:sp>
        <p:nvSpPr>
          <p:cNvPr id="33" name="Shape 26"/>
          <p:cNvSpPr/>
          <p:nvPr/>
        </p:nvSpPr>
        <p:spPr>
          <a:xfrm>
            <a:off x="548640" y="4773168"/>
            <a:ext cx="9418320" cy="1399032"/>
          </a:xfrm>
          <a:prstGeom prst="roundRect">
            <a:avLst>
              <a:gd name="adj" fmla="val 7843"/>
            </a:avLst>
          </a:prstGeom>
          <a:solidFill>
            <a:srgbClr val="FFF3C4"/>
          </a:solidFill>
          <a:ln w="15875">
            <a:solidFill>
              <a:srgbClr val="FFC107"/>
            </a:solidFill>
            <a:prstDash val="solid"/>
          </a:ln>
        </p:spPr>
      </p:sp>
      <p:sp>
        <p:nvSpPr>
          <p:cNvPr id="34" name="Shape 27"/>
          <p:cNvSpPr/>
          <p:nvPr/>
        </p:nvSpPr>
        <p:spPr>
          <a:xfrm>
            <a:off x="9198864" y="4956048"/>
            <a:ext cx="603504" cy="603504"/>
          </a:xfrm>
          <a:prstGeom prst="ellipse">
            <a:avLst/>
          </a:prstGeom>
          <a:solidFill>
            <a:srgbClr val="FFC107"/>
          </a:solidFill>
          <a:ln w="25400">
            <a:solidFill>
              <a:srgbClr val="FFFFFF"/>
            </a:solidFill>
            <a:prstDash val="solid"/>
          </a:ln>
        </p:spPr>
      </p:sp>
      <p:pic>
        <p:nvPicPr>
          <p:cNvPr id="35" name="Image 5" descr="/tmp/claude-0/-home-user-Waste/dcb1a03d-345b-5441-8898-3e9a4c6379b1/scratchpad/build/assets/ic-13-lightbulb-plain.png">    </p:cNvPr>
          <p:cNvPicPr>
            <a:picLocks noChangeAspect="1"/>
          </p:cNvPicPr>
          <p:nvPr/>
        </p:nvPicPr>
        <p:blipFill>
          <a:blip r:embed="rId16"/>
          <a:stretch>
            <a:fillRect/>
          </a:stretch>
        </p:blipFill>
        <p:spPr>
          <a:xfrm>
            <a:off x="9317736" y="5074920"/>
            <a:ext cx="365760" cy="365760"/>
          </a:xfrm>
          <a:prstGeom prst="rect">
            <a:avLst/>
          </a:prstGeom>
        </p:spPr>
      </p:pic>
      <p:sp>
        <p:nvSpPr>
          <p:cNvPr id="36" name="Text 28"/>
          <p:cNvSpPr txBox="1"/>
          <p:nvPr/>
        </p:nvSpPr>
        <p:spPr>
          <a:xfrm>
            <a:off x="777240" y="4864608"/>
            <a:ext cx="8275320" cy="1216152"/>
          </a:xfrm>
          <a:prstGeom prst="rect">
            <a:avLst/>
          </a:prstGeom>
          <a:noFill/>
          <a:ln/>
        </p:spPr>
        <p:txBody>
          <a:bodyPr wrap="square" lIns="0" tIns="0" rIns="0" bIns="0" rtlCol="0" anchor="ctr"/>
          <a:lstStyle/>
          <a:p>
            <a:pPr rtl="1" algn="r" indent="0" marL="0">
              <a:lnSpc>
                <a:spcPct val="112000"/>
              </a:lnSpc>
              <a:spcAft>
                <a:spcPts val="300"/>
              </a:spcAft>
              <a:buNone/>
            </a:pPr>
            <a:r>
              <a:rPr lang="fa-IR" altLang="en-US" sz="1550" b="1" dirty="0">
                <a:solidFill>
                  <a:srgbClr val="0D3B8C"/>
                </a:solidFill>
                <a:latin typeface="B Nazanin" pitchFamily="34" charset="0"/>
                <a:ea typeface="B Nazanin" pitchFamily="34" charset="-122"/>
                <a:cs typeface="B Nazanin" pitchFamily="34" charset="-120"/>
              </a:rPr>
              <a:t>تبصره: </a:t>
            </a:r>
            <a:pPr rtl="1" algn="r" indent="0" marL="0">
              <a:lnSpc>
                <a:spcPct val="112000"/>
              </a:lnSpc>
              <a:spcAft>
                <a:spcPts val="300"/>
              </a:spcAft>
              <a:buNone/>
            </a:pPr>
            <a:r>
              <a:rPr lang="fa-IR" altLang="en-US" sz="1550" dirty="0">
                <a:solidFill>
                  <a:srgbClr val="37474F"/>
                </a:solidFill>
                <a:latin typeface="B Nazanin" pitchFamily="34" charset="0"/>
                <a:ea typeface="B Nazanin" pitchFamily="34" charset="-122"/>
                <a:cs typeface="B Nazanin" pitchFamily="34" charset="-120"/>
              </a:rPr>
              <a:t>وزارت باید به منظور کنترل مواد مشمول این آیین نامه از سطح مراکز و اماکن مشمول این آیین نامه، نسبت به برداشت نمونه مواد غذایی و در صورت لزوم توقیف موقت محموله تا تعیین تکلیف مقامات قضایی اقدام نماید.</a:t>
            </a:r>
            <a:endParaRPr lang="fa-IR" sz="15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65760"/>
            <a:ext cx="731520" cy="731520"/>
          </a:xfrm>
          <a:prstGeom prst="ellipse">
            <a:avLst/>
          </a:prstGeom>
          <a:solidFill>
            <a:srgbClr val="FFFFFF"/>
          </a:solidFill>
          <a:ln w="25400">
            <a:solidFill>
              <a:srgbClr val="FFC107"/>
            </a:solidFill>
            <a:prstDash val="solid"/>
          </a:ln>
        </p:spPr>
      </p:sp>
      <p:pic>
        <p:nvPicPr>
          <p:cNvPr id="3" name="Image 0" descr="/tmp/claude-0/-home-user-Waste/dcb1a03d-345b-5441-8898-3e9a4c6379b1/scratchpad/build/assets/logo.png">    </p:cNvPr>
          <p:cNvPicPr>
            <a:picLocks noChangeAspect="1"/>
          </p:cNvPicPr>
          <p:nvPr/>
        </p:nvPicPr>
        <p:blipFill>
          <a:blip r:embed="rId2"/>
          <a:stretch>
            <a:fillRect/>
          </a:stretch>
        </p:blipFill>
        <p:spPr>
          <a:xfrm>
            <a:off x="521208" y="475488"/>
            <a:ext cx="512064" cy="512064"/>
          </a:xfrm>
          <a:prstGeom prst="rect">
            <a:avLst/>
          </a:prstGeom>
        </p:spPr>
      </p:pic>
      <p:sp>
        <p:nvSpPr>
          <p:cNvPr id="4" name="Shape 1"/>
          <p:cNvSpPr/>
          <p:nvPr/>
        </p:nvSpPr>
        <p:spPr>
          <a:xfrm>
            <a:off x="4489704" y="822960"/>
            <a:ext cx="3200400" cy="2743200"/>
          </a:xfrm>
          <a:prstGeom prst="triangle">
            <a:avLst/>
          </a:prstGeom>
          <a:solidFill>
            <a:srgbClr val="FFC107"/>
          </a:solidFill>
          <a:ln w="12700">
            <a:solidFill>
              <a:srgbClr val="FFD54F"/>
            </a:solidFill>
            <a:prstDash val="solid"/>
          </a:ln>
          <a:effectLst>
            <a:outerShdw sx="100000" sy="100000" kx="0" ky="0" algn="bl" rotWithShape="0" blurRad="127000" dist="38100" dir="5400000">
              <a:srgbClr val="1B2A4A">
                <a:alpha val="18000"/>
              </a:srgbClr>
            </a:outerShdw>
          </a:effectLst>
        </p:spPr>
      </p:sp>
      <p:pic>
        <p:nvPicPr>
          <p:cNvPr id="5" name="Image 1" descr="/tmp/claude-0/-home-user-Waste/dcb1a03d-345b-5441-8898-3e9a4c6379b1/scratchpad/build/assets/ic-49-description-plain.png">    </p:cNvPr>
          <p:cNvPicPr>
            <a:picLocks noChangeAspect="1"/>
          </p:cNvPicPr>
          <p:nvPr/>
        </p:nvPicPr>
        <p:blipFill>
          <a:blip r:embed="rId3"/>
          <a:stretch>
            <a:fillRect/>
          </a:stretch>
        </p:blipFill>
        <p:spPr>
          <a:xfrm>
            <a:off x="5431536" y="1920240"/>
            <a:ext cx="1316736" cy="1316736"/>
          </a:xfrm>
          <a:prstGeom prst="rect">
            <a:avLst/>
          </a:prstGeom>
        </p:spPr>
      </p:pic>
      <p:sp>
        <p:nvSpPr>
          <p:cNvPr id="6" name="Text 2"/>
          <p:cNvSpPr txBox="1"/>
          <p:nvPr/>
        </p:nvSpPr>
        <p:spPr>
          <a:xfrm>
            <a:off x="914400" y="3840480"/>
            <a:ext cx="10360152" cy="1371600"/>
          </a:xfrm>
          <a:prstGeom prst="rect">
            <a:avLst/>
          </a:prstGeom>
          <a:noFill/>
          <a:ln/>
        </p:spPr>
        <p:txBody>
          <a:bodyPr wrap="square" lIns="0" tIns="0" rIns="0" bIns="0" rtlCol="0" anchor="ctr"/>
          <a:lstStyle/>
          <a:p>
            <a:pPr rtl="1" algn="ctr" indent="0" marL="0">
              <a:buNone/>
            </a:pPr>
            <a:r>
              <a:rPr lang="fa-IR" altLang="en-US" sz="6000" b="1" dirty="0">
                <a:solidFill>
                  <a:srgbClr val="FFC107"/>
                </a:solidFill>
                <a:latin typeface="B Nazanin" pitchFamily="34" charset="0"/>
                <a:ea typeface="B Nazanin" pitchFamily="34" charset="-122"/>
                <a:cs typeface="B Nazanin" pitchFamily="34" charset="-120"/>
              </a:rPr>
              <a:t>پروانه و صلاحیت بهداشتی</a:t>
            </a:r>
            <a:endParaRPr lang="fa-IR" sz="6000" dirty="0"/>
          </a:p>
        </p:txBody>
      </p:sp>
      <p:sp>
        <p:nvSpPr>
          <p:cNvPr id="7" name="Text 3"/>
          <p:cNvSpPr txBox="1"/>
          <p:nvPr/>
        </p:nvSpPr>
        <p:spPr>
          <a:xfrm>
            <a:off x="914400" y="5212080"/>
            <a:ext cx="10360152" cy="457200"/>
          </a:xfrm>
          <a:prstGeom prst="rect">
            <a:avLst/>
          </a:prstGeom>
          <a:noFill/>
          <a:ln/>
        </p:spPr>
        <p:txBody>
          <a:bodyPr wrap="square" lIns="0" tIns="0" rIns="0" bIns="0" rtlCol="0" anchor="ctr"/>
          <a:lstStyle/>
          <a:p>
            <a:pPr rtl="1" algn="ctr" indent="0" marL="0">
              <a:buNone/>
            </a:pPr>
            <a:r>
              <a:rPr lang="fa-IR" altLang="en-US" sz="2200" dirty="0">
                <a:solidFill>
                  <a:srgbClr val="FFFFFF"/>
                </a:solidFill>
                <a:latin typeface="B Nazanin" pitchFamily="34" charset="0"/>
                <a:ea typeface="B Nazanin" pitchFamily="34" charset="-122"/>
                <a:cs typeface="B Nazanin" pitchFamily="34" charset="-120"/>
              </a:rPr>
              <a:t>فصل چهارم — مواد ۴۱ تا ۴۵</a:t>
            </a:r>
            <a:endParaRPr lang="fa-IR" sz="2200" dirty="0"/>
          </a:p>
        </p:txBody>
      </p:sp>
      <p:pic>
        <p:nvPicPr>
          <p:cNvPr id="8" name="Image 2" descr="/tmp/claude-0/-home-user-Waste/dcb1a03d-345b-5441-8898-3e9a4c6379b1/scratchpad/build/assets/home.png">
            <a:hlinkClick r:id="rId5" tooltip="فهرست مطالب" action="ppaction://hlinksldjump"/>
          </p:cNvPr>
          <p:cNvPicPr>
            <a:picLocks noChangeAspect="1"/>
          </p:cNvPicPr>
          <p:nvPr/>
        </p:nvPicPr>
        <p:blipFill>
          <a:blip r:embed="rId4"/>
          <a:stretch>
            <a:fillRect/>
          </a:stretch>
        </p:blipFill>
        <p:spPr>
          <a:xfrm>
            <a:off x="11274552" y="6126480"/>
            <a:ext cx="457200" cy="4572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Text 2"/>
          <p:cNvSpPr txBox="1"/>
          <p:nvPr/>
        </p:nvSpPr>
        <p:spPr>
          <a:xfrm>
            <a:off x="10543032" y="2377440"/>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تعاریف</a:t>
            </a:r>
            <a:endParaRPr lang="fa-IR" sz="1250" dirty="0"/>
          </a:p>
        </p:txBody>
      </p:sp>
      <p:sp>
        <p:nvSpPr>
          <p:cNvPr id="8" name="Shape 3">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9" name="Text 4"/>
          <p:cNvSpPr txBox="1"/>
          <p:nvPr/>
        </p:nvSpPr>
        <p:spPr>
          <a:xfrm>
            <a:off x="10543032" y="2980944"/>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کلیات</a:t>
            </a:r>
            <a:endParaRPr lang="fa-IR" sz="1250" dirty="0"/>
          </a:p>
        </p:txBody>
      </p:sp>
      <p:sp>
        <p:nvSpPr>
          <p:cNvPr id="10" name="Shape 5">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1" name="Text 6"/>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2" name="Shape 7">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3" name="Text 8"/>
          <p:cNvSpPr txBox="1"/>
          <p:nvPr/>
        </p:nvSpPr>
        <p:spPr>
          <a:xfrm>
            <a:off x="10543032" y="4187952"/>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وظایف</a:t>
            </a:r>
            <a:endParaRPr lang="fa-IR" sz="1250" dirty="0"/>
          </a:p>
        </p:txBody>
      </p:sp>
      <p:sp>
        <p:nvSpPr>
          <p:cNvPr id="14" name="Shape 9">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5" name="Shape 10"/>
          <p:cNvSpPr/>
          <p:nvPr/>
        </p:nvSpPr>
        <p:spPr>
          <a:xfrm>
            <a:off x="10543032" y="4791456"/>
            <a:ext cx="1481328" cy="402336"/>
          </a:xfrm>
          <a:prstGeom prst="roundRect">
            <a:avLst>
              <a:gd name="adj" fmla="val 18182"/>
            </a:avLst>
          </a:prstGeom>
          <a:solidFill>
            <a:srgbClr val="FFC107"/>
          </a:solidFill>
          <a:ln w="12700">
            <a:solidFill>
              <a:srgbClr val="FFC107"/>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۳۸</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پروانه فعالیت خدمات بهداشت محیط</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Licenses and Health Qualification — Articles 41-45</a:t>
            </a:r>
            <a:endParaRPr lang="en-US" sz="1550" dirty="0"/>
          </a:p>
        </p:txBody>
      </p:sp>
      <p:sp>
        <p:nvSpPr>
          <p:cNvPr id="25" name="Shape 18"/>
          <p:cNvSpPr/>
          <p:nvPr/>
        </p:nvSpPr>
        <p:spPr>
          <a:xfrm>
            <a:off x="548640" y="1572768"/>
            <a:ext cx="9418320" cy="2148840"/>
          </a:xfrm>
          <a:prstGeom prst="roundRect">
            <a:avLst>
              <a:gd name="adj" fmla="val 5106"/>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26" name="Shape 19"/>
          <p:cNvSpPr/>
          <p:nvPr/>
        </p:nvSpPr>
        <p:spPr>
          <a:xfrm>
            <a:off x="9098280" y="1755648"/>
            <a:ext cx="658368" cy="658368"/>
          </a:xfrm>
          <a:prstGeom prst="ellipse">
            <a:avLst/>
          </a:prstGeom>
          <a:solidFill>
            <a:srgbClr val="0D3B8C"/>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27" name="Text 20"/>
          <p:cNvSpPr txBox="1"/>
          <p:nvPr/>
        </p:nvSpPr>
        <p:spPr>
          <a:xfrm>
            <a:off x="90525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۴۱</a:t>
            </a:r>
            <a:endParaRPr lang="fa-IR" sz="1500" dirty="0"/>
          </a:p>
        </p:txBody>
      </p:sp>
      <p:sp>
        <p:nvSpPr>
          <p:cNvPr id="28" name="Text 21"/>
          <p:cNvSpPr txBox="1"/>
          <p:nvPr/>
        </p:nvSpPr>
        <p:spPr>
          <a:xfrm>
            <a:off x="822960" y="1737360"/>
            <a:ext cx="8092440" cy="1874520"/>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50" b="1" dirty="0">
                <a:solidFill>
                  <a:srgbClr val="0D3B8C"/>
                </a:solidFill>
                <a:latin typeface="B Nazanin" pitchFamily="34" charset="0"/>
                <a:ea typeface="B Nazanin" pitchFamily="34" charset="-122"/>
                <a:cs typeface="B Nazanin" pitchFamily="34" charset="-120"/>
              </a:rPr>
              <a:t>ماده ۴۱ — اخذ پروانه فعالیت از وزارت</a:t>
            </a:r>
            <a:endParaRPr lang="fa-IR" sz="1850" dirty="0"/>
          </a:p>
          <a:p>
            <a:pPr rtl="1" algn="r" indent="0" marL="0">
              <a:lnSpc>
                <a:spcPct val="112000"/>
              </a:lnSpc>
              <a:spcAft>
                <a:spcPts val="300"/>
              </a:spcAft>
              <a:buNone/>
            </a:pPr>
            <a:r>
              <a:rPr lang="fa-IR" altLang="en-US" sz="1600" dirty="0">
                <a:solidFill>
                  <a:srgbClr val="37474F"/>
                </a:solidFill>
                <a:latin typeface="B Nazanin" pitchFamily="34" charset="0"/>
                <a:ea typeface="B Nazanin" pitchFamily="34" charset="-122"/>
                <a:cs typeface="B Nazanin" pitchFamily="34" charset="-120"/>
              </a:rPr>
              <a:t>اشخاص حقیقی و حقوقی متقاضی فعالیت در زمینه خدمات بهداشت محیط نظیر مشاوره بهداشت محیط، فعالیت های مرتبط با خودکنترلی و خوداظهاری بهداشتی، بی خطر سازی و مدیریت پسماند و آموزشگاه بهداشت اصناف، اعم از بخش دولتی، خصوصی و یا تعاونی باید از وزارت پروانه فعالیت اخذ نمایند.</a:t>
            </a:r>
            <a:endParaRPr lang="fa-IR" sz="1850" dirty="0"/>
          </a:p>
        </p:txBody>
      </p:sp>
      <p:sp>
        <p:nvSpPr>
          <p:cNvPr id="29" name="Shape 22"/>
          <p:cNvSpPr/>
          <p:nvPr/>
        </p:nvSpPr>
        <p:spPr>
          <a:xfrm>
            <a:off x="548640" y="3931920"/>
            <a:ext cx="9418320" cy="1005840"/>
          </a:xfrm>
          <a:prstGeom prst="roundRect">
            <a:avLst>
              <a:gd name="adj" fmla="val 10909"/>
            </a:avLst>
          </a:prstGeom>
          <a:solidFill>
            <a:srgbClr val="FFF3C4"/>
          </a:solidFill>
          <a:ln w="15875">
            <a:solidFill>
              <a:srgbClr val="FFC107"/>
            </a:solidFill>
            <a:prstDash val="solid"/>
          </a:ln>
        </p:spPr>
      </p:sp>
      <p:sp>
        <p:nvSpPr>
          <p:cNvPr id="30" name="Shape 23"/>
          <p:cNvSpPr/>
          <p:nvPr/>
        </p:nvSpPr>
        <p:spPr>
          <a:xfrm>
            <a:off x="9198864" y="4114800"/>
            <a:ext cx="603504" cy="603504"/>
          </a:xfrm>
          <a:prstGeom prst="ellipse">
            <a:avLst/>
          </a:prstGeom>
          <a:solidFill>
            <a:srgbClr val="FFC107"/>
          </a:solidFill>
          <a:ln w="25400">
            <a:solidFill>
              <a:srgbClr val="FFFFFF"/>
            </a:solidFill>
            <a:prstDash val="solid"/>
          </a:ln>
        </p:spPr>
      </p:sp>
      <p:pic>
        <p:nvPicPr>
          <p:cNvPr id="31" name="Image 5" descr="/tmp/claude-0/-home-user-Waste/dcb1a03d-345b-5441-8898-3e9a4c6379b1/scratchpad/build/assets/ic-13-lightbulb-plain.png">    </p:cNvPr>
          <p:cNvPicPr>
            <a:picLocks noChangeAspect="1"/>
          </p:cNvPicPr>
          <p:nvPr/>
        </p:nvPicPr>
        <p:blipFill>
          <a:blip r:embed="rId16"/>
          <a:stretch>
            <a:fillRect/>
          </a:stretch>
        </p:blipFill>
        <p:spPr>
          <a:xfrm>
            <a:off x="9317736" y="4233672"/>
            <a:ext cx="365760" cy="365760"/>
          </a:xfrm>
          <a:prstGeom prst="rect">
            <a:avLst/>
          </a:prstGeom>
        </p:spPr>
      </p:pic>
      <p:sp>
        <p:nvSpPr>
          <p:cNvPr id="32" name="Text 24"/>
          <p:cNvSpPr txBox="1"/>
          <p:nvPr/>
        </p:nvSpPr>
        <p:spPr>
          <a:xfrm>
            <a:off x="777240" y="4023360"/>
            <a:ext cx="8275320" cy="822960"/>
          </a:xfrm>
          <a:prstGeom prst="rect">
            <a:avLst/>
          </a:prstGeom>
          <a:noFill/>
          <a:ln/>
        </p:spPr>
        <p:txBody>
          <a:bodyPr wrap="square" lIns="0" tIns="0" rIns="0" bIns="0" rtlCol="0" anchor="ctr"/>
          <a:lstStyle/>
          <a:p>
            <a:pPr rtl="1" algn="r" indent="0" marL="0">
              <a:lnSpc>
                <a:spcPct val="112000"/>
              </a:lnSpc>
              <a:spcAft>
                <a:spcPts val="300"/>
              </a:spcAft>
              <a:buNone/>
            </a:pPr>
            <a:r>
              <a:rPr lang="fa-IR" altLang="en-US" sz="1600" b="1" dirty="0">
                <a:solidFill>
                  <a:srgbClr val="0D3B8C"/>
                </a:solidFill>
                <a:latin typeface="B Nazanin" pitchFamily="34" charset="0"/>
                <a:ea typeface="B Nazanin" pitchFamily="34" charset="-122"/>
                <a:cs typeface="B Nazanin" pitchFamily="34" charset="-120"/>
              </a:rPr>
              <a:t>تبصره ۱: </a:t>
            </a:r>
            <a:pPr rtl="1" algn="r" indent="0" marL="0">
              <a:lnSpc>
                <a:spcPct val="112000"/>
              </a:lnSpc>
              <a:spcAft>
                <a:spcPts val="300"/>
              </a:spcAft>
              <a:buNone/>
            </a:pPr>
            <a:r>
              <a:rPr lang="fa-IR" altLang="en-US" sz="1600" dirty="0">
                <a:solidFill>
                  <a:srgbClr val="37474F"/>
                </a:solidFill>
                <a:latin typeface="B Nazanin" pitchFamily="34" charset="0"/>
                <a:ea typeface="B Nazanin" pitchFamily="34" charset="-122"/>
                <a:cs typeface="B Nazanin" pitchFamily="34" charset="-120"/>
              </a:rPr>
              <a:t>فعالیت شرکت ها و موسسات ارائه دهنده خدمات فوق باید زیر نظر فرد یا افراد واجد شرایط بعنوان مسئول فنی انجام شود.</a:t>
            </a:r>
            <a:endParaRPr lang="fa-IR" sz="1600" dirty="0"/>
          </a:p>
        </p:txBody>
      </p:sp>
      <p:sp>
        <p:nvSpPr>
          <p:cNvPr id="33" name="Shape 25"/>
          <p:cNvSpPr/>
          <p:nvPr/>
        </p:nvSpPr>
        <p:spPr>
          <a:xfrm>
            <a:off x="548640" y="5120640"/>
            <a:ext cx="9418320" cy="1005840"/>
          </a:xfrm>
          <a:prstGeom prst="roundRect">
            <a:avLst>
              <a:gd name="adj" fmla="val 10909"/>
            </a:avLst>
          </a:prstGeom>
          <a:solidFill>
            <a:srgbClr val="FFF3C4"/>
          </a:solidFill>
          <a:ln w="15875">
            <a:solidFill>
              <a:srgbClr val="FFC107"/>
            </a:solidFill>
            <a:prstDash val="solid"/>
          </a:ln>
        </p:spPr>
      </p:sp>
      <p:sp>
        <p:nvSpPr>
          <p:cNvPr id="34" name="Shape 26"/>
          <p:cNvSpPr/>
          <p:nvPr/>
        </p:nvSpPr>
        <p:spPr>
          <a:xfrm>
            <a:off x="9198864" y="5303520"/>
            <a:ext cx="603504" cy="603504"/>
          </a:xfrm>
          <a:prstGeom prst="ellipse">
            <a:avLst/>
          </a:prstGeom>
          <a:solidFill>
            <a:srgbClr val="FFC107"/>
          </a:solidFill>
          <a:ln w="25400">
            <a:solidFill>
              <a:srgbClr val="FFFFFF"/>
            </a:solidFill>
            <a:prstDash val="solid"/>
          </a:ln>
        </p:spPr>
      </p:sp>
      <p:pic>
        <p:nvPicPr>
          <p:cNvPr id="35" name="Image 6" descr="/tmp/claude-0/-home-user-Waste/dcb1a03d-345b-5441-8898-3e9a4c6379b1/scratchpad/build/assets/ic-13-lightbulb-plain.png">    </p:cNvPr>
          <p:cNvPicPr>
            <a:picLocks noChangeAspect="1"/>
          </p:cNvPicPr>
          <p:nvPr/>
        </p:nvPicPr>
        <p:blipFill>
          <a:blip r:embed="rId17"/>
          <a:stretch>
            <a:fillRect/>
          </a:stretch>
        </p:blipFill>
        <p:spPr>
          <a:xfrm>
            <a:off x="9317736" y="5422392"/>
            <a:ext cx="365760" cy="365760"/>
          </a:xfrm>
          <a:prstGeom prst="rect">
            <a:avLst/>
          </a:prstGeom>
        </p:spPr>
      </p:pic>
      <p:sp>
        <p:nvSpPr>
          <p:cNvPr id="36" name="Text 27"/>
          <p:cNvSpPr txBox="1"/>
          <p:nvPr/>
        </p:nvSpPr>
        <p:spPr>
          <a:xfrm>
            <a:off x="777240" y="5212080"/>
            <a:ext cx="8275320" cy="822960"/>
          </a:xfrm>
          <a:prstGeom prst="rect">
            <a:avLst/>
          </a:prstGeom>
          <a:noFill/>
          <a:ln/>
        </p:spPr>
        <p:txBody>
          <a:bodyPr wrap="square" lIns="0" tIns="0" rIns="0" bIns="0" rtlCol="0" anchor="ctr"/>
          <a:lstStyle/>
          <a:p>
            <a:pPr rtl="1" algn="r" indent="0" marL="0">
              <a:lnSpc>
                <a:spcPct val="112000"/>
              </a:lnSpc>
              <a:spcAft>
                <a:spcPts val="300"/>
              </a:spcAft>
              <a:buNone/>
            </a:pPr>
            <a:r>
              <a:rPr lang="fa-IR" altLang="en-US" sz="1600" b="1" dirty="0">
                <a:solidFill>
                  <a:srgbClr val="0D3B8C"/>
                </a:solidFill>
                <a:latin typeface="B Nazanin" pitchFamily="34" charset="0"/>
                <a:ea typeface="B Nazanin" pitchFamily="34" charset="-122"/>
                <a:cs typeface="B Nazanin" pitchFamily="34" charset="-120"/>
              </a:rPr>
              <a:t>تبصره ۲: </a:t>
            </a:r>
            <a:pPr rtl="1" algn="r" indent="0" marL="0">
              <a:lnSpc>
                <a:spcPct val="112000"/>
              </a:lnSpc>
              <a:spcAft>
                <a:spcPts val="300"/>
              </a:spcAft>
              <a:buNone/>
            </a:pPr>
            <a:r>
              <a:rPr lang="fa-IR" altLang="en-US" sz="1600" dirty="0">
                <a:solidFill>
                  <a:srgbClr val="37474F"/>
                </a:solidFill>
                <a:latin typeface="B Nazanin" pitchFamily="34" charset="0"/>
                <a:ea typeface="B Nazanin" pitchFamily="34" charset="-122"/>
                <a:cs typeface="B Nazanin" pitchFamily="34" charset="-120"/>
              </a:rPr>
              <a:t>شرایط و نحوه صدور پروانه فعالیت و مسئول فنی طبق ضوابطی است که معاونت بهداشت وزارت اعلام خواهد نمود.</a:t>
            </a:r>
            <a:endParaRPr lang="fa-IR"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Text 2"/>
          <p:cNvSpPr txBox="1"/>
          <p:nvPr/>
        </p:nvSpPr>
        <p:spPr>
          <a:xfrm>
            <a:off x="10543032" y="2377440"/>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تعاریف</a:t>
            </a:r>
            <a:endParaRPr lang="fa-IR" sz="1250" dirty="0"/>
          </a:p>
        </p:txBody>
      </p:sp>
      <p:sp>
        <p:nvSpPr>
          <p:cNvPr id="8" name="Shape 3">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9" name="Text 4"/>
          <p:cNvSpPr txBox="1"/>
          <p:nvPr/>
        </p:nvSpPr>
        <p:spPr>
          <a:xfrm>
            <a:off x="10543032" y="2980944"/>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کلیات</a:t>
            </a:r>
            <a:endParaRPr lang="fa-IR" sz="1250" dirty="0"/>
          </a:p>
        </p:txBody>
      </p:sp>
      <p:sp>
        <p:nvSpPr>
          <p:cNvPr id="10" name="Shape 5">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1" name="Text 6"/>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2" name="Shape 7">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3" name="Text 8"/>
          <p:cNvSpPr txBox="1"/>
          <p:nvPr/>
        </p:nvSpPr>
        <p:spPr>
          <a:xfrm>
            <a:off x="10543032" y="4187952"/>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وظایف</a:t>
            </a:r>
            <a:endParaRPr lang="fa-IR" sz="1250" dirty="0"/>
          </a:p>
        </p:txBody>
      </p:sp>
      <p:sp>
        <p:nvSpPr>
          <p:cNvPr id="14" name="Shape 9">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5" name="Shape 10"/>
          <p:cNvSpPr/>
          <p:nvPr/>
        </p:nvSpPr>
        <p:spPr>
          <a:xfrm>
            <a:off x="10543032" y="4791456"/>
            <a:ext cx="1481328" cy="402336"/>
          </a:xfrm>
          <a:prstGeom prst="roundRect">
            <a:avLst>
              <a:gd name="adj" fmla="val 18182"/>
            </a:avLst>
          </a:prstGeom>
          <a:solidFill>
            <a:srgbClr val="FFC107"/>
          </a:solidFill>
          <a:ln w="12700">
            <a:solidFill>
              <a:srgbClr val="FFC107"/>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۳۹</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صلاحیت بهداشتی و پروانه شبکه‌های توزیع</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Licenses and Health Qualification — Articles 41-45</a:t>
            </a:r>
            <a:endParaRPr lang="en-US" sz="1550" dirty="0"/>
          </a:p>
        </p:txBody>
      </p:sp>
      <p:sp>
        <p:nvSpPr>
          <p:cNvPr id="25" name="Shape 18"/>
          <p:cNvSpPr/>
          <p:nvPr/>
        </p:nvSpPr>
        <p:spPr>
          <a:xfrm>
            <a:off x="548640" y="1572768"/>
            <a:ext cx="9418320" cy="1501338"/>
          </a:xfrm>
          <a:prstGeom prst="roundRect">
            <a:avLst>
              <a:gd name="adj" fmla="val 7309"/>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26" name="Shape 19"/>
          <p:cNvSpPr/>
          <p:nvPr/>
        </p:nvSpPr>
        <p:spPr>
          <a:xfrm>
            <a:off x="9098280" y="1755648"/>
            <a:ext cx="658368" cy="658368"/>
          </a:xfrm>
          <a:prstGeom prst="ellipse">
            <a:avLst/>
          </a:prstGeom>
          <a:solidFill>
            <a:srgbClr val="43A047"/>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27" name="Text 20"/>
          <p:cNvSpPr txBox="1"/>
          <p:nvPr/>
        </p:nvSpPr>
        <p:spPr>
          <a:xfrm>
            <a:off x="90525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۴۲</a:t>
            </a:r>
            <a:endParaRPr lang="fa-IR" sz="1500" dirty="0"/>
          </a:p>
        </p:txBody>
      </p:sp>
      <p:sp>
        <p:nvSpPr>
          <p:cNvPr id="28" name="Text 21"/>
          <p:cNvSpPr txBox="1"/>
          <p:nvPr/>
        </p:nvSpPr>
        <p:spPr>
          <a:xfrm>
            <a:off x="822960" y="1737360"/>
            <a:ext cx="8092440" cy="1227018"/>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00" b="1" dirty="0">
                <a:solidFill>
                  <a:srgbClr val="43A047"/>
                </a:solidFill>
                <a:latin typeface="B Nazanin" pitchFamily="34" charset="0"/>
                <a:ea typeface="B Nazanin" pitchFamily="34" charset="-122"/>
                <a:cs typeface="B Nazanin" pitchFamily="34" charset="-120"/>
              </a:rPr>
              <a:t>ماده ۴۲ — استعلام صلاحیت بهداشتی</a:t>
            </a:r>
            <a:endParaRPr lang="fa-IR" sz="1800" dirty="0"/>
          </a:p>
          <a:p>
            <a:pPr rtl="1" algn="r" indent="0" marL="0">
              <a:lnSpc>
                <a:spcPct val="112000"/>
              </a:lnSpc>
              <a:spcAft>
                <a:spcPts val="300"/>
              </a:spcAft>
              <a:buNone/>
            </a:pPr>
            <a:r>
              <a:rPr lang="fa-IR" altLang="en-US" sz="1550" dirty="0">
                <a:solidFill>
                  <a:srgbClr val="37474F"/>
                </a:solidFill>
                <a:latin typeface="B Nazanin" pitchFamily="34" charset="0"/>
                <a:ea typeface="B Nazanin" pitchFamily="34" charset="-122"/>
                <a:cs typeface="B Nazanin" pitchFamily="34" charset="-120"/>
              </a:rPr>
              <a:t>مراجع صادر کننده پروانه تأسیس، بهره برداری و کسب مراکز و اماکن مشمول این آیین نامه موظفند قبل از صدور پروانه، صلاحیت بهداشتی معتبر را که توسط وزارت صادر شده است از متقاضی دریافت نمایند.</a:t>
            </a:r>
            <a:endParaRPr lang="fa-IR" sz="1800" dirty="0"/>
          </a:p>
        </p:txBody>
      </p:sp>
      <p:sp>
        <p:nvSpPr>
          <p:cNvPr id="29" name="Shape 22"/>
          <p:cNvSpPr/>
          <p:nvPr/>
        </p:nvSpPr>
        <p:spPr>
          <a:xfrm>
            <a:off x="548640" y="3256986"/>
            <a:ext cx="9418320" cy="1150422"/>
          </a:xfrm>
          <a:prstGeom prst="roundRect">
            <a:avLst>
              <a:gd name="adj" fmla="val 9538"/>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0" name="Shape 23"/>
          <p:cNvSpPr/>
          <p:nvPr/>
        </p:nvSpPr>
        <p:spPr>
          <a:xfrm>
            <a:off x="9098280" y="3439866"/>
            <a:ext cx="658368" cy="658368"/>
          </a:xfrm>
          <a:prstGeom prst="ellipse">
            <a:avLst/>
          </a:prstGeom>
          <a:solidFill>
            <a:srgbClr val="1E88E5"/>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1" name="Text 24"/>
          <p:cNvSpPr txBox="1"/>
          <p:nvPr/>
        </p:nvSpPr>
        <p:spPr>
          <a:xfrm>
            <a:off x="9052560" y="3439866"/>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۴۳</a:t>
            </a:r>
            <a:endParaRPr lang="fa-IR" sz="1500" dirty="0"/>
          </a:p>
        </p:txBody>
      </p:sp>
      <p:sp>
        <p:nvSpPr>
          <p:cNvPr id="32" name="Text 25"/>
          <p:cNvSpPr txBox="1"/>
          <p:nvPr/>
        </p:nvSpPr>
        <p:spPr>
          <a:xfrm>
            <a:off x="822960" y="3421578"/>
            <a:ext cx="8092440" cy="876102"/>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00" b="1" dirty="0">
                <a:solidFill>
                  <a:srgbClr val="1E88E5"/>
                </a:solidFill>
                <a:latin typeface="B Nazanin" pitchFamily="34" charset="0"/>
                <a:ea typeface="B Nazanin" pitchFamily="34" charset="-122"/>
                <a:cs typeface="B Nazanin" pitchFamily="34" charset="-120"/>
              </a:rPr>
              <a:t>ماده ۴۳ — پروانه بهداشتی شبکه‌های توزیع</a:t>
            </a:r>
            <a:endParaRPr lang="fa-IR" sz="1800" dirty="0"/>
          </a:p>
          <a:p>
            <a:pPr rtl="1" algn="r" indent="0" marL="0">
              <a:lnSpc>
                <a:spcPct val="112000"/>
              </a:lnSpc>
              <a:spcAft>
                <a:spcPts val="300"/>
              </a:spcAft>
              <a:buNone/>
            </a:pPr>
            <a:r>
              <a:rPr lang="fa-IR" altLang="en-US" sz="1550" dirty="0">
                <a:solidFill>
                  <a:srgbClr val="37474F"/>
                </a:solidFill>
                <a:latin typeface="B Nazanin" pitchFamily="34" charset="0"/>
                <a:ea typeface="B Nazanin" pitchFamily="34" charset="-122"/>
                <a:cs typeface="B Nazanin" pitchFamily="34" charset="-120"/>
              </a:rPr>
              <a:t>کلیه شبکه های توزیع مواد مشمول این آیین نامه باید پروانه بهداشتی از وزارت دریافت نمایند.</a:t>
            </a:r>
            <a:endParaRPr lang="fa-IR" sz="1800" dirty="0"/>
          </a:p>
        </p:txBody>
      </p:sp>
      <p:sp>
        <p:nvSpPr>
          <p:cNvPr id="33" name="Shape 26"/>
          <p:cNvSpPr/>
          <p:nvPr/>
        </p:nvSpPr>
        <p:spPr>
          <a:xfrm>
            <a:off x="548640" y="4590288"/>
            <a:ext cx="9418320" cy="1581912"/>
          </a:xfrm>
          <a:prstGeom prst="roundRect">
            <a:avLst>
              <a:gd name="adj" fmla="val 6936"/>
            </a:avLst>
          </a:prstGeom>
          <a:solidFill>
            <a:srgbClr val="FFF3C4"/>
          </a:solidFill>
          <a:ln w="15875">
            <a:solidFill>
              <a:srgbClr val="FFC107"/>
            </a:solidFill>
            <a:prstDash val="solid"/>
          </a:ln>
        </p:spPr>
      </p:sp>
      <p:sp>
        <p:nvSpPr>
          <p:cNvPr id="34" name="Shape 27"/>
          <p:cNvSpPr/>
          <p:nvPr/>
        </p:nvSpPr>
        <p:spPr>
          <a:xfrm>
            <a:off x="9198864" y="4773168"/>
            <a:ext cx="603504" cy="603504"/>
          </a:xfrm>
          <a:prstGeom prst="ellipse">
            <a:avLst/>
          </a:prstGeom>
          <a:solidFill>
            <a:srgbClr val="FFC107"/>
          </a:solidFill>
          <a:ln w="25400">
            <a:solidFill>
              <a:srgbClr val="FFFFFF"/>
            </a:solidFill>
            <a:prstDash val="solid"/>
          </a:ln>
        </p:spPr>
      </p:sp>
      <p:pic>
        <p:nvPicPr>
          <p:cNvPr id="35" name="Image 5" descr="/tmp/claude-0/-home-user-Waste/dcb1a03d-345b-5441-8898-3e9a4c6379b1/scratchpad/build/assets/ic-13-lightbulb-plain.png">    </p:cNvPr>
          <p:cNvPicPr>
            <a:picLocks noChangeAspect="1"/>
          </p:cNvPicPr>
          <p:nvPr/>
        </p:nvPicPr>
        <p:blipFill>
          <a:blip r:embed="rId16"/>
          <a:stretch>
            <a:fillRect/>
          </a:stretch>
        </p:blipFill>
        <p:spPr>
          <a:xfrm>
            <a:off x="9317736" y="4892040"/>
            <a:ext cx="365760" cy="365760"/>
          </a:xfrm>
          <a:prstGeom prst="rect">
            <a:avLst/>
          </a:prstGeom>
        </p:spPr>
      </p:pic>
      <p:sp>
        <p:nvSpPr>
          <p:cNvPr id="36" name="Text 28"/>
          <p:cNvSpPr txBox="1"/>
          <p:nvPr/>
        </p:nvSpPr>
        <p:spPr>
          <a:xfrm>
            <a:off x="777240" y="4681728"/>
            <a:ext cx="8275320" cy="1399032"/>
          </a:xfrm>
          <a:prstGeom prst="rect">
            <a:avLst/>
          </a:prstGeom>
          <a:noFill/>
          <a:ln/>
        </p:spPr>
        <p:txBody>
          <a:bodyPr wrap="square" lIns="0" tIns="0" rIns="0" bIns="0" rtlCol="0" anchor="ctr"/>
          <a:lstStyle/>
          <a:p>
            <a:pPr rtl="1" algn="r" indent="0" marL="0">
              <a:lnSpc>
                <a:spcPct val="112000"/>
              </a:lnSpc>
              <a:spcAft>
                <a:spcPts val="300"/>
              </a:spcAft>
              <a:buNone/>
            </a:pPr>
            <a:r>
              <a:rPr lang="fa-IR" altLang="en-US" sz="1500" b="1" dirty="0">
                <a:solidFill>
                  <a:srgbClr val="0D3B8C"/>
                </a:solidFill>
                <a:latin typeface="B Nazanin" pitchFamily="34" charset="0"/>
                <a:ea typeface="B Nazanin" pitchFamily="34" charset="-122"/>
                <a:cs typeface="B Nazanin" pitchFamily="34" charset="-120"/>
              </a:rPr>
              <a:t>تبصره‌های ماده ۴۳: </a:t>
            </a:r>
            <a:pPr rtl="1" algn="r" indent="0" marL="0">
              <a:lnSpc>
                <a:spcPct val="112000"/>
              </a:lnSpc>
              <a:spcAft>
                <a:spcPts val="300"/>
              </a:spcAft>
              <a:buNone/>
            </a:pPr>
            <a:r>
              <a:rPr lang="fa-IR" altLang="en-US" sz="1500" dirty="0">
                <a:solidFill>
                  <a:srgbClr val="37474F"/>
                </a:solidFill>
                <a:latin typeface="B Nazanin" pitchFamily="34" charset="0"/>
                <a:ea typeface="B Nazanin" pitchFamily="34" charset="-122"/>
                <a:cs typeface="B Nazanin" pitchFamily="34" charset="-120"/>
              </a:rPr>
              <a:t>۱- شرایط و نحوه صدور این پروانه بهداشتی طبق ضوابطی است که معاونت بهداشت وزارت اعلام خواهد نمود.</a:t>
            </a:r>
            <a:endParaRPr lang="fa-IR" sz="1500" dirty="0"/>
          </a:p>
          <a:p>
            <a:pPr rtl="1" algn="r" indent="0" marL="0">
              <a:lnSpc>
                <a:spcPct val="112000"/>
              </a:lnSpc>
              <a:spcAft>
                <a:spcPts val="300"/>
              </a:spcAft>
              <a:buNone/>
            </a:pPr>
            <a:r>
              <a:rPr lang="fa-IR" altLang="en-US" sz="1500" dirty="0">
                <a:solidFill>
                  <a:srgbClr val="37474F"/>
                </a:solidFill>
                <a:latin typeface="B Nazanin" pitchFamily="34" charset="0"/>
                <a:ea typeface="B Nazanin" pitchFamily="34" charset="-122"/>
                <a:cs typeface="B Nazanin" pitchFamily="34" charset="-120"/>
              </a:rPr>
              <a:t>۲- صدور پروانه بهداشتی وسایط حمل و نقل محصولات و مواد خام دامی بر عهده سازمان دامپزشکی کشور می باشند.</a:t>
            </a:r>
            <a:endParaRPr lang="fa-IR"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Text 2"/>
          <p:cNvSpPr txBox="1"/>
          <p:nvPr/>
        </p:nvSpPr>
        <p:spPr>
          <a:xfrm>
            <a:off x="10543032" y="2377440"/>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تعاریف</a:t>
            </a:r>
            <a:endParaRPr lang="fa-IR" sz="1250" dirty="0"/>
          </a:p>
        </p:txBody>
      </p:sp>
      <p:sp>
        <p:nvSpPr>
          <p:cNvPr id="8" name="Shape 3">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9" name="Text 4"/>
          <p:cNvSpPr txBox="1"/>
          <p:nvPr/>
        </p:nvSpPr>
        <p:spPr>
          <a:xfrm>
            <a:off x="10543032" y="2980944"/>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کلیات</a:t>
            </a:r>
            <a:endParaRPr lang="fa-IR" sz="1250" dirty="0"/>
          </a:p>
        </p:txBody>
      </p:sp>
      <p:sp>
        <p:nvSpPr>
          <p:cNvPr id="10" name="Shape 5">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1" name="Text 6"/>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2" name="Shape 7">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3" name="Text 8"/>
          <p:cNvSpPr txBox="1"/>
          <p:nvPr/>
        </p:nvSpPr>
        <p:spPr>
          <a:xfrm>
            <a:off x="10543032" y="4187952"/>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وظایف</a:t>
            </a:r>
            <a:endParaRPr lang="fa-IR" sz="1250" dirty="0"/>
          </a:p>
        </p:txBody>
      </p:sp>
      <p:sp>
        <p:nvSpPr>
          <p:cNvPr id="14" name="Shape 9">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5" name="Shape 10"/>
          <p:cNvSpPr/>
          <p:nvPr/>
        </p:nvSpPr>
        <p:spPr>
          <a:xfrm>
            <a:off x="10543032" y="4791456"/>
            <a:ext cx="1481328" cy="402336"/>
          </a:xfrm>
          <a:prstGeom prst="roundRect">
            <a:avLst>
              <a:gd name="adj" fmla="val 18182"/>
            </a:avLst>
          </a:prstGeom>
          <a:solidFill>
            <a:srgbClr val="FFC107"/>
          </a:solidFill>
          <a:ln w="12700">
            <a:solidFill>
              <a:srgbClr val="FFC107"/>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۴۰</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کیوسک‌ها، واحدهای سیار و بازارهای فصلی</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Licenses and Health Qualification — Articles 41-45</a:t>
            </a:r>
            <a:endParaRPr lang="en-US" sz="1550" dirty="0"/>
          </a:p>
        </p:txBody>
      </p:sp>
      <p:sp>
        <p:nvSpPr>
          <p:cNvPr id="25" name="Shape 18"/>
          <p:cNvSpPr/>
          <p:nvPr/>
        </p:nvSpPr>
        <p:spPr>
          <a:xfrm>
            <a:off x="548640" y="1572768"/>
            <a:ext cx="9418320" cy="1417320"/>
          </a:xfrm>
          <a:prstGeom prst="roundRect">
            <a:avLst>
              <a:gd name="adj" fmla="val 7742"/>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26" name="Shape 19"/>
          <p:cNvSpPr/>
          <p:nvPr/>
        </p:nvSpPr>
        <p:spPr>
          <a:xfrm>
            <a:off x="9098280" y="1755648"/>
            <a:ext cx="658368" cy="658368"/>
          </a:xfrm>
          <a:prstGeom prst="ellipse">
            <a:avLst/>
          </a:prstGeom>
          <a:solidFill>
            <a:srgbClr val="FFC107"/>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27" name="Text 20"/>
          <p:cNvSpPr txBox="1"/>
          <p:nvPr/>
        </p:nvSpPr>
        <p:spPr>
          <a:xfrm>
            <a:off x="9052560" y="17556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۴۴</a:t>
            </a:r>
            <a:endParaRPr lang="fa-IR" sz="1500" dirty="0"/>
          </a:p>
        </p:txBody>
      </p:sp>
      <p:sp>
        <p:nvSpPr>
          <p:cNvPr id="28" name="Text 21"/>
          <p:cNvSpPr txBox="1"/>
          <p:nvPr/>
        </p:nvSpPr>
        <p:spPr>
          <a:xfrm>
            <a:off x="822960" y="1737360"/>
            <a:ext cx="8092440" cy="1143000"/>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50" b="1" dirty="0">
                <a:solidFill>
                  <a:srgbClr val="0D3B8C"/>
                </a:solidFill>
                <a:latin typeface="B Nazanin" pitchFamily="34" charset="0"/>
                <a:ea typeface="B Nazanin" pitchFamily="34" charset="-122"/>
                <a:cs typeface="B Nazanin" pitchFamily="34" charset="-120"/>
              </a:rPr>
              <a:t>ماده ۴۴ — کیوسک‌ها و واحدهای سیار و ثابت</a:t>
            </a:r>
            <a:endParaRPr lang="fa-IR" sz="1850" dirty="0"/>
          </a:p>
          <a:p>
            <a:pPr rtl="1" algn="r" indent="0" marL="0">
              <a:lnSpc>
                <a:spcPct val="112000"/>
              </a:lnSpc>
              <a:spcAft>
                <a:spcPts val="300"/>
              </a:spcAft>
              <a:buNone/>
            </a:pPr>
            <a:r>
              <a:rPr lang="fa-IR" altLang="en-US" sz="1600" dirty="0">
                <a:solidFill>
                  <a:srgbClr val="37474F"/>
                </a:solidFill>
                <a:latin typeface="B Nazanin" pitchFamily="34" charset="0"/>
                <a:ea typeface="B Nazanin" pitchFamily="34" charset="-122"/>
                <a:cs typeface="B Nazanin" pitchFamily="34" charset="-120"/>
              </a:rPr>
              <a:t>کیوسک ها و واحدهای سیار و ثابت عرضه کننده مواد غذایی باید پروانه بهداشتی از وزارت دریافت نمایند.</a:t>
            </a:r>
            <a:endParaRPr lang="fa-IR" sz="1850" dirty="0"/>
          </a:p>
        </p:txBody>
      </p:sp>
      <p:sp>
        <p:nvSpPr>
          <p:cNvPr id="29" name="Shape 22"/>
          <p:cNvSpPr/>
          <p:nvPr/>
        </p:nvSpPr>
        <p:spPr>
          <a:xfrm>
            <a:off x="548640" y="3172968"/>
            <a:ext cx="9418320" cy="1188720"/>
          </a:xfrm>
          <a:prstGeom prst="roundRect">
            <a:avLst>
              <a:gd name="adj" fmla="val 9231"/>
            </a:avLst>
          </a:prstGeom>
          <a:solidFill>
            <a:srgbClr val="FFF3C4"/>
          </a:solidFill>
          <a:ln w="15875">
            <a:solidFill>
              <a:srgbClr val="FFC107"/>
            </a:solidFill>
            <a:prstDash val="solid"/>
          </a:ln>
        </p:spPr>
      </p:sp>
      <p:sp>
        <p:nvSpPr>
          <p:cNvPr id="30" name="Shape 23"/>
          <p:cNvSpPr/>
          <p:nvPr/>
        </p:nvSpPr>
        <p:spPr>
          <a:xfrm>
            <a:off x="9198864" y="3355848"/>
            <a:ext cx="603504" cy="603504"/>
          </a:xfrm>
          <a:prstGeom prst="ellipse">
            <a:avLst/>
          </a:prstGeom>
          <a:solidFill>
            <a:srgbClr val="FFC107"/>
          </a:solidFill>
          <a:ln w="25400">
            <a:solidFill>
              <a:srgbClr val="FFFFFF"/>
            </a:solidFill>
            <a:prstDash val="solid"/>
          </a:ln>
        </p:spPr>
      </p:sp>
      <p:pic>
        <p:nvPicPr>
          <p:cNvPr id="31" name="Image 5" descr="/tmp/claude-0/-home-user-Waste/dcb1a03d-345b-5441-8898-3e9a4c6379b1/scratchpad/build/assets/ic-13-lightbulb-plain.png">    </p:cNvPr>
          <p:cNvPicPr>
            <a:picLocks noChangeAspect="1"/>
          </p:cNvPicPr>
          <p:nvPr/>
        </p:nvPicPr>
        <p:blipFill>
          <a:blip r:embed="rId16"/>
          <a:stretch>
            <a:fillRect/>
          </a:stretch>
        </p:blipFill>
        <p:spPr>
          <a:xfrm>
            <a:off x="9317736" y="3474720"/>
            <a:ext cx="365760" cy="365760"/>
          </a:xfrm>
          <a:prstGeom prst="rect">
            <a:avLst/>
          </a:prstGeom>
        </p:spPr>
      </p:pic>
      <p:sp>
        <p:nvSpPr>
          <p:cNvPr id="32" name="Text 24"/>
          <p:cNvSpPr txBox="1"/>
          <p:nvPr/>
        </p:nvSpPr>
        <p:spPr>
          <a:xfrm>
            <a:off x="777240" y="3264408"/>
            <a:ext cx="8275320" cy="1005840"/>
          </a:xfrm>
          <a:prstGeom prst="rect">
            <a:avLst/>
          </a:prstGeom>
          <a:noFill/>
          <a:ln/>
        </p:spPr>
        <p:txBody>
          <a:bodyPr wrap="square" lIns="0" tIns="0" rIns="0" bIns="0" rtlCol="0" anchor="ctr"/>
          <a:lstStyle/>
          <a:p>
            <a:pPr rtl="1" algn="r" indent="0" marL="0">
              <a:lnSpc>
                <a:spcPct val="112000"/>
              </a:lnSpc>
              <a:spcAft>
                <a:spcPts val="300"/>
              </a:spcAft>
              <a:buNone/>
            </a:pPr>
            <a:r>
              <a:rPr lang="fa-IR" altLang="en-US" sz="1600" b="1" dirty="0">
                <a:solidFill>
                  <a:srgbClr val="0D3B8C"/>
                </a:solidFill>
                <a:latin typeface="B Nazanin" pitchFamily="34" charset="0"/>
                <a:ea typeface="B Nazanin" pitchFamily="34" charset="-122"/>
                <a:cs typeface="B Nazanin" pitchFamily="34" charset="-120"/>
              </a:rPr>
              <a:t>تبصره: </a:t>
            </a:r>
            <a:pPr rtl="1" algn="r" indent="0" marL="0">
              <a:lnSpc>
                <a:spcPct val="112000"/>
              </a:lnSpc>
              <a:spcAft>
                <a:spcPts val="300"/>
              </a:spcAft>
              <a:buNone/>
            </a:pPr>
            <a:r>
              <a:rPr lang="fa-IR" altLang="en-US" sz="1600" dirty="0">
                <a:solidFill>
                  <a:srgbClr val="37474F"/>
                </a:solidFill>
                <a:latin typeface="B Nazanin" pitchFamily="34" charset="0"/>
                <a:ea typeface="B Nazanin" pitchFamily="34" charset="-122"/>
                <a:cs typeface="B Nazanin" pitchFamily="34" charset="-120"/>
              </a:rPr>
              <a:t>شرایط و نحوه صدور پروانه های بهداشتی کیوسک ها و واحد های سیار و ثابت طبق ضوابطی است که توسط معاونت بهداشت وزارت اعلام می شود.</a:t>
            </a:r>
            <a:endParaRPr lang="fa-IR" sz="1600" dirty="0"/>
          </a:p>
        </p:txBody>
      </p:sp>
      <p:sp>
        <p:nvSpPr>
          <p:cNvPr id="33" name="Shape 25"/>
          <p:cNvSpPr/>
          <p:nvPr/>
        </p:nvSpPr>
        <p:spPr>
          <a:xfrm>
            <a:off x="548640" y="4544568"/>
            <a:ext cx="9418320" cy="1627632"/>
          </a:xfrm>
          <a:prstGeom prst="roundRect">
            <a:avLst>
              <a:gd name="adj" fmla="val 6742"/>
            </a:avLst>
          </a:prstGeom>
          <a:solidFill>
            <a:srgbClr val="FFFFFF"/>
          </a:solidFill>
          <a:ln w="12700">
            <a:solidFill>
              <a:srgbClr val="E0E6EF"/>
            </a:solidFill>
            <a:prstDash val="solid"/>
          </a:ln>
          <a:effectLst>
            <a:outerShdw sx="100000" sy="100000" kx="0" ky="0" algn="bl" rotWithShape="0" blurRad="127000" dist="38100" dir="5400000">
              <a:srgbClr val="1B2A4A">
                <a:alpha val="18000"/>
              </a:srgbClr>
            </a:outerShdw>
          </a:effectLst>
        </p:spPr>
      </p:sp>
      <p:sp>
        <p:nvSpPr>
          <p:cNvPr id="34" name="Shape 26"/>
          <p:cNvSpPr/>
          <p:nvPr/>
        </p:nvSpPr>
        <p:spPr>
          <a:xfrm>
            <a:off x="9098280" y="4727448"/>
            <a:ext cx="658368" cy="658368"/>
          </a:xfrm>
          <a:prstGeom prst="ellipse">
            <a:avLst/>
          </a:prstGeom>
          <a:solidFill>
            <a:srgbClr val="43A047"/>
          </a:solidFill>
          <a:ln w="25400">
            <a:solidFill>
              <a:srgbClr val="FFFFFF"/>
            </a:solidFill>
            <a:prstDash val="solid"/>
          </a:ln>
          <a:effectLst>
            <a:outerShdw sx="100000" sy="100000" kx="0" ky="0" algn="bl" rotWithShape="0" blurRad="127000" dist="38100" dir="5400000">
              <a:srgbClr val="1B2A4A">
                <a:alpha val="18000"/>
              </a:srgbClr>
            </a:outerShdw>
          </a:effectLst>
        </p:spPr>
      </p:sp>
      <p:sp>
        <p:nvSpPr>
          <p:cNvPr id="35" name="Text 27"/>
          <p:cNvSpPr txBox="1"/>
          <p:nvPr/>
        </p:nvSpPr>
        <p:spPr>
          <a:xfrm>
            <a:off x="9052560" y="4727448"/>
            <a:ext cx="749808" cy="658368"/>
          </a:xfrm>
          <a:prstGeom prst="rect">
            <a:avLst/>
          </a:prstGeom>
          <a:noFill/>
          <a:ln/>
        </p:spPr>
        <p:txBody>
          <a:bodyPr wrap="square" lIns="0" tIns="0" rIns="0" bIns="0" rtlCol="0" anchor="ctr"/>
          <a:lstStyle/>
          <a:p>
            <a:pPr rtl="1" algn="ctr" indent="0" marL="0">
              <a:buNone/>
            </a:pPr>
            <a:r>
              <a:rPr lang="fa-IR" altLang="en-US" sz="1500" b="1" dirty="0">
                <a:solidFill>
                  <a:srgbClr val="FFFFFF"/>
                </a:solidFill>
                <a:latin typeface="B Nazanin" pitchFamily="34" charset="0"/>
                <a:ea typeface="B Nazanin" pitchFamily="34" charset="-122"/>
                <a:cs typeface="B Nazanin" pitchFamily="34" charset="-120"/>
              </a:rPr>
              <a:t>۴۵</a:t>
            </a:r>
            <a:endParaRPr lang="fa-IR" sz="1500" dirty="0"/>
          </a:p>
        </p:txBody>
      </p:sp>
      <p:sp>
        <p:nvSpPr>
          <p:cNvPr id="36" name="Text 28"/>
          <p:cNvSpPr txBox="1"/>
          <p:nvPr/>
        </p:nvSpPr>
        <p:spPr>
          <a:xfrm>
            <a:off x="822960" y="4709160"/>
            <a:ext cx="8092440" cy="1353312"/>
          </a:xfrm>
          <a:prstGeom prst="rect">
            <a:avLst/>
          </a:prstGeom>
          <a:noFill/>
          <a:ln/>
        </p:spPr>
        <p:txBody>
          <a:bodyPr wrap="square" lIns="0" tIns="0" rIns="0" bIns="0" rtlCol="0" anchor="t"/>
          <a:lstStyle/>
          <a:p>
            <a:pPr rtl="1" algn="r" indent="0" marL="0">
              <a:lnSpc>
                <a:spcPct val="112000"/>
              </a:lnSpc>
              <a:spcAft>
                <a:spcPts val="300"/>
              </a:spcAft>
              <a:buNone/>
            </a:pPr>
            <a:r>
              <a:rPr lang="fa-IR" altLang="en-US" sz="1850" b="1" dirty="0">
                <a:solidFill>
                  <a:srgbClr val="43A047"/>
                </a:solidFill>
                <a:latin typeface="B Nazanin" pitchFamily="34" charset="0"/>
                <a:ea typeface="B Nazanin" pitchFamily="34" charset="-122"/>
                <a:cs typeface="B Nazanin" pitchFamily="34" charset="-120"/>
              </a:rPr>
              <a:t>ماده ۴۵ — بازارهای هفتگی و فصلی</a:t>
            </a:r>
            <a:endParaRPr lang="fa-IR" sz="1850" dirty="0"/>
          </a:p>
          <a:p>
            <a:pPr rtl="1" algn="r" indent="0" marL="0">
              <a:lnSpc>
                <a:spcPct val="112000"/>
              </a:lnSpc>
              <a:spcAft>
                <a:spcPts val="300"/>
              </a:spcAft>
              <a:buNone/>
            </a:pPr>
            <a:r>
              <a:rPr lang="fa-IR" altLang="en-US" sz="1600" dirty="0">
                <a:solidFill>
                  <a:srgbClr val="37474F"/>
                </a:solidFill>
                <a:latin typeface="B Nazanin" pitchFamily="34" charset="0"/>
                <a:ea typeface="B Nazanin" pitchFamily="34" charset="-122"/>
                <a:cs typeface="B Nazanin" pitchFamily="34" charset="-120"/>
              </a:rPr>
              <a:t>شوراهای اسلامی شهر، روستا و شهرداری ها موظفند قبل از راه اندازی بازارهای هفتگی و فصلی از وزارت صلاحیت بهداشتی دریافت نمایند.</a:t>
            </a:r>
            <a:endParaRPr lang="fa-IR" sz="1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pic>
        <p:nvPicPr>
          <p:cNvPr id="2" name="Image 0" descr="/tmp/claude-0/-home-user-Waste/dcb1a03d-345b-5441-8898-3e9a4c6379b1/scratchpad/build/assets/sidebar.png">    </p:cNvPr>
          <p:cNvPicPr>
            <a:picLocks noChangeAspect="1"/>
          </p:cNvPicPr>
          <p:nvPr/>
        </p:nvPicPr>
        <p:blipFill>
          <a:blip r:embed="rId1"/>
          <a:stretch>
            <a:fillRect/>
          </a:stretch>
        </p:blipFill>
        <p:spPr>
          <a:xfrm>
            <a:off x="10378440" y="0"/>
            <a:ext cx="1810512" cy="6858000"/>
          </a:xfrm>
          <a:prstGeom prst="rect">
            <a:avLst/>
          </a:prstGeom>
        </p:spPr>
      </p:pic>
      <p:sp>
        <p:nvSpPr>
          <p:cNvPr id="3" name="Shape 0"/>
          <p:cNvSpPr/>
          <p:nvPr/>
        </p:nvSpPr>
        <p:spPr>
          <a:xfrm>
            <a:off x="10899648" y="274320"/>
            <a:ext cx="768096" cy="768096"/>
          </a:xfrm>
          <a:prstGeom prst="ellipse">
            <a:avLst/>
          </a:prstGeom>
          <a:solidFill>
            <a:srgbClr val="FFFFFF"/>
          </a:solidFill>
          <a:ln w="25400">
            <a:solidFill>
              <a:srgbClr val="FFC107"/>
            </a:solidFill>
            <a:prstDash val="solid"/>
          </a:ln>
        </p:spPr>
      </p:sp>
      <p:pic>
        <p:nvPicPr>
          <p:cNvPr id="4" name="Image 1" descr="/tmp/claude-0/-home-user-Waste/dcb1a03d-345b-5441-8898-3e9a4c6379b1/scratchpad/build/assets/logo.png">    </p:cNvPr>
          <p:cNvPicPr>
            <a:picLocks noChangeAspect="1"/>
          </p:cNvPicPr>
          <p:nvPr/>
        </p:nvPicPr>
        <p:blipFill>
          <a:blip r:embed="rId2"/>
          <a:stretch>
            <a:fillRect/>
          </a:stretch>
        </p:blipFill>
        <p:spPr>
          <a:xfrm>
            <a:off x="11009376" y="384048"/>
            <a:ext cx="548640" cy="548640"/>
          </a:xfrm>
          <a:prstGeom prst="rect">
            <a:avLst/>
          </a:prstGeom>
        </p:spPr>
      </p:pic>
      <p:sp>
        <p:nvSpPr>
          <p:cNvPr id="5" name="Text 1"/>
          <p:cNvSpPr txBox="1"/>
          <p:nvPr/>
        </p:nvSpPr>
        <p:spPr>
          <a:xfrm>
            <a:off x="10469880" y="1078992"/>
            <a:ext cx="1627632" cy="402336"/>
          </a:xfrm>
          <a:prstGeom prst="rect">
            <a:avLst/>
          </a:prstGeom>
          <a:noFill/>
          <a:ln/>
        </p:spPr>
        <p:txBody>
          <a:bodyPr wrap="square" lIns="0" tIns="0" rIns="0" bIns="0" rtlCol="0" anchor="t"/>
          <a:lstStyle/>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معاونت بهداشت</a:t>
            </a:r>
            <a:endParaRPr lang="fa-IR" sz="1000" dirty="0"/>
          </a:p>
          <a:p>
            <a:pPr algn="ctr" indent="0" marL="0">
              <a:lnSpc>
                <a:spcPct val="90000"/>
              </a:lnSpc>
              <a:buNone/>
            </a:pPr>
            <a:r>
              <a:rPr lang="fa-IR" altLang="en-US" sz="1000" dirty="0">
                <a:solidFill>
                  <a:srgbClr val="FFFFFF"/>
                </a:solidFill>
                <a:latin typeface="B Nazanin" pitchFamily="34" charset="0"/>
                <a:ea typeface="B Nazanin" pitchFamily="34" charset="-122"/>
                <a:cs typeface="B Nazanin" pitchFamily="34" charset="-120"/>
              </a:rPr>
              <a:t>استان همدان</a:t>
            </a:r>
            <a:endParaRPr lang="fa-IR" sz="1000" dirty="0"/>
          </a:p>
        </p:txBody>
      </p:sp>
      <p:pic>
        <p:nvPicPr>
          <p:cNvPr id="6" name="Image 2" descr="/tmp/claude-0/-home-user-Waste/dcb1a03d-345b-5441-8898-3e9a4c6379b1/scratchpad/build/assets/home.png">
            <a:hlinkClick r:id="rId4" tooltip="فهرست مطالب" action="ppaction://hlinksldjump"/>
          </p:cNvPr>
          <p:cNvPicPr>
            <a:picLocks noChangeAspect="1"/>
          </p:cNvPicPr>
          <p:nvPr/>
        </p:nvPicPr>
        <p:blipFill>
          <a:blip r:embed="rId3"/>
          <a:stretch>
            <a:fillRect/>
          </a:stretch>
        </p:blipFill>
        <p:spPr>
          <a:xfrm>
            <a:off x="11045952" y="1536192"/>
            <a:ext cx="475488" cy="475488"/>
          </a:xfrm>
          <a:prstGeom prst="rect">
            <a:avLst/>
          </a:prstGeom>
        </p:spPr>
      </p:pic>
      <p:sp>
        <p:nvSpPr>
          <p:cNvPr id="7" name="Text 2"/>
          <p:cNvSpPr txBox="1"/>
          <p:nvPr/>
        </p:nvSpPr>
        <p:spPr>
          <a:xfrm>
            <a:off x="10543032" y="2377440"/>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تعاریف</a:t>
            </a:r>
            <a:endParaRPr lang="fa-IR" sz="1250" dirty="0"/>
          </a:p>
        </p:txBody>
      </p:sp>
      <p:sp>
        <p:nvSpPr>
          <p:cNvPr id="8" name="Shape 3">
            <a:hlinkClick r:id="rId5" tooltip="تعاریف" action="ppaction://hlinksldjump"/>
          </p:cNvPr>
          <p:cNvSpPr/>
          <p:nvPr/>
        </p:nvSpPr>
        <p:spPr>
          <a:xfrm>
            <a:off x="10543032" y="2377440"/>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9" name="Text 4"/>
          <p:cNvSpPr txBox="1"/>
          <p:nvPr/>
        </p:nvSpPr>
        <p:spPr>
          <a:xfrm>
            <a:off x="10543032" y="2980944"/>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کلیات</a:t>
            </a:r>
            <a:endParaRPr lang="fa-IR" sz="1250" dirty="0"/>
          </a:p>
        </p:txBody>
      </p:sp>
      <p:sp>
        <p:nvSpPr>
          <p:cNvPr id="10" name="Shape 5">
            <a:hlinkClick r:id="rId6" tooltip="کلیات" action="ppaction://hlinksldjump"/>
          </p:cNvPr>
          <p:cNvSpPr/>
          <p:nvPr/>
        </p:nvSpPr>
        <p:spPr>
          <a:xfrm>
            <a:off x="10543032" y="2980944"/>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1" name="Text 6"/>
          <p:cNvSpPr txBox="1"/>
          <p:nvPr/>
        </p:nvSpPr>
        <p:spPr>
          <a:xfrm>
            <a:off x="10543032" y="3584448"/>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شمول</a:t>
            </a:r>
            <a:endParaRPr lang="fa-IR" sz="1250" dirty="0"/>
          </a:p>
        </p:txBody>
      </p:sp>
      <p:sp>
        <p:nvSpPr>
          <p:cNvPr id="12" name="Shape 7">
            <a:hlinkClick r:id="rId7" tooltip="شمول" action="ppaction://hlinksldjump"/>
          </p:cNvPr>
          <p:cNvSpPr/>
          <p:nvPr/>
        </p:nvSpPr>
        <p:spPr>
          <a:xfrm>
            <a:off x="10543032" y="3584448"/>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3" name="Text 8"/>
          <p:cNvSpPr txBox="1"/>
          <p:nvPr/>
        </p:nvSpPr>
        <p:spPr>
          <a:xfrm>
            <a:off x="10543032" y="4187952"/>
            <a:ext cx="1481328" cy="402336"/>
          </a:xfrm>
          <a:prstGeom prst="roundRect">
            <a:avLst>
              <a:gd name="adj" fmla="val 18182"/>
            </a:avLst>
          </a:prstGeom>
          <a:noFill/>
          <a:ln w="12700">
            <a:solidFill>
              <a:srgbClr val="FFFFFF"/>
            </a:solidFill>
          </a:ln>
        </p:spPr>
        <p:txBody>
          <a:bodyPr wrap="square" lIns="0" tIns="0" rIns="0" bIns="0" rtlCol="0" anchor="ctr"/>
          <a:lstStyle/>
          <a:p>
            <a:pPr rtl="1" algn="ctr" indent="0" marL="0">
              <a:buNone/>
            </a:pPr>
            <a:r>
              <a:rPr lang="fa-IR" altLang="en-US" sz="1250" dirty="0">
                <a:solidFill>
                  <a:srgbClr val="FFFFFF"/>
                </a:solidFill>
                <a:latin typeface="B Nazanin" pitchFamily="34" charset="0"/>
                <a:ea typeface="B Nazanin" pitchFamily="34" charset="-122"/>
                <a:cs typeface="B Nazanin" pitchFamily="34" charset="-120"/>
              </a:rPr>
              <a:t>وظایف</a:t>
            </a:r>
            <a:endParaRPr lang="fa-IR" sz="1250" dirty="0"/>
          </a:p>
        </p:txBody>
      </p:sp>
      <p:sp>
        <p:nvSpPr>
          <p:cNvPr id="14" name="Shape 9">
            <a:hlinkClick r:id="rId8" tooltip="وظایف" action="ppaction://hlinksldjump"/>
          </p:cNvPr>
          <p:cNvSpPr/>
          <p:nvPr/>
        </p:nvSpPr>
        <p:spPr>
          <a:xfrm>
            <a:off x="10543032" y="4187952"/>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5" name="Shape 10"/>
          <p:cNvSpPr/>
          <p:nvPr/>
        </p:nvSpPr>
        <p:spPr>
          <a:xfrm>
            <a:off x="10543032" y="4791456"/>
            <a:ext cx="1481328" cy="402336"/>
          </a:xfrm>
          <a:prstGeom prst="roundRect">
            <a:avLst>
              <a:gd name="adj" fmla="val 18182"/>
            </a:avLst>
          </a:prstGeom>
          <a:solidFill>
            <a:srgbClr val="FFC107"/>
          </a:solidFill>
          <a:ln w="12700">
            <a:solidFill>
              <a:srgbClr val="FFC107"/>
            </a:solidFill>
            <a:prstDash val="solid"/>
          </a:ln>
        </p:spPr>
      </p:sp>
      <p:sp>
        <p:nvSpPr>
          <p:cNvPr id="16" name="Text 11"/>
          <p:cNvSpPr txBox="1"/>
          <p:nvPr/>
        </p:nvSpPr>
        <p:spPr>
          <a:xfrm>
            <a:off x="10543032" y="4791456"/>
            <a:ext cx="1481328" cy="402336"/>
          </a:xfrm>
          <a:prstGeom prst="roundRect">
            <a:avLst>
              <a:gd name="adj" fmla="val 18182"/>
            </a:avLst>
          </a:prstGeom>
          <a:noFill/>
          <a:ln w="12700">
            <a:solidFill>
              <a:srgbClr val="FFC107"/>
            </a:solidFill>
          </a:ln>
        </p:spPr>
        <p:txBody>
          <a:bodyPr wrap="square" lIns="0" tIns="0" rIns="0" bIns="0" rtlCol="0" anchor="ctr"/>
          <a:lstStyle/>
          <a:p>
            <a:pPr rtl="1" algn="ctr" indent="0" marL="0">
              <a:buNone/>
            </a:pPr>
            <a:r>
              <a:rPr lang="fa-IR" altLang="en-US" sz="1250" b="1" dirty="0">
                <a:solidFill>
                  <a:srgbClr val="0D3B8C"/>
                </a:solidFill>
                <a:latin typeface="B Nazanin" pitchFamily="34" charset="0"/>
                <a:ea typeface="B Nazanin" pitchFamily="34" charset="-122"/>
                <a:cs typeface="B Nazanin" pitchFamily="34" charset="-120"/>
              </a:rPr>
              <a:t>پروانه</a:t>
            </a:r>
            <a:endParaRPr lang="fa-IR" sz="1250" dirty="0"/>
          </a:p>
        </p:txBody>
      </p:sp>
      <p:sp>
        <p:nvSpPr>
          <p:cNvPr id="17" name="Shape 12">
            <a:hlinkClick r:id="rId9" tooltip="پروانه" action="ppaction://hlinksldjump"/>
          </p:cNvPr>
          <p:cNvSpPr/>
          <p:nvPr/>
        </p:nvSpPr>
        <p:spPr>
          <a:xfrm>
            <a:off x="10543032" y="4791456"/>
            <a:ext cx="1481328" cy="402336"/>
          </a:xfrm>
          <a:prstGeom prst="roundRect">
            <a:avLst>
              <a:gd name="adj" fmla="val 18182"/>
            </a:avLst>
          </a:prstGeom>
          <a:solidFill>
            <a:srgbClr val="FFFFFF">
              <a:alpha val="0"/>
            </a:srgbClr>
          </a:solidFill>
          <a:ln w="12700">
            <a:solidFill>
              <a:srgbClr val="FFFFFF">
                <a:alpha val="0"/>
              </a:srgbClr>
            </a:solidFill>
            <a:prstDash val="solid"/>
          </a:ln>
        </p:spPr>
      </p:sp>
      <p:sp>
        <p:nvSpPr>
          <p:cNvPr id="18" name="Shape 13">
            <a:hlinkClick r:id="rId10" tooltip="اسلاید بعد" action="ppaction://hlinksldjump"/>
          </p:cNvPr>
          <p:cNvSpPr/>
          <p:nvPr/>
        </p:nvSpPr>
        <p:spPr>
          <a:xfrm>
            <a:off x="457200" y="6355080"/>
            <a:ext cx="310896" cy="310896"/>
          </a:xfrm>
          <a:prstGeom prst="ellipse">
            <a:avLst/>
          </a:prstGeom>
          <a:solidFill>
            <a:srgbClr val="1565C0"/>
          </a:solidFill>
          <a:ln w="12700">
            <a:solidFill>
              <a:srgbClr val="1565C0"/>
            </a:solidFill>
            <a:prstDash val="solid"/>
          </a:ln>
        </p:spPr>
      </p:sp>
      <p:pic>
        <p:nvPicPr>
          <p:cNvPr id="19" name="Image 3" descr="/tmp/claude-0/-home-user-Waste/dcb1a03d-345b-5441-8898-3e9a4c6379b1/scratchpad/build/assets/next.png">
            <a:hlinkClick r:id="rId12" tooltip="اسلاید بعد" action="ppaction://hlinksldjump"/>
          </p:cNvPr>
          <p:cNvPicPr>
            <a:picLocks noChangeAspect="1"/>
          </p:cNvPicPr>
          <p:nvPr/>
        </p:nvPicPr>
        <p:blipFill>
          <a:blip r:embed="rId11"/>
          <a:stretch>
            <a:fillRect/>
          </a:stretch>
        </p:blipFill>
        <p:spPr>
          <a:xfrm>
            <a:off x="484632" y="6382512"/>
            <a:ext cx="256032" cy="256032"/>
          </a:xfrm>
          <a:prstGeom prst="rect">
            <a:avLst/>
          </a:prstGeom>
        </p:spPr>
      </p:pic>
      <p:sp>
        <p:nvSpPr>
          <p:cNvPr id="20" name="Text 14"/>
          <p:cNvSpPr txBox="1"/>
          <p:nvPr/>
        </p:nvSpPr>
        <p:spPr>
          <a:xfrm>
            <a:off x="786384" y="6355080"/>
            <a:ext cx="411480" cy="310896"/>
          </a:xfrm>
          <a:prstGeom prst="rect">
            <a:avLst/>
          </a:prstGeom>
          <a:noFill/>
          <a:ln/>
        </p:spPr>
        <p:txBody>
          <a:bodyPr wrap="square" lIns="0" tIns="0" rIns="0" bIns="0" rtlCol="0" anchor="ctr"/>
          <a:lstStyle/>
          <a:p>
            <a:pPr rtl="1" algn="ctr" indent="0" marL="0">
              <a:buNone/>
            </a:pPr>
            <a:r>
              <a:rPr lang="fa-IR" altLang="en-US" sz="1200" dirty="0">
                <a:solidFill>
                  <a:srgbClr val="37474F"/>
                </a:solidFill>
                <a:latin typeface="B Nazanin" pitchFamily="34" charset="0"/>
                <a:ea typeface="B Nazanin" pitchFamily="34" charset="-122"/>
                <a:cs typeface="B Nazanin" pitchFamily="34" charset="-120"/>
              </a:rPr>
              <a:t>۴۱</a:t>
            </a:r>
            <a:endParaRPr lang="fa-IR" sz="1200" dirty="0"/>
          </a:p>
        </p:txBody>
      </p:sp>
      <p:sp>
        <p:nvSpPr>
          <p:cNvPr id="21" name="Shape 15">
            <a:hlinkClick r:id="rId13" tooltip="اسلاید قبل" action="ppaction://hlinksldjump"/>
          </p:cNvPr>
          <p:cNvSpPr/>
          <p:nvPr/>
        </p:nvSpPr>
        <p:spPr>
          <a:xfrm>
            <a:off x="1216152" y="6355080"/>
            <a:ext cx="310896" cy="310896"/>
          </a:xfrm>
          <a:prstGeom prst="ellipse">
            <a:avLst/>
          </a:prstGeom>
          <a:solidFill>
            <a:srgbClr val="1565C0"/>
          </a:solidFill>
          <a:ln w="12700">
            <a:solidFill>
              <a:srgbClr val="1565C0"/>
            </a:solidFill>
            <a:prstDash val="solid"/>
          </a:ln>
        </p:spPr>
      </p:sp>
      <p:pic>
        <p:nvPicPr>
          <p:cNvPr id="22" name="Image 4" descr="/tmp/claude-0/-home-user-Waste/dcb1a03d-345b-5441-8898-3e9a4c6379b1/scratchpad/build/assets/prev.png">
            <a:hlinkClick r:id="rId15" tooltip="اسلاید قبل" action="ppaction://hlinksldjump"/>
          </p:cNvPr>
          <p:cNvPicPr>
            <a:picLocks noChangeAspect="1"/>
          </p:cNvPicPr>
          <p:nvPr/>
        </p:nvPicPr>
        <p:blipFill>
          <a:blip r:embed="rId14"/>
          <a:stretch>
            <a:fillRect/>
          </a:stretch>
        </p:blipFill>
        <p:spPr>
          <a:xfrm>
            <a:off x="1243584" y="6382512"/>
            <a:ext cx="256032" cy="256032"/>
          </a:xfrm>
          <a:prstGeom prst="rect">
            <a:avLst/>
          </a:prstGeom>
        </p:spPr>
      </p:pic>
      <p:sp>
        <p:nvSpPr>
          <p:cNvPr id="23" name="Text 16"/>
          <p:cNvSpPr txBox="1"/>
          <p:nvPr/>
        </p:nvSpPr>
        <p:spPr>
          <a:xfrm>
            <a:off x="457200" y="320040"/>
            <a:ext cx="9601200" cy="777240"/>
          </a:xfrm>
          <a:prstGeom prst="rect">
            <a:avLst/>
          </a:prstGeom>
          <a:noFill/>
          <a:ln/>
        </p:spPr>
        <p:txBody>
          <a:bodyPr wrap="square" lIns="0" tIns="0" rIns="0" bIns="0" rtlCol="0" anchor="ctr"/>
          <a:lstStyle/>
          <a:p>
            <a:pPr rtl="1" algn="r" indent="0" marL="0">
              <a:buNone/>
            </a:pPr>
            <a:r>
              <a:rPr lang="fa-IR" altLang="en-US" sz="3300" b="1" dirty="0">
                <a:solidFill>
                  <a:srgbClr val="0D3B8C"/>
                </a:solidFill>
                <a:latin typeface="B Nazanin" pitchFamily="34" charset="0"/>
                <a:ea typeface="B Nazanin" pitchFamily="34" charset="-122"/>
                <a:cs typeface="B Nazanin" pitchFamily="34" charset="-120"/>
              </a:rPr>
              <a:t>ابلاغ و لازم الاجرا شدن</a:t>
            </a:r>
            <a:endParaRPr lang="fa-IR" sz="3300" dirty="0"/>
          </a:p>
        </p:txBody>
      </p:sp>
      <p:sp>
        <p:nvSpPr>
          <p:cNvPr id="24" name="Text 17"/>
          <p:cNvSpPr txBox="1"/>
          <p:nvPr/>
        </p:nvSpPr>
        <p:spPr>
          <a:xfrm>
            <a:off x="548640" y="1051560"/>
            <a:ext cx="9418320" cy="365760"/>
          </a:xfrm>
          <a:prstGeom prst="rect">
            <a:avLst/>
          </a:prstGeom>
          <a:noFill/>
          <a:ln/>
        </p:spPr>
        <p:txBody>
          <a:bodyPr wrap="square" lIns="0" tIns="0" rIns="0" bIns="0" rtlCol="0" anchor="ctr"/>
          <a:lstStyle/>
          <a:p>
            <a:pPr algn="r" indent="0" marL="0">
              <a:buNone/>
            </a:pPr>
            <a:r>
              <a:rPr lang="en-US" altLang="en-US" sz="1550" dirty="0">
                <a:solidFill>
                  <a:srgbClr val="546E7A"/>
                </a:solidFill>
                <a:latin typeface="B Nazanin" pitchFamily="34" charset="0"/>
                <a:ea typeface="B Nazanin" pitchFamily="34" charset="-122"/>
                <a:cs typeface="B Nazanin" pitchFamily="34" charset="-120"/>
              </a:rPr>
              <a:t>Final Provisions</a:t>
            </a:r>
            <a:endParaRPr lang="en-US" sz="1550" dirty="0"/>
          </a:p>
        </p:txBody>
      </p:sp>
      <p:sp>
        <p:nvSpPr>
          <p:cNvPr id="25" name="Text 18"/>
          <p:cNvSpPr txBox="1"/>
          <p:nvPr/>
        </p:nvSpPr>
        <p:spPr>
          <a:xfrm>
            <a:off x="548640" y="1572768"/>
            <a:ext cx="9418320" cy="640080"/>
          </a:xfrm>
          <a:prstGeom prst="roundRect">
            <a:avLst>
              <a:gd name="adj" fmla="val 14286"/>
            </a:avLst>
          </a:prstGeom>
          <a:solidFill>
            <a:srgbClr val="0D3B8C"/>
          </a:solidFill>
          <a:ln>
            <a:solidFill>
              <a:srgbClr val="0D3B8C"/>
            </a:solidFill>
          </a:ln>
        </p:spPr>
        <p:txBody>
          <a:bodyPr wrap="square" lIns="0" tIns="0" rIns="0" bIns="0" rtlCol="0" anchor="ctr"/>
          <a:lstStyle/>
          <a:p>
            <a:pPr rtl="1" algn="ctr" indent="0" marL="0">
              <a:buNone/>
            </a:pPr>
            <a:r>
              <a:rPr lang="fa-IR" altLang="en-US" sz="1800" b="1" dirty="0">
                <a:solidFill>
                  <a:srgbClr val="FFFFFF"/>
                </a:solidFill>
                <a:latin typeface="B Nazanin" pitchFamily="34" charset="0"/>
                <a:ea typeface="B Nazanin" pitchFamily="34" charset="-122"/>
                <a:cs typeface="B Nazanin" pitchFamily="34" charset="-120"/>
              </a:rPr>
              <a:t>این آیین نامه مشتمل بر ۴ فصل، ۴۵ ماده، ۷ تبصره و ۳۲ بند برای اجراء ابلاغ می گردد.</a:t>
            </a:r>
            <a:endParaRPr lang="fa-IR" sz="1800" dirty="0"/>
          </a:p>
        </p:txBody>
      </p:sp>
      <p:sp>
        <p:nvSpPr>
          <p:cNvPr id="26" name="Shape 19"/>
          <p:cNvSpPr/>
          <p:nvPr/>
        </p:nvSpPr>
        <p:spPr>
          <a:xfrm>
            <a:off x="5943600" y="2583180"/>
            <a:ext cx="3657600" cy="822960"/>
          </a:xfrm>
          <a:prstGeom prst="roundRect">
            <a:avLst>
              <a:gd name="adj" fmla="val 50000"/>
            </a:avLst>
          </a:prstGeom>
          <a:solidFill>
            <a:srgbClr val="F4F7FB"/>
          </a:solidFill>
          <a:ln w="12700">
            <a:solidFill>
              <a:srgbClr val="DDE5F0"/>
            </a:solidFill>
            <a:prstDash val="solid"/>
          </a:ln>
          <a:effectLst>
            <a:outerShdw sx="100000" sy="100000" kx="0" ky="0" algn="bl" rotWithShape="0" blurRad="127000" dist="38100" dir="5400000">
              <a:srgbClr val="1B2A4A">
                <a:alpha val="18000"/>
              </a:srgbClr>
            </a:outerShdw>
          </a:effectLst>
        </p:spPr>
      </p:sp>
      <p:sp>
        <p:nvSpPr>
          <p:cNvPr id="27" name="Text 20"/>
          <p:cNvSpPr txBox="1"/>
          <p:nvPr/>
        </p:nvSpPr>
        <p:spPr>
          <a:xfrm>
            <a:off x="6035040" y="2583180"/>
            <a:ext cx="2697480" cy="822960"/>
          </a:xfrm>
          <a:prstGeom prst="rect">
            <a:avLst/>
          </a:prstGeom>
          <a:noFill/>
          <a:ln/>
        </p:spPr>
        <p:txBody>
          <a:bodyPr wrap="square" lIns="0" tIns="0" rIns="0" bIns="0" rtlCol="0" anchor="ctr"/>
          <a:lstStyle/>
          <a:p>
            <a:pPr rtl="1" algn="r" indent="0" marL="0">
              <a:buNone/>
            </a:pPr>
            <a:r>
              <a:rPr lang="fa-IR" altLang="en-US" sz="1800" b="1" dirty="0">
                <a:solidFill>
                  <a:srgbClr val="0D3B8C"/>
                </a:solidFill>
                <a:latin typeface="B Nazanin" pitchFamily="34" charset="0"/>
                <a:ea typeface="B Nazanin" pitchFamily="34" charset="-122"/>
                <a:cs typeface="B Nazanin" pitchFamily="34" charset="-120"/>
              </a:rPr>
              <a:t>الزام همه دستگاه‌ها</a:t>
            </a:r>
            <a:endParaRPr lang="fa-IR" sz="1800" dirty="0"/>
          </a:p>
        </p:txBody>
      </p:sp>
      <p:sp>
        <p:nvSpPr>
          <p:cNvPr id="28" name="Shape 21"/>
          <p:cNvSpPr/>
          <p:nvPr/>
        </p:nvSpPr>
        <p:spPr>
          <a:xfrm>
            <a:off x="8915400" y="2464308"/>
            <a:ext cx="1060704" cy="1060704"/>
          </a:xfrm>
          <a:prstGeom prst="ellipse">
            <a:avLst/>
          </a:prstGeom>
          <a:solidFill>
            <a:srgbClr val="43A047"/>
          </a:solidFill>
          <a:ln w="25400">
            <a:solidFill>
              <a:srgbClr val="FFFFFF"/>
            </a:solidFill>
            <a:prstDash val="solid"/>
          </a:ln>
          <a:effectLst>
            <a:outerShdw sx="100000" sy="100000" kx="0" ky="0" algn="bl" rotWithShape="0" blurRad="127000" dist="38100" dir="5400000">
              <a:srgbClr val="1B2A4A">
                <a:alpha val="18000"/>
              </a:srgbClr>
            </a:outerShdw>
          </a:effectLst>
        </p:spPr>
      </p:sp>
      <p:pic>
        <p:nvPicPr>
          <p:cNvPr id="29" name="Image 5" descr="/tmp/claude-0/-home-user-Waste/dcb1a03d-345b-5441-8898-3e9a4c6379b1/scratchpad/build/assets/ic-39-assignmentturnedin-plain.png">    </p:cNvPr>
          <p:cNvPicPr>
            <a:picLocks noChangeAspect="1"/>
          </p:cNvPicPr>
          <p:nvPr/>
        </p:nvPicPr>
        <p:blipFill>
          <a:blip r:embed="rId16"/>
          <a:stretch>
            <a:fillRect/>
          </a:stretch>
        </p:blipFill>
        <p:spPr>
          <a:xfrm>
            <a:off x="9148755" y="2697663"/>
            <a:ext cx="593994" cy="593994"/>
          </a:xfrm>
          <a:prstGeom prst="rect">
            <a:avLst/>
          </a:prstGeom>
        </p:spPr>
      </p:pic>
      <p:sp>
        <p:nvSpPr>
          <p:cNvPr id="30" name="Text 22"/>
          <p:cNvSpPr txBox="1"/>
          <p:nvPr/>
        </p:nvSpPr>
        <p:spPr>
          <a:xfrm>
            <a:off x="548640" y="2377440"/>
            <a:ext cx="5212080" cy="1234440"/>
          </a:xfrm>
          <a:prstGeom prst="rect">
            <a:avLst/>
          </a:prstGeom>
          <a:noFill/>
          <a:ln/>
        </p:spPr>
        <p:txBody>
          <a:bodyPr wrap="square" lIns="0" tIns="0" rIns="0" bIns="0" rtlCol="0" anchor="ctr"/>
          <a:lstStyle/>
          <a:p>
            <a:pPr rtl="1" algn="r" indent="0" marL="0">
              <a:lnSpc>
                <a:spcPct val="115000"/>
              </a:lnSpc>
              <a:buNone/>
            </a:pPr>
            <a:r>
              <a:rPr lang="fa-IR" altLang="en-US" sz="1500" dirty="0">
                <a:solidFill>
                  <a:srgbClr val="37474F"/>
                </a:solidFill>
                <a:latin typeface="B Nazanin" pitchFamily="34" charset="0"/>
                <a:ea typeface="B Nazanin" pitchFamily="34" charset="-122"/>
                <a:cs typeface="B Nazanin" pitchFamily="34" charset="-120"/>
              </a:rPr>
              <a:t>رعایت مفاد چک لیست های اختصاصی، راهنماها و دستورالعمل‌های این آیین نامه توسط کلیه دستگاه‌های اجرایی، سازمان‌های دولتی، خصوصی، مردمی، مالکین، مدیران و متصدیان مراکز و اماکن مشمول این آیین‌نامه الزامی است.</a:t>
            </a:r>
            <a:endParaRPr lang="fa-IR" sz="1500" dirty="0"/>
          </a:p>
        </p:txBody>
      </p:sp>
      <p:sp>
        <p:nvSpPr>
          <p:cNvPr id="31" name="Shape 23"/>
          <p:cNvSpPr/>
          <p:nvPr/>
        </p:nvSpPr>
        <p:spPr>
          <a:xfrm>
            <a:off x="5943600" y="3886200"/>
            <a:ext cx="3657600" cy="822960"/>
          </a:xfrm>
          <a:prstGeom prst="roundRect">
            <a:avLst>
              <a:gd name="adj" fmla="val 50000"/>
            </a:avLst>
          </a:prstGeom>
          <a:solidFill>
            <a:srgbClr val="F4F7FB"/>
          </a:solidFill>
          <a:ln w="12700">
            <a:solidFill>
              <a:srgbClr val="DDE5F0"/>
            </a:solidFill>
            <a:prstDash val="solid"/>
          </a:ln>
          <a:effectLst>
            <a:outerShdw sx="100000" sy="100000" kx="0" ky="0" algn="bl" rotWithShape="0" blurRad="127000" dist="38100" dir="5400000">
              <a:srgbClr val="1B2A4A">
                <a:alpha val="18000"/>
              </a:srgbClr>
            </a:outerShdw>
          </a:effectLst>
        </p:spPr>
      </p:sp>
      <p:sp>
        <p:nvSpPr>
          <p:cNvPr id="32" name="Text 24"/>
          <p:cNvSpPr txBox="1"/>
          <p:nvPr/>
        </p:nvSpPr>
        <p:spPr>
          <a:xfrm>
            <a:off x="6035040" y="3886200"/>
            <a:ext cx="2697480" cy="822960"/>
          </a:xfrm>
          <a:prstGeom prst="rect">
            <a:avLst/>
          </a:prstGeom>
          <a:noFill/>
          <a:ln/>
        </p:spPr>
        <p:txBody>
          <a:bodyPr wrap="square" lIns="0" tIns="0" rIns="0" bIns="0" rtlCol="0" anchor="ctr"/>
          <a:lstStyle/>
          <a:p>
            <a:pPr rtl="1" algn="r" indent="0" marL="0">
              <a:buNone/>
            </a:pPr>
            <a:r>
              <a:rPr lang="fa-IR" altLang="en-US" sz="1800" b="1" dirty="0">
                <a:solidFill>
                  <a:srgbClr val="0D3B8C"/>
                </a:solidFill>
                <a:latin typeface="B Nazanin" pitchFamily="34" charset="0"/>
                <a:ea typeface="B Nazanin" pitchFamily="34" charset="-122"/>
                <a:cs typeface="B Nazanin" pitchFamily="34" charset="-120"/>
              </a:rPr>
              <a:t>بازنگری هر ۳ سال</a:t>
            </a:r>
            <a:endParaRPr lang="fa-IR" sz="1800" dirty="0"/>
          </a:p>
        </p:txBody>
      </p:sp>
      <p:sp>
        <p:nvSpPr>
          <p:cNvPr id="33" name="Shape 25"/>
          <p:cNvSpPr/>
          <p:nvPr/>
        </p:nvSpPr>
        <p:spPr>
          <a:xfrm>
            <a:off x="8915400" y="3767328"/>
            <a:ext cx="1060704" cy="1060704"/>
          </a:xfrm>
          <a:prstGeom prst="ellipse">
            <a:avLst/>
          </a:prstGeom>
          <a:solidFill>
            <a:srgbClr val="1E88E5"/>
          </a:solidFill>
          <a:ln w="25400">
            <a:solidFill>
              <a:srgbClr val="FFFFFF"/>
            </a:solidFill>
            <a:prstDash val="solid"/>
          </a:ln>
          <a:effectLst>
            <a:outerShdw sx="100000" sy="100000" kx="0" ky="0" algn="bl" rotWithShape="0" blurRad="127000" dist="38100" dir="5400000">
              <a:srgbClr val="1B2A4A">
                <a:alpha val="18000"/>
              </a:srgbClr>
            </a:outerShdw>
          </a:effectLst>
        </p:spPr>
      </p:sp>
      <p:pic>
        <p:nvPicPr>
          <p:cNvPr id="34" name="Image 6" descr="/tmp/claude-0/-home-user-Waste/dcb1a03d-345b-5441-8898-3e9a4c6379b1/scratchpad/build/assets/ic-24-replay-plain.png">    </p:cNvPr>
          <p:cNvPicPr>
            <a:picLocks noChangeAspect="1"/>
          </p:cNvPicPr>
          <p:nvPr/>
        </p:nvPicPr>
        <p:blipFill>
          <a:blip r:embed="rId17"/>
          <a:stretch>
            <a:fillRect/>
          </a:stretch>
        </p:blipFill>
        <p:spPr>
          <a:xfrm>
            <a:off x="9148755" y="4000683"/>
            <a:ext cx="593994" cy="593994"/>
          </a:xfrm>
          <a:prstGeom prst="rect">
            <a:avLst/>
          </a:prstGeom>
        </p:spPr>
      </p:pic>
      <p:sp>
        <p:nvSpPr>
          <p:cNvPr id="35" name="Text 26"/>
          <p:cNvSpPr txBox="1"/>
          <p:nvPr/>
        </p:nvSpPr>
        <p:spPr>
          <a:xfrm>
            <a:off x="548640" y="3703320"/>
            <a:ext cx="5212080" cy="1188720"/>
          </a:xfrm>
          <a:prstGeom prst="rect">
            <a:avLst/>
          </a:prstGeom>
          <a:noFill/>
          <a:ln/>
        </p:spPr>
        <p:txBody>
          <a:bodyPr wrap="square" lIns="0" tIns="0" rIns="0" bIns="0" rtlCol="0" anchor="ctr"/>
          <a:lstStyle/>
          <a:p>
            <a:pPr rtl="1" algn="r" indent="0" marL="0">
              <a:lnSpc>
                <a:spcPct val="115000"/>
              </a:lnSpc>
              <a:buNone/>
            </a:pPr>
            <a:r>
              <a:rPr lang="fa-IR" altLang="en-US" sz="1500" dirty="0">
                <a:solidFill>
                  <a:srgbClr val="37474F"/>
                </a:solidFill>
                <a:latin typeface="B Nazanin" pitchFamily="34" charset="0"/>
                <a:ea typeface="B Nazanin" pitchFamily="34" charset="-122"/>
                <a:cs typeface="B Nazanin" pitchFamily="34" charset="-120"/>
              </a:rPr>
              <a:t>معاونت بهداشت وزارت مکلف است چک لیست‌های اختصاصی، راهنماها و دستورعمل‌های مربوط را در چارچوب این آیین‌نامه تهیه و ابلاغ نموده و در صورت لزوم هر ۳ سال یکبار بازنگری نماید.</a:t>
            </a:r>
            <a:endParaRPr lang="fa-IR" sz="1500" dirty="0"/>
          </a:p>
        </p:txBody>
      </p:sp>
      <p:sp>
        <p:nvSpPr>
          <p:cNvPr id="36" name="Shape 27"/>
          <p:cNvSpPr/>
          <p:nvPr/>
        </p:nvSpPr>
        <p:spPr>
          <a:xfrm>
            <a:off x="5943600" y="5166360"/>
            <a:ext cx="3657600" cy="822960"/>
          </a:xfrm>
          <a:prstGeom prst="roundRect">
            <a:avLst>
              <a:gd name="adj" fmla="val 50000"/>
            </a:avLst>
          </a:prstGeom>
          <a:solidFill>
            <a:srgbClr val="F4F7FB"/>
          </a:solidFill>
          <a:ln w="12700">
            <a:solidFill>
              <a:srgbClr val="DDE5F0"/>
            </a:solidFill>
            <a:prstDash val="solid"/>
          </a:ln>
          <a:effectLst>
            <a:outerShdw sx="100000" sy="100000" kx="0" ky="0" algn="bl" rotWithShape="0" blurRad="127000" dist="38100" dir="5400000">
              <a:srgbClr val="1B2A4A">
                <a:alpha val="18000"/>
              </a:srgbClr>
            </a:outerShdw>
          </a:effectLst>
        </p:spPr>
      </p:sp>
      <p:sp>
        <p:nvSpPr>
          <p:cNvPr id="37" name="Text 28"/>
          <p:cNvSpPr txBox="1"/>
          <p:nvPr/>
        </p:nvSpPr>
        <p:spPr>
          <a:xfrm>
            <a:off x="6035040" y="5166360"/>
            <a:ext cx="2697480" cy="822960"/>
          </a:xfrm>
          <a:prstGeom prst="rect">
            <a:avLst/>
          </a:prstGeom>
          <a:noFill/>
          <a:ln/>
        </p:spPr>
        <p:txBody>
          <a:bodyPr wrap="square" lIns="0" tIns="0" rIns="0" bIns="0" rtlCol="0" anchor="ctr"/>
          <a:lstStyle/>
          <a:p>
            <a:pPr rtl="1" algn="r" indent="0" marL="0">
              <a:buNone/>
            </a:pPr>
            <a:r>
              <a:rPr lang="fa-IR" altLang="en-US" sz="1800" b="1" dirty="0">
                <a:solidFill>
                  <a:srgbClr val="0D3B8C"/>
                </a:solidFill>
                <a:latin typeface="B Nazanin" pitchFamily="34" charset="0"/>
                <a:ea typeface="B Nazanin" pitchFamily="34" charset="-122"/>
                <a:cs typeface="B Nazanin" pitchFamily="34" charset="-120"/>
              </a:rPr>
              <a:t>لغو آیین نامه قبلی</a:t>
            </a:r>
            <a:endParaRPr lang="fa-IR" sz="1800" dirty="0"/>
          </a:p>
        </p:txBody>
      </p:sp>
      <p:sp>
        <p:nvSpPr>
          <p:cNvPr id="38" name="Shape 29"/>
          <p:cNvSpPr/>
          <p:nvPr/>
        </p:nvSpPr>
        <p:spPr>
          <a:xfrm>
            <a:off x="8915400" y="5047488"/>
            <a:ext cx="1060704" cy="1060704"/>
          </a:xfrm>
          <a:prstGeom prst="ellipse">
            <a:avLst/>
          </a:prstGeom>
          <a:solidFill>
            <a:srgbClr val="C62828"/>
          </a:solidFill>
          <a:ln w="25400">
            <a:solidFill>
              <a:srgbClr val="FFFFFF"/>
            </a:solidFill>
            <a:prstDash val="solid"/>
          </a:ln>
          <a:effectLst>
            <a:outerShdw sx="100000" sy="100000" kx="0" ky="0" algn="bl" rotWithShape="0" blurRad="127000" dist="38100" dir="5400000">
              <a:srgbClr val="1B2A4A">
                <a:alpha val="18000"/>
              </a:srgbClr>
            </a:outerShdw>
          </a:effectLst>
        </p:spPr>
      </p:sp>
      <p:pic>
        <p:nvPicPr>
          <p:cNvPr id="39" name="Image 7" descr="/tmp/claude-0/-home-user-Waste/dcb1a03d-345b-5441-8898-3e9a4c6379b1/scratchpad/build/assets/ic-45-cancel-plain.png">    </p:cNvPr>
          <p:cNvPicPr>
            <a:picLocks noChangeAspect="1"/>
          </p:cNvPicPr>
          <p:nvPr/>
        </p:nvPicPr>
        <p:blipFill>
          <a:blip r:embed="rId18"/>
          <a:stretch>
            <a:fillRect/>
          </a:stretch>
        </p:blipFill>
        <p:spPr>
          <a:xfrm>
            <a:off x="9148755" y="5280843"/>
            <a:ext cx="593994" cy="593994"/>
          </a:xfrm>
          <a:prstGeom prst="rect">
            <a:avLst/>
          </a:prstGeom>
        </p:spPr>
      </p:pic>
      <p:sp>
        <p:nvSpPr>
          <p:cNvPr id="40" name="Text 30"/>
          <p:cNvSpPr txBox="1"/>
          <p:nvPr/>
        </p:nvSpPr>
        <p:spPr>
          <a:xfrm>
            <a:off x="548640" y="4983480"/>
            <a:ext cx="5212080" cy="1188720"/>
          </a:xfrm>
          <a:prstGeom prst="rect">
            <a:avLst/>
          </a:prstGeom>
          <a:noFill/>
          <a:ln/>
        </p:spPr>
        <p:txBody>
          <a:bodyPr wrap="square" lIns="0" tIns="0" rIns="0" bIns="0" rtlCol="0" anchor="ctr"/>
          <a:lstStyle/>
          <a:p>
            <a:pPr rtl="1" algn="r" indent="0" marL="0">
              <a:lnSpc>
                <a:spcPct val="115000"/>
              </a:lnSpc>
              <a:buNone/>
            </a:pPr>
            <a:r>
              <a:rPr lang="fa-IR" altLang="en-US" sz="1500" dirty="0">
                <a:solidFill>
                  <a:srgbClr val="37474F"/>
                </a:solidFill>
                <a:latin typeface="B Nazanin" pitchFamily="34" charset="0"/>
                <a:ea typeface="B Nazanin" pitchFamily="34" charset="-122"/>
                <a:cs typeface="B Nazanin" pitchFamily="34" charset="-120"/>
              </a:rPr>
              <a:t>با ابلاغ این آیین نامه، چک لیست های اختصاصی، راهنماها و دستورعمل های مربوط به آن، آیین‌نامه اجرایی تبصره ۳ ماده ۱۳ قانون اصلاح مواد خوردنی، آشامیدنی، آرایشی و بهداشتی مصوب ۱۳۸۰/۶/۸ لغو می گردد.</a:t>
            </a:r>
            <a:endParaRPr lang="fa-IR"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914400" y="502920"/>
            <a:ext cx="10360152" cy="914400"/>
          </a:xfrm>
          <a:prstGeom prst="rect">
            <a:avLst/>
          </a:prstGeom>
          <a:noFill/>
          <a:ln/>
        </p:spPr>
        <p:txBody>
          <a:bodyPr wrap="square" lIns="0" tIns="0" rIns="0" bIns="0" rtlCol="0" anchor="ctr"/>
          <a:lstStyle/>
          <a:p>
            <a:pPr rtl="1" algn="ctr" indent="0" marL="0">
              <a:buNone/>
            </a:pPr>
            <a:r>
              <a:rPr lang="fa-IR" altLang="en-US" sz="4400" b="1" dirty="0">
                <a:solidFill>
                  <a:srgbClr val="FFFFFF"/>
                </a:solidFill>
                <a:latin typeface="B Nazanin" pitchFamily="34" charset="0"/>
                <a:ea typeface="B Nazanin" pitchFamily="34" charset="-122"/>
                <a:cs typeface="B Nazanin" pitchFamily="34" charset="-120"/>
              </a:rPr>
              <a:t>سپاس از توجه شما</a:t>
            </a:r>
            <a:endParaRPr lang="fa-IR" sz="4400" dirty="0"/>
          </a:p>
        </p:txBody>
      </p:sp>
      <p:sp>
        <p:nvSpPr>
          <p:cNvPr id="3" name="Shape 1"/>
          <p:cNvSpPr/>
          <p:nvPr/>
        </p:nvSpPr>
        <p:spPr>
          <a:xfrm>
            <a:off x="1097280" y="4389120"/>
            <a:ext cx="1280160" cy="1280160"/>
          </a:xfrm>
          <a:prstGeom prst="ellipse">
            <a:avLst/>
          </a:prstGeom>
          <a:solidFill>
            <a:srgbClr val="FFC107"/>
          </a:solidFill>
          <a:ln w="12700">
            <a:solidFill>
              <a:srgbClr val="FFC107"/>
            </a:solidFill>
            <a:prstDash val="solid"/>
          </a:ln>
        </p:spPr>
      </p:sp>
      <p:sp>
        <p:nvSpPr>
          <p:cNvPr id="4" name="Shape 2"/>
          <p:cNvSpPr/>
          <p:nvPr/>
        </p:nvSpPr>
        <p:spPr>
          <a:xfrm>
            <a:off x="9966960" y="1463040"/>
            <a:ext cx="731520" cy="731520"/>
          </a:xfrm>
          <a:prstGeom prst="ellipse">
            <a:avLst/>
          </a:prstGeom>
          <a:solidFill>
            <a:srgbClr val="FFFFFF"/>
          </a:solidFill>
          <a:ln w="12700">
            <a:solidFill>
              <a:srgbClr val="FFFFFF"/>
            </a:solidFill>
            <a:prstDash val="solid"/>
          </a:ln>
        </p:spPr>
      </p:sp>
      <p:sp>
        <p:nvSpPr>
          <p:cNvPr id="5" name="Shape 3"/>
          <p:cNvSpPr/>
          <p:nvPr/>
        </p:nvSpPr>
        <p:spPr>
          <a:xfrm>
            <a:off x="3566160" y="1965960"/>
            <a:ext cx="5029200" cy="3657600"/>
          </a:xfrm>
          <a:prstGeom prst="roundRect">
            <a:avLst>
              <a:gd name="adj" fmla="val 5000"/>
            </a:avLst>
          </a:prstGeom>
          <a:solidFill>
            <a:srgbClr val="FFC107"/>
          </a:solidFill>
          <a:ln w="12700">
            <a:solidFill>
              <a:srgbClr val="FFC107"/>
            </a:solidFill>
            <a:prstDash val="solid"/>
          </a:ln>
        </p:spPr>
      </p:sp>
      <p:sp>
        <p:nvSpPr>
          <p:cNvPr id="6" name="Text 4"/>
          <p:cNvSpPr txBox="1"/>
          <p:nvPr/>
        </p:nvSpPr>
        <p:spPr>
          <a:xfrm>
            <a:off x="3657600" y="2057400"/>
            <a:ext cx="4846320" cy="3474720"/>
          </a:xfrm>
          <a:prstGeom prst="roundRect">
            <a:avLst>
              <a:gd name="adj" fmla="val 4737"/>
            </a:avLst>
          </a:prstGeom>
          <a:solidFill>
            <a:srgbClr val="FFFFFF"/>
          </a:solidFill>
          <a:ln>
            <a:solidFill>
              <a:srgbClr val="FFFFFF"/>
            </a:solidFill>
          </a:ln>
          <a:effectLst>
            <a:outerShdw sx="100000" sy="100000" kx="0" ky="0" algn="bl" rotWithShape="0" blurRad="127000" dist="38100" dir="5400000">
              <a:srgbClr val="1B2A4A">
                <a:alpha val="18000"/>
              </a:srgbClr>
            </a:outerShdw>
          </a:effectLst>
        </p:spPr>
        <p:txBody>
          <a:bodyPr wrap="square" lIns="0" tIns="0" rIns="0" bIns="0" rtlCol="0" anchor="ctr"/>
          <a:lstStyle/>
          <a:p>
            <a:pPr rtl="1" algn="ctr" indent="0" marL="0">
              <a:lnSpc>
                <a:spcPct val="120000"/>
              </a:lnSpc>
              <a:buNone/>
            </a:pPr>
            <a:r>
              <a:rPr lang="fa-IR" altLang="en-US" sz="3400" b="1" dirty="0">
                <a:solidFill>
                  <a:srgbClr val="0D3B8C"/>
                </a:solidFill>
                <a:latin typeface="B Nazanin" pitchFamily="34" charset="0"/>
                <a:ea typeface="B Nazanin" pitchFamily="34" charset="-122"/>
                <a:cs typeface="B Nazanin" pitchFamily="34" charset="-120"/>
              </a:rPr>
              <a:t>آیین نامه اجرایی</a:t>
            </a:r>
            <a:endParaRPr lang="fa-IR" sz="3400" dirty="0"/>
          </a:p>
          <a:p>
            <a:pPr rtl="1" algn="ctr" indent="0" marL="0">
              <a:lnSpc>
                <a:spcPct val="120000"/>
              </a:lnSpc>
              <a:buNone/>
            </a:pPr>
            <a:r>
              <a:rPr lang="fa-IR" altLang="en-US" sz="6000" b="1" dirty="0">
                <a:solidFill>
                  <a:srgbClr val="0D3B8C"/>
                </a:solidFill>
                <a:latin typeface="B Nazanin" pitchFamily="34" charset="0"/>
                <a:ea typeface="B Nazanin" pitchFamily="34" charset="-122"/>
                <a:cs typeface="B Nazanin" pitchFamily="34" charset="-120"/>
              </a:rPr>
              <a:t>ماده ۱۳</a:t>
            </a:r>
            <a:endParaRPr lang="fa-IR" sz="3400" dirty="0"/>
          </a:p>
        </p:txBody>
      </p:sp>
      <p:pic>
        <p:nvPicPr>
          <p:cNvPr id="7" name="Image 0" descr="/tmp/claude-0/-home-user-Waste/dcb1a03d-345b-5441-8898-3e9a4c6379b1/scratchpad/build/assets/ic-8-verifieduser-plain.png">    </p:cNvPr>
          <p:cNvPicPr>
            <a:picLocks noChangeAspect="1"/>
          </p:cNvPicPr>
          <p:nvPr/>
        </p:nvPicPr>
        <p:blipFill>
          <a:blip r:embed="rId2"/>
          <a:stretch>
            <a:fillRect/>
          </a:stretch>
        </p:blipFill>
        <p:spPr>
          <a:xfrm>
            <a:off x="8503920" y="4480560"/>
            <a:ext cx="1737360" cy="17373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 Nazani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 Nazani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آیین نامه اجرایی قانون اصلاح ماده ۱۳</dc:title>
  <dc:subject>PptxGenJS Presentation</dc:subject>
  <dc:creator>PptxGenJS</dc:creator>
  <cp:lastModifiedBy>PptxGenJS</cp:lastModifiedBy>
  <cp:revision>1</cp:revision>
  <dcterms:created xsi:type="dcterms:W3CDTF">2026-10-09T19:43:19Z</dcterms:created>
  <dcterms:modified xsi:type="dcterms:W3CDTF">2026-10-09T19:43:19Z</dcterms:modified>
</cp:coreProperties>
</file>